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8" r:id="rId1"/>
    <p:sldMasterId id="2147483672" r:id="rId2"/>
    <p:sldMasterId id="2147483656" r:id="rId3"/>
  </p:sldMasterIdLst>
  <p:notesMasterIdLst>
    <p:notesMasterId r:id="rId6"/>
  </p:notesMasterIdLst>
  <p:sldIdLst>
    <p:sldId id="256" r:id="rId4"/>
    <p:sldId id="260" r:id="rId5"/>
  </p:sldIdLst>
  <p:sldSz cx="14630400" cy="8229600"/>
  <p:notesSz cx="6807200" cy="9939338"/>
  <p:embeddedFontLst>
    <p:embeddedFont>
      <p:font typeface="Inter Medium" panose="020B0600000101010101" charset="0"/>
      <p:regular r:id="rId7"/>
    </p:embeddedFont>
    <p:embeddedFont>
      <p:font typeface="DM Sans Semi Bold" panose="020B0600000101010101" charset="0"/>
      <p:regular r:id="rId8"/>
    </p:embeddedFont>
    <p:embeddedFont>
      <p:font typeface="HY견고딕" panose="02030600000101010101" pitchFamily="18" charset="-127"/>
      <p:regular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788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6980" tIns="33490" rIns="66980" bIns="3349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6980" tIns="33490" rIns="66980" bIns="33490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2622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533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982137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236965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6704306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98621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3843064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5612758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419" y="6548"/>
            <a:ext cx="14688819" cy="7836910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6972298" y="7888797"/>
            <a:ext cx="685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2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200" baseline="0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697340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062297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85797972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143485" y="7791451"/>
            <a:ext cx="3413760" cy="43815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028360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780247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56663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6077960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838440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2738281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5120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8751111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2597283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1945695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1758075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7845177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89362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419" y="6548"/>
            <a:ext cx="14688819" cy="7836910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6972298" y="7888797"/>
            <a:ext cx="685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2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200" baseline="0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39373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375567"/>
      </p:ext>
    </p:extLst>
  </p:cSld>
  <p:clrMapOvr>
    <a:masterClrMapping/>
  </p:clrMapOvr>
  <p:transition>
    <p:wipe dir="d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1715546"/>
      </p:ext>
    </p:extLst>
  </p:cSld>
  <p:clrMapOvr>
    <a:masterClrMapping/>
  </p:clrMapOvr>
  <p:transition>
    <p:wipe dir="d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143485" y="7791451"/>
            <a:ext cx="3413760" cy="43815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480766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691456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42678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233227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3140993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1895386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205400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173949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891858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924427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909878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7471086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419" y="6548"/>
            <a:ext cx="14688819" cy="7836910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6972298" y="7888797"/>
            <a:ext cx="685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2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200" baseline="0" dirty="0">
              <a:latin typeface="돋움" pitchFamily="50" charset="-127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887395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8322077"/>
      </p:ext>
    </p:extLst>
  </p:cSld>
  <p:clrMapOvr>
    <a:masterClrMapping/>
  </p:clrMapOvr>
  <p:transition>
    <p:wipe dir="d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75773618"/>
      </p:ext>
    </p:extLst>
  </p:cSld>
  <p:clrMapOvr>
    <a:masterClrMapping/>
  </p:clrMapOvr>
  <p:transition>
    <p:wipe dir="d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143485" y="7791451"/>
            <a:ext cx="3413760" cy="438150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8908300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962131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30701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82914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144581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600879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33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1520" y="139959"/>
            <a:ext cx="9753600" cy="472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473037" y="7863840"/>
            <a:ext cx="879078" cy="465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658416"/>
            <a:ext cx="14630400" cy="8965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09714" tIns="54857" rIns="109714" bIns="54857" anchor="ctr"/>
          <a:lstStyle/>
          <a:p>
            <a:pPr eaLnBrk="1" hangingPunct="1">
              <a:defRPr/>
            </a:pPr>
            <a:endParaRPr kumimoji="0" lang="ko-KR" altLang="en-US" sz="336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7863840"/>
            <a:ext cx="14630400" cy="8965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09714" tIns="54857" rIns="109714" bIns="54857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88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6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2038925" y="152401"/>
            <a:ext cx="2304256" cy="477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3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1097280" rtl="0" eaLnBrk="1" latinLnBrk="1" hangingPunct="1">
        <a:spcBef>
          <a:spcPct val="0"/>
        </a:spcBef>
        <a:buNone/>
        <a:defRPr sz="3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097280" rtl="0" eaLnBrk="1" latinLnBrk="1" hangingPunct="1">
        <a:spcBef>
          <a:spcPct val="20000"/>
        </a:spcBef>
        <a:buFont typeface="Arial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728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1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1520" y="139959"/>
            <a:ext cx="9753600" cy="472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473037" y="7863840"/>
            <a:ext cx="879078" cy="465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658416"/>
            <a:ext cx="14630400" cy="8965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09714" tIns="54857" rIns="109714" bIns="54857" anchor="ctr"/>
          <a:lstStyle/>
          <a:p>
            <a:pPr eaLnBrk="1" hangingPunct="1">
              <a:defRPr/>
            </a:pPr>
            <a:endParaRPr kumimoji="0" lang="ko-KR" altLang="en-US" sz="336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7863840"/>
            <a:ext cx="14630400" cy="8965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09714" tIns="54857" rIns="109714" bIns="54857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88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6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2038925" y="152401"/>
            <a:ext cx="2304256" cy="477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499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1097280" rtl="0" eaLnBrk="1" latinLnBrk="1" hangingPunct="1">
        <a:spcBef>
          <a:spcPct val="0"/>
        </a:spcBef>
        <a:buNone/>
        <a:defRPr sz="3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097280" rtl="0" eaLnBrk="1" latinLnBrk="1" hangingPunct="1">
        <a:spcBef>
          <a:spcPct val="20000"/>
        </a:spcBef>
        <a:buFont typeface="Arial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728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1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731520" y="139959"/>
            <a:ext cx="9753600" cy="472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473037" y="7863840"/>
            <a:ext cx="879078" cy="465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658416"/>
            <a:ext cx="14630400" cy="8965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09714" tIns="54857" rIns="109714" bIns="54857" anchor="ctr"/>
          <a:lstStyle/>
          <a:p>
            <a:pPr eaLnBrk="1" hangingPunct="1">
              <a:defRPr/>
            </a:pPr>
            <a:endParaRPr kumimoji="0" lang="ko-KR" altLang="en-US" sz="336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7863840"/>
            <a:ext cx="14630400" cy="8965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09714" tIns="54857" rIns="109714" bIns="54857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88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6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2038925" y="152401"/>
            <a:ext cx="2304256" cy="477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251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1097280" rtl="0" eaLnBrk="1" latinLnBrk="1" hangingPunct="1">
        <a:spcBef>
          <a:spcPct val="0"/>
        </a:spcBef>
        <a:buNone/>
        <a:defRPr sz="3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097280" rtl="0" eaLnBrk="1" latinLnBrk="1" hangingPunct="1">
        <a:spcBef>
          <a:spcPct val="20000"/>
        </a:spcBef>
        <a:buFont typeface="Arial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728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1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1050817" y="42012"/>
            <a:ext cx="8550508" cy="63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2400" dirty="0" smtClean="0">
                <a:solidFill>
                  <a:srgbClr val="03030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탱크로리 작업장 청소 및 </a:t>
            </a:r>
            <a:r>
              <a:rPr lang="ko-KR" altLang="en-US" sz="2400" dirty="0" err="1" smtClean="0">
                <a:solidFill>
                  <a:srgbClr val="03030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메쉬망</a:t>
            </a:r>
            <a:r>
              <a:rPr lang="ko-KR" altLang="en-US" sz="2400" dirty="0" smtClean="0">
                <a:solidFill>
                  <a:srgbClr val="03030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보강</a:t>
            </a:r>
            <a:endParaRPr lang="en-US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5955" y="905656"/>
            <a:ext cx="1088126" cy="47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ko-KR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1. 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사건 개요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5955" y="3095485"/>
            <a:ext cx="2425718" cy="37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2. 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생산라인 점검 결과</a:t>
            </a:r>
            <a:endParaRPr lang="en-US" altLang="ko-KR" sz="1200" b="1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DM Sans Semi Bold" pitchFamily="34" charset="-12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788891" y="1262789"/>
            <a:ext cx="11763713" cy="1839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200" b="1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일시</a:t>
            </a:r>
            <a:r>
              <a:rPr 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 :</a:t>
            </a:r>
            <a:r>
              <a:rPr 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 2026년 2월 24일(목)</a:t>
            </a:r>
            <a:endParaRPr lang="en-US" sz="12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고객불만내용 </a:t>
            </a:r>
            <a:r>
              <a:rPr 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:</a:t>
            </a:r>
            <a:r>
              <a:rPr 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필름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(Snake Skin)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으로 인한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고객사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제품이송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호퍼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 pitchFamily="34" charset="-120"/>
              </a:rPr>
              <a:t> 라인 막힘</a:t>
            </a:r>
            <a:endParaRPr lang="en-US" sz="1200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Inter Medium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 및 조치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en-US" altLang="ko-KR" sz="1200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-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생산라인 점검 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① #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호기 생산제품으로 라인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수조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이송라인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온도 측정 및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굴곡부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점검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②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탱크로리 작업장 점검 </a:t>
            </a:r>
            <a:endParaRPr lang="en-US" altLang="ko-KR" sz="1200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고객사방문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프라코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당진공장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방문자 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김준수 상무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아산공장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방문자 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김주홍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부장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박태식 부장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정민훈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차장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방문하여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공정라인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온도</a:t>
            </a:r>
            <a:r>
              <a:rPr lang="en-US" altLang="ko-KR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풍속</a:t>
            </a:r>
            <a:r>
              <a:rPr lang="en-US" altLang="ko-KR" sz="1200" dirty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</a:t>
            </a:r>
            <a:endParaRPr lang="en-US" altLang="ko-KR" sz="1200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en-US" sz="1200" dirty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</a:t>
            </a:r>
            <a:r>
              <a:rPr lang="ko-KR" altLang="en-US" sz="1200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개선활동</a:t>
            </a:r>
            <a:r>
              <a:rPr lang="ko-KR" altLang="en-US" sz="1200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공유키로 함</a:t>
            </a:r>
            <a:endParaRPr 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33019" y="4019996"/>
            <a:ext cx="2628822" cy="333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탱크로리 작업장 개선방안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88891" y="3458253"/>
            <a:ext cx="3329758" cy="3951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464646"/>
                </a:solidFill>
                <a:latin typeface="+mn-ea"/>
                <a:cs typeface="DM Sans Semi Bold" pitchFamily="34" charset="-120"/>
              </a:rPr>
              <a:t>첨부</a:t>
            </a:r>
            <a:r>
              <a:rPr lang="en-US" altLang="ko-KR" sz="1200" b="1" dirty="0">
                <a:solidFill>
                  <a:srgbClr val="464646"/>
                </a:solidFill>
                <a:latin typeface="+mn-ea"/>
                <a:cs typeface="DM Sans Semi Bold" pitchFamily="34" charset="-120"/>
              </a:rPr>
              <a:t>1 - #8</a:t>
            </a:r>
            <a:r>
              <a:rPr lang="ko-KR" altLang="en-US" sz="1200" b="1" dirty="0">
                <a:solidFill>
                  <a:srgbClr val="464646"/>
                </a:solidFill>
                <a:latin typeface="+mn-ea"/>
                <a:cs typeface="DM Sans Semi Bold" pitchFamily="34" charset="-120"/>
              </a:rPr>
              <a:t>호기 </a:t>
            </a:r>
            <a:r>
              <a:rPr lang="ko-KR" altLang="en-US" sz="1200" b="1" dirty="0" err="1">
                <a:solidFill>
                  <a:srgbClr val="464646"/>
                </a:solidFill>
                <a:latin typeface="+mn-ea"/>
                <a:cs typeface="DM Sans Semi Bold" pitchFamily="34" charset="-120"/>
              </a:rPr>
              <a:t>제품라인</a:t>
            </a:r>
            <a:r>
              <a:rPr lang="ko-KR" altLang="en-US" sz="1200" b="1" dirty="0">
                <a:solidFill>
                  <a:srgbClr val="464646"/>
                </a:solidFill>
                <a:latin typeface="+mn-ea"/>
                <a:cs typeface="DM Sans Semi Bold" pitchFamily="34" charset="-120"/>
              </a:rPr>
              <a:t> 및 </a:t>
            </a:r>
            <a:r>
              <a:rPr lang="ko-KR" altLang="en-US" sz="1200" b="1" dirty="0" err="1">
                <a:solidFill>
                  <a:srgbClr val="FF0000"/>
                </a:solidFill>
                <a:latin typeface="+mn-ea"/>
                <a:cs typeface="DM Sans Semi Bold" pitchFamily="34" charset="-120"/>
              </a:rPr>
              <a:t>탱크리로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cs typeface="DM Sans Semi Bold" pitchFamily="34" charset="-120"/>
              </a:rPr>
              <a:t> 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cs typeface="DM Sans Semi Bold" pitchFamily="34" charset="-120"/>
              </a:rPr>
              <a:t>점검</a:t>
            </a:r>
            <a:endParaRPr lang="en-US" altLang="ko-KR" sz="1200" b="1" dirty="0" smtClean="0">
              <a:solidFill>
                <a:srgbClr val="FF0000"/>
              </a:solidFill>
              <a:latin typeface="+mn-ea"/>
              <a:cs typeface="DM Sans Semi Bol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88891" y="4416027"/>
            <a:ext cx="3935693" cy="1887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① 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투입구 </a:t>
            </a:r>
            <a:r>
              <a:rPr lang="ko-KR" altLang="en-US" sz="1200" b="1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메쉬망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사이즈 축소 </a:t>
            </a:r>
            <a:r>
              <a:rPr lang="en-US" altLang="ko-KR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(70% ↓)</a:t>
            </a:r>
          </a:p>
          <a:p>
            <a:pPr>
              <a:lnSpc>
                <a:spcPts val="2750"/>
              </a:lnSpc>
            </a:pPr>
            <a:r>
              <a:rPr lang="en-US" altLang="ko-KR" sz="1200" b="1" dirty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</a:t>
            </a:r>
            <a:r>
              <a:rPr lang="en-US" altLang="ko-KR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     - 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기존 </a:t>
            </a:r>
            <a:r>
              <a:rPr lang="ko-KR" altLang="en-US" sz="1200" b="1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메쉬망에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철망 이중으로 대고 테스트 결과</a:t>
            </a:r>
            <a:endParaRPr lang="en-US" altLang="ko-KR" sz="1200" b="1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DM Sans Semi Bold" pitchFamily="34" charset="-120"/>
            </a:endParaRPr>
          </a:p>
          <a:p>
            <a:pPr>
              <a:lnSpc>
                <a:spcPts val="2750"/>
              </a:lnSpc>
            </a:pPr>
            <a:r>
              <a:rPr lang="en-US" altLang="ko-KR" sz="1200" b="1" dirty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</a:t>
            </a:r>
            <a:r>
              <a:rPr lang="en-US" altLang="ko-KR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       </a:t>
            </a:r>
            <a:r>
              <a:rPr lang="ko-KR" altLang="en-US" sz="1200" b="1" dirty="0" err="1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필름거르는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효과가 높음</a:t>
            </a:r>
            <a:endParaRPr lang="en-US" altLang="ko-KR" sz="1200" b="1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DM Sans Semi Bold" pitchFamily="34" charset="-120"/>
            </a:endParaRPr>
          </a:p>
          <a:p>
            <a:pPr>
              <a:lnSpc>
                <a:spcPts val="2750"/>
              </a:lnSpc>
            </a:pPr>
            <a:r>
              <a:rPr lang="en-US" altLang="ko-KR" sz="1200" b="1" dirty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</a:t>
            </a:r>
            <a:r>
              <a:rPr lang="en-US" altLang="ko-KR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 ② 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탱크로리 접안 시 상단 청소를 위한 구조 설치</a:t>
            </a:r>
            <a:endParaRPr lang="en-US" altLang="ko-KR" sz="1200" b="1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DM Sans Semi Bold" pitchFamily="34" charset="-120"/>
            </a:endParaRPr>
          </a:p>
          <a:p>
            <a:pPr>
              <a:lnSpc>
                <a:spcPts val="2750"/>
              </a:lnSpc>
            </a:pPr>
            <a:r>
              <a:rPr lang="en-US" altLang="ko-KR" sz="1200" b="1" dirty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</a:t>
            </a:r>
            <a:r>
              <a:rPr lang="en-US" altLang="ko-KR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      - </a:t>
            </a:r>
            <a:r>
              <a:rPr lang="ko-KR" altLang="en-US" sz="1200" b="1" dirty="0" smtClean="0">
                <a:solidFill>
                  <a:srgbClr val="46464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M Sans Semi Bold" pitchFamily="34" charset="-120"/>
              </a:rPr>
              <a:t>현 구조물 없음</a:t>
            </a:r>
            <a:endParaRPr lang="en-US" altLang="ko-KR" sz="1200" b="1" dirty="0" smtClean="0">
              <a:solidFill>
                <a:srgbClr val="46464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DM Sans Semi Bold" pitchFamily="34" charset="-120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313532"/>
              </p:ext>
            </p:extLst>
          </p:nvPr>
        </p:nvGraphicFramePr>
        <p:xfrm>
          <a:off x="4968608" y="3853425"/>
          <a:ext cx="9121966" cy="3823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858">
                  <a:extLst>
                    <a:ext uri="{9D8B030D-6E8A-4147-A177-3AD203B41FA5}">
                      <a16:colId xmlns:a16="http://schemas.microsoft.com/office/drawing/2014/main" val="2790976729"/>
                    </a:ext>
                  </a:extLst>
                </a:gridCol>
                <a:gridCol w="1291139">
                  <a:extLst>
                    <a:ext uri="{9D8B030D-6E8A-4147-A177-3AD203B41FA5}">
                      <a16:colId xmlns:a16="http://schemas.microsoft.com/office/drawing/2014/main" val="1966112753"/>
                    </a:ext>
                  </a:extLst>
                </a:gridCol>
                <a:gridCol w="2346593">
                  <a:extLst>
                    <a:ext uri="{9D8B030D-6E8A-4147-A177-3AD203B41FA5}">
                      <a16:colId xmlns:a16="http://schemas.microsoft.com/office/drawing/2014/main" val="2253729768"/>
                    </a:ext>
                  </a:extLst>
                </a:gridCol>
                <a:gridCol w="2126255">
                  <a:extLst>
                    <a:ext uri="{9D8B030D-6E8A-4147-A177-3AD203B41FA5}">
                      <a16:colId xmlns:a16="http://schemas.microsoft.com/office/drawing/2014/main" val="264226901"/>
                    </a:ext>
                  </a:extLst>
                </a:gridCol>
                <a:gridCol w="2038121">
                  <a:extLst>
                    <a:ext uri="{9D8B030D-6E8A-4147-A177-3AD203B41FA5}">
                      <a16:colId xmlns:a16="http://schemas.microsoft.com/office/drawing/2014/main" val="3860577600"/>
                    </a:ext>
                  </a:extLst>
                </a:gridCol>
              </a:tblGrid>
              <a:tr h="4359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위 치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목  적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개선내용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  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견적비용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046290"/>
                  </a:ext>
                </a:extLst>
              </a:tr>
              <a:tr h="17287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탱크로리 작업장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필름 </a:t>
                      </a:r>
                      <a:r>
                        <a:rPr lang="en-US" altLang="ko-KR" sz="1200" dirty="0" smtClean="0"/>
                        <a:t>2</a:t>
                      </a:r>
                      <a:r>
                        <a:rPr lang="ko-KR" altLang="en-US" sz="1200" dirty="0" smtClean="0"/>
                        <a:t>차 제거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투입구 </a:t>
                      </a:r>
                      <a:r>
                        <a:rPr lang="ko-KR" altLang="en-US" sz="1200" dirty="0" err="1" smtClean="0"/>
                        <a:t>메쉬망</a:t>
                      </a:r>
                      <a:r>
                        <a:rPr lang="ko-KR" altLang="en-US" sz="1200" dirty="0" smtClean="0"/>
                        <a:t> 사이즈 축소 제작</a:t>
                      </a:r>
                      <a:endParaRPr lang="en-US" altLang="ko-KR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A : FRAME</a:t>
                      </a:r>
                      <a:r>
                        <a:rPr lang="en-US" altLang="ko-KR" sz="1200" baseline="0" dirty="0" smtClean="0"/>
                        <a:t>, MESH –STS304 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</a:rPr>
                        <a:t>(220</a:t>
                      </a:r>
                      <a:r>
                        <a:rPr lang="ko-KR" altLang="en-US" sz="1200" baseline="0" dirty="0" smtClean="0">
                          <a:solidFill>
                            <a:srgbClr val="FF0000"/>
                          </a:solidFill>
                        </a:rPr>
                        <a:t>만원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aseline="0" dirty="0" smtClean="0"/>
                        <a:t>B : FRAME-STEEL, MESH – SUS 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</a:rPr>
                        <a:t>(210</a:t>
                      </a:r>
                      <a:r>
                        <a:rPr lang="ko-KR" altLang="en-US" sz="1200" baseline="0" dirty="0" smtClean="0">
                          <a:solidFill>
                            <a:srgbClr val="FF0000"/>
                          </a:solidFill>
                        </a:rPr>
                        <a:t>만원</a:t>
                      </a:r>
                      <a:r>
                        <a:rPr lang="en-US" altLang="ko-KR" sz="1200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326881"/>
                  </a:ext>
                </a:extLst>
              </a:tr>
              <a:tr h="16589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탱크로리 작업장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필름</a:t>
                      </a:r>
                      <a:r>
                        <a:rPr lang="en-US" altLang="ko-KR" sz="1200" dirty="0" smtClean="0"/>
                        <a:t>. </a:t>
                      </a:r>
                      <a:r>
                        <a:rPr lang="ko-KR" altLang="en-US" sz="1200" dirty="0" smtClean="0"/>
                        <a:t>이물</a:t>
                      </a:r>
                      <a:r>
                        <a:rPr lang="ko-KR" altLang="en-US" sz="1200" baseline="0" dirty="0" smtClean="0"/>
                        <a:t> </a:t>
                      </a:r>
                      <a:r>
                        <a:rPr lang="ko-KR" altLang="en-US" sz="1200" baseline="0" dirty="0" err="1" smtClean="0"/>
                        <a:t>혼입방지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탱크로리 접안 시 상단 청소를 위한 구조물 설치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425</a:t>
                      </a:r>
                      <a:r>
                        <a:rPr lang="ko-KR" altLang="en-US" sz="1200" dirty="0" smtClean="0"/>
                        <a:t>만원 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242991"/>
                  </a:ext>
                </a:extLst>
              </a:tr>
            </a:tbl>
          </a:graphicData>
        </a:graphic>
      </p:graphicFrame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384" y="6021770"/>
            <a:ext cx="2085052" cy="165526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6384" y="4295575"/>
            <a:ext cx="2063018" cy="16490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821352" y="7916823"/>
            <a:ext cx="10980248" cy="218474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4540" y="184404"/>
            <a:ext cx="52272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#8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제품라인</a:t>
            </a: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탱크로리 점검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3"/>
          <p:cNvSpPr>
            <a:spLocks noGrp="1"/>
          </p:cNvSpPr>
          <p:nvPr>
            <p:ph type="title"/>
          </p:nvPr>
        </p:nvSpPr>
        <p:spPr>
          <a:xfrm>
            <a:off x="2803652" y="2436218"/>
            <a:ext cx="1721562" cy="475160"/>
          </a:xfrm>
        </p:spPr>
        <p:txBody>
          <a:bodyPr>
            <a:noAutofit/>
          </a:bodyPr>
          <a:lstStyle/>
          <a:p>
            <a:pPr algn="ctr"/>
            <a:r>
              <a:rPr lang="ko-KR" altLang="en-US" sz="1260" dirty="0">
                <a:latin typeface="+mn-ea"/>
                <a:ea typeface="+mn-ea"/>
              </a:rPr>
              <a:t>냉각 수조 끝 지점 </a:t>
            </a:r>
            <a:r>
              <a:rPr lang="en-US" altLang="ko-KR" sz="1260" dirty="0">
                <a:latin typeface="+mn-ea"/>
                <a:ea typeface="+mn-ea"/>
              </a:rPr>
              <a:t>32.2</a:t>
            </a:r>
            <a:r>
              <a:rPr lang="ko-KR" altLang="en-US" sz="1260" dirty="0">
                <a:latin typeface="+mn-ea"/>
                <a:ea typeface="+mn-ea"/>
              </a:rPr>
              <a:t>℃</a:t>
            </a:r>
            <a:endParaRPr lang="ko-KR" altLang="en-US" sz="126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798185" y="2434781"/>
            <a:ext cx="1727028" cy="236425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72" y="3017127"/>
            <a:ext cx="1688352" cy="1753226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746053" y="2424714"/>
            <a:ext cx="1727028" cy="2364258"/>
            <a:chOff x="1288473" y="714262"/>
            <a:chExt cx="1439190" cy="1970215"/>
          </a:xfrm>
        </p:grpSpPr>
        <p:sp>
          <p:nvSpPr>
            <p:cNvPr id="9" name="제목 3"/>
            <p:cNvSpPr txBox="1">
              <a:spLocks/>
            </p:cNvSpPr>
            <p:nvPr/>
          </p:nvSpPr>
          <p:spPr>
            <a:xfrm>
              <a:off x="1295962" y="715460"/>
              <a:ext cx="1431701" cy="39596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txBody>
            <a:bodyPr vert="horz" lIns="109728" tIns="54864" rIns="109728" bIns="54864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ko-KR" altLang="en-US" sz="1260" dirty="0" err="1">
                  <a:latin typeface="+mn-ea"/>
                  <a:ea typeface="+mn-ea"/>
                </a:rPr>
                <a:t>냉각수조</a:t>
              </a:r>
              <a:r>
                <a:rPr lang="ko-KR" altLang="en-US" sz="1260" dirty="0">
                  <a:latin typeface="+mn-ea"/>
                  <a:ea typeface="+mn-ea"/>
                </a:rPr>
                <a:t> 노즐측 </a:t>
              </a:r>
              <a:r>
                <a:rPr lang="en-US" altLang="ko-KR" sz="1260" dirty="0">
                  <a:latin typeface="+mn-ea"/>
                  <a:ea typeface="+mn-ea"/>
                </a:rPr>
                <a:t>45.7</a:t>
              </a:r>
              <a:r>
                <a:rPr lang="ko-KR" altLang="en-US" sz="1260" dirty="0">
                  <a:latin typeface="+mn-ea"/>
                  <a:ea typeface="+mn-ea"/>
                </a:rPr>
                <a:t>℃</a:t>
              </a:r>
              <a:endParaRPr lang="ko-KR" altLang="en-US" sz="1260" dirty="0">
                <a:latin typeface="+mn-ea"/>
                <a:ea typeface="+mn-ea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88473" y="714262"/>
              <a:ext cx="1439190" cy="1970215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2314" y="1200997"/>
              <a:ext cx="1406960" cy="1461022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12" name="TextBox 11"/>
          <p:cNvSpPr txBox="1"/>
          <p:nvPr/>
        </p:nvSpPr>
        <p:spPr>
          <a:xfrm>
            <a:off x="605118" y="2143693"/>
            <a:ext cx="2072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내부수조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온도 측정</a:t>
            </a:r>
            <a:endParaRPr lang="ko-KR" altLang="en-US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62601" y="4973279"/>
            <a:ext cx="334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제품이송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라인 </a:t>
            </a:r>
            <a:r>
              <a:rPr lang="ko-KR" altLang="en-US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펠렛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온도</a:t>
            </a:r>
            <a:endParaRPr lang="ko-KR" altLang="en-US" sz="1200" b="1" dirty="0"/>
          </a:p>
        </p:txBody>
      </p:sp>
      <p:sp>
        <p:nvSpPr>
          <p:cNvPr id="20" name="제목 3"/>
          <p:cNvSpPr txBox="1">
            <a:spLocks/>
          </p:cNvSpPr>
          <p:nvPr/>
        </p:nvSpPr>
        <p:spPr>
          <a:xfrm>
            <a:off x="707025" y="5264590"/>
            <a:ext cx="1852730" cy="505508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1260">
                <a:latin typeface="+mn-ea"/>
                <a:ea typeface="+mn-ea"/>
              </a:rPr>
              <a:t>제품 블로워 펠렛 </a:t>
            </a:r>
            <a:r>
              <a:rPr lang="en-US" altLang="ko-KR" sz="1260">
                <a:latin typeface="+mn-ea"/>
                <a:ea typeface="+mn-ea"/>
              </a:rPr>
              <a:t>61.7</a:t>
            </a:r>
            <a:r>
              <a:rPr lang="ko-KR" altLang="en-US" sz="1260">
                <a:latin typeface="+mn-ea"/>
                <a:ea typeface="+mn-ea"/>
              </a:rPr>
              <a:t>℃</a:t>
            </a:r>
            <a:endParaRPr lang="ko-KR" altLang="en-US" sz="1260" dirty="0">
              <a:latin typeface="+mn-ea"/>
              <a:ea typeface="+mn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15" y="6014135"/>
            <a:ext cx="1783300" cy="1738566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114" y="6014135"/>
            <a:ext cx="1783300" cy="1738566"/>
          </a:xfrm>
          <a:prstGeom prst="rect">
            <a:avLst/>
          </a:prstGeom>
        </p:spPr>
      </p:pic>
      <p:sp>
        <p:nvSpPr>
          <p:cNvPr id="23" name="제목 3"/>
          <p:cNvSpPr txBox="1">
            <a:spLocks/>
          </p:cNvSpPr>
          <p:nvPr/>
        </p:nvSpPr>
        <p:spPr>
          <a:xfrm>
            <a:off x="2839991" y="5264590"/>
            <a:ext cx="1852430" cy="505508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1260" dirty="0">
                <a:latin typeface="+mn-ea"/>
                <a:ea typeface="+mn-ea"/>
              </a:rPr>
              <a:t>포장 </a:t>
            </a:r>
            <a:r>
              <a:rPr lang="en-US" altLang="ko-KR" sz="1260" dirty="0">
                <a:latin typeface="+mn-ea"/>
                <a:ea typeface="+mn-ea"/>
              </a:rPr>
              <a:t>BAG </a:t>
            </a:r>
            <a:r>
              <a:rPr lang="ko-KR" altLang="en-US" sz="1260" dirty="0" err="1">
                <a:latin typeface="+mn-ea"/>
                <a:ea typeface="+mn-ea"/>
              </a:rPr>
              <a:t>펠렛</a:t>
            </a:r>
            <a:r>
              <a:rPr lang="ko-KR" altLang="en-US" sz="1260" dirty="0">
                <a:latin typeface="+mn-ea"/>
                <a:ea typeface="+mn-ea"/>
              </a:rPr>
              <a:t> </a:t>
            </a:r>
            <a:r>
              <a:rPr lang="en-US" altLang="ko-KR" sz="1260" dirty="0">
                <a:latin typeface="+mn-ea"/>
                <a:ea typeface="+mn-ea"/>
              </a:rPr>
              <a:t>42.6</a:t>
            </a:r>
            <a:r>
              <a:rPr lang="ko-KR" altLang="en-US" sz="1260" dirty="0">
                <a:latin typeface="+mn-ea"/>
                <a:ea typeface="+mn-ea"/>
              </a:rPr>
              <a:t>℃</a:t>
            </a:r>
            <a:endParaRPr lang="ko-KR" altLang="en-US" sz="1260" dirty="0">
              <a:latin typeface="+mn-ea"/>
              <a:ea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1860" y="5264589"/>
            <a:ext cx="1857896" cy="251526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25" name="직사각형 24"/>
          <p:cNvSpPr/>
          <p:nvPr/>
        </p:nvSpPr>
        <p:spPr>
          <a:xfrm>
            <a:off x="2834526" y="5264589"/>
            <a:ext cx="1857896" cy="251526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60"/>
          </a:p>
        </p:txBody>
      </p:sp>
      <p:sp>
        <p:nvSpPr>
          <p:cNvPr id="28" name="직사각형 27"/>
          <p:cNvSpPr/>
          <p:nvPr/>
        </p:nvSpPr>
        <p:spPr>
          <a:xfrm>
            <a:off x="605120" y="835175"/>
            <a:ext cx="5703034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4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en-US" altLang="ko-KR" sz="144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#8</a:t>
            </a:r>
            <a:r>
              <a:rPr lang="ko-KR" altLang="en-US" sz="144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sz="144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필름</a:t>
            </a:r>
            <a:r>
              <a:rPr lang="en-US" altLang="ko-KR" sz="144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(Snake Skin)</a:t>
            </a:r>
            <a:r>
              <a:rPr lang="ko-KR" altLang="en-US" sz="144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 </a:t>
            </a:r>
            <a:r>
              <a:rPr lang="ko-KR" altLang="en-US" sz="144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  <a:endParaRPr lang="en-US" altLang="ko-KR" sz="144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1.1 </a:t>
            </a:r>
            <a:r>
              <a:rPr lang="ko-KR" altLang="en-US" sz="144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수조길이가</a:t>
            </a:r>
            <a:r>
              <a:rPr lang="ko-KR" altLang="en-US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짧아 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충분한 </a:t>
            </a:r>
            <a:r>
              <a:rPr lang="ko-KR" altLang="en-US" sz="144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펠렛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냉각이 안됨</a:t>
            </a:r>
            <a:endParaRPr lang="en-US" altLang="ko-KR" sz="144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1.2 1500kg/</a:t>
            </a:r>
            <a:r>
              <a:rPr lang="en-US" altLang="ko-KR" sz="144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hr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ko-KR" altLang="en-US" sz="144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제품이송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4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브로워의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풍속 </a:t>
            </a:r>
            <a:r>
              <a:rPr lang="en-US" altLang="ko-KR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30m/sec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ko-KR" altLang="en-US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이송됨</a:t>
            </a:r>
            <a:endParaRPr lang="ko-KR" altLang="en-US" sz="144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1917" y="2751453"/>
            <a:ext cx="3363401" cy="499490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61427" y="2089048"/>
            <a:ext cx="3453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풍속 조절기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(3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시간당 생산량이 높아 항상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단계로 이송함</a:t>
            </a: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6874525" y="4605051"/>
            <a:ext cx="209321" cy="24704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9009151" y="1308901"/>
            <a:ext cx="5703034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4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44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4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탱크로리 작업장</a:t>
            </a:r>
            <a:r>
              <a:rPr lang="en-US" altLang="ko-KR" sz="144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sz="144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차 필름 제거</a:t>
            </a:r>
            <a:r>
              <a:rPr lang="en-US" altLang="ko-KR" sz="144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44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1.1 </a:t>
            </a:r>
            <a:r>
              <a:rPr lang="ko-KR" altLang="en-US" sz="144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메쉬망</a:t>
            </a:r>
            <a:r>
              <a:rPr lang="ko-KR" altLang="en-US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SIZE</a:t>
            </a:r>
            <a:r>
              <a:rPr lang="ko-KR" altLang="en-US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 필름이 통과 가능함</a:t>
            </a:r>
            <a:endParaRPr lang="en-US" altLang="ko-KR" sz="144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4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4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4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4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4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4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4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4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1.2 </a:t>
            </a:r>
            <a:r>
              <a:rPr lang="ko-KR" altLang="en-US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탱크로리 상단 청소를 위한 </a:t>
            </a:r>
            <a:r>
              <a:rPr lang="ko-KR" altLang="en-US" sz="144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설비구조</a:t>
            </a:r>
            <a:r>
              <a:rPr lang="ko-KR" altLang="en-US" sz="144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부재</a:t>
            </a:r>
            <a:endParaRPr lang="ko-KR" altLang="en-US" sz="144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9714125" y="2145793"/>
            <a:ext cx="3904597" cy="1898134"/>
            <a:chOff x="4987884" y="1484784"/>
            <a:chExt cx="3904597" cy="1898134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65078" y="1484784"/>
              <a:ext cx="1224136" cy="1317502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4987884" y="2828920"/>
              <a:ext cx="2088232" cy="5539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 smtClean="0">
                  <a:latin typeface="+mn-ea"/>
                  <a:ea typeface="+mn-ea"/>
                </a:rPr>
                <a:t>사진</a:t>
              </a:r>
              <a:r>
                <a:rPr lang="en-US" altLang="ko-KR" sz="1000" dirty="0" smtClean="0">
                  <a:latin typeface="+mn-ea"/>
                  <a:ea typeface="+mn-ea"/>
                </a:rPr>
                <a:t>(1) - 10</a:t>
              </a:r>
              <a:r>
                <a:rPr lang="ko-KR" altLang="en-US" sz="1000" dirty="0" smtClean="0">
                  <a:latin typeface="+mn-ea"/>
                  <a:ea typeface="+mn-ea"/>
                </a:rPr>
                <a:t>톤 작업 후 </a:t>
              </a:r>
              <a:r>
                <a:rPr lang="ko-KR" altLang="en-US" sz="1000" dirty="0" err="1" smtClean="0">
                  <a:latin typeface="+mn-ea"/>
                  <a:ea typeface="+mn-ea"/>
                </a:rPr>
                <a:t>필름량</a:t>
              </a:r>
              <a:endParaRPr lang="en-US" altLang="ko-KR" sz="1000" dirty="0" smtClean="0">
                <a:latin typeface="+mn-ea"/>
                <a:ea typeface="+mn-ea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 smtClean="0">
                  <a:latin typeface="+mn-ea"/>
                  <a:ea typeface="+mn-ea"/>
                </a:rPr>
                <a:t>사진</a:t>
              </a:r>
              <a:r>
                <a:rPr lang="en-US" altLang="ko-KR" sz="1000" dirty="0" smtClean="0">
                  <a:latin typeface="+mn-ea"/>
                  <a:ea typeface="+mn-ea"/>
                </a:rPr>
                <a:t>(2,3) – bag 2ea </a:t>
              </a:r>
              <a:r>
                <a:rPr lang="ko-KR" altLang="en-US" sz="1000" dirty="0" smtClean="0">
                  <a:latin typeface="+mn-ea"/>
                  <a:ea typeface="+mn-ea"/>
                </a:rPr>
                <a:t>측정결과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9802" y="1484784"/>
              <a:ext cx="1472678" cy="1317502"/>
            </a:xfrm>
            <a:prstGeom prst="rect">
              <a:avLst/>
            </a:prstGeom>
          </p:spPr>
        </p:pic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87884" y="1484784"/>
              <a:ext cx="1138769" cy="1320560"/>
            </a:xfrm>
            <a:prstGeom prst="rect">
              <a:avLst/>
            </a:prstGeom>
          </p:spPr>
        </p:pic>
        <p:sp>
          <p:nvSpPr>
            <p:cNvPr id="36" name="오른쪽 화살표 35"/>
            <p:cNvSpPr/>
            <p:nvPr/>
          </p:nvSpPr>
          <p:spPr>
            <a:xfrm>
              <a:off x="7128015" y="2996636"/>
              <a:ext cx="313098" cy="216024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93013" y="2828920"/>
              <a:ext cx="1399468" cy="524246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b="1" dirty="0" smtClean="0">
                  <a:latin typeface="+mn-ea"/>
                  <a:ea typeface="+mn-ea"/>
                </a:rPr>
                <a:t>Mesh</a:t>
              </a:r>
              <a:r>
                <a:rPr lang="ko-KR" altLang="en-US" sz="1000" b="1" dirty="0" smtClean="0">
                  <a:latin typeface="+mn-ea"/>
                  <a:ea typeface="+mn-ea"/>
                </a:rPr>
                <a:t>망 </a:t>
              </a:r>
              <a:r>
                <a:rPr lang="en-US" altLang="ko-KR" sz="1000" b="1" dirty="0" smtClean="0">
                  <a:latin typeface="+mn-ea"/>
                  <a:ea typeface="+mn-ea"/>
                </a:rPr>
                <a:t>Size </a:t>
              </a:r>
              <a:r>
                <a:rPr lang="ko-KR" altLang="en-US" sz="1000" b="1" dirty="0" smtClean="0">
                  <a:latin typeface="+mn-ea"/>
                  <a:ea typeface="+mn-ea"/>
                </a:rPr>
                <a:t>축소 필요함</a:t>
              </a:r>
              <a:endParaRPr lang="ko-KR" altLang="en-US" sz="1000" b="1" dirty="0">
                <a:latin typeface="+mn-ea"/>
                <a:ea typeface="+mn-ea"/>
              </a:endParaRPr>
            </a:p>
          </p:txBody>
        </p:sp>
      </p:grpSp>
      <p:pic>
        <p:nvPicPr>
          <p:cNvPr id="18" name="그림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4411" y="4969484"/>
            <a:ext cx="3904310" cy="266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8995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353</Words>
  <Application>Microsoft Office PowerPoint</Application>
  <PresentationFormat>사용자 지정</PresentationFormat>
  <Paragraphs>59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Inter Medium</vt:lpstr>
      <vt:lpstr>DM Sans Semi Bold</vt:lpstr>
      <vt:lpstr>Arial</vt:lpstr>
      <vt:lpstr>HY견고딕</vt:lpstr>
      <vt:lpstr>돋움</vt:lpstr>
      <vt:lpstr>맑은 고딕</vt:lpstr>
      <vt:lpstr>2_Office 테마</vt:lpstr>
      <vt:lpstr>1_Office 테마</vt:lpstr>
      <vt:lpstr>Office 테마</vt:lpstr>
      <vt:lpstr>PowerPoint 프레젠테이션</vt:lpstr>
      <vt:lpstr>냉각 수조 끝 지점 32.2℃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lastModifiedBy>a</cp:lastModifiedBy>
  <cp:revision>23</cp:revision>
  <cp:lastPrinted>2026-02-26T10:35:54Z</cp:lastPrinted>
  <dcterms:created xsi:type="dcterms:W3CDTF">2026-02-26T08:49:07Z</dcterms:created>
  <dcterms:modified xsi:type="dcterms:W3CDTF">2026-03-12T04:31:34Z</dcterms:modified>
</cp:coreProperties>
</file>