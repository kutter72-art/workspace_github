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2"/>
  </p:notesMasterIdLst>
  <p:handoutMasterIdLst>
    <p:handoutMasterId r:id="rId13"/>
  </p:handoutMasterIdLst>
  <p:sldIdLst>
    <p:sldId id="576" r:id="rId9"/>
    <p:sldId id="577" r:id="rId10"/>
    <p:sldId id="578" r:id="rId11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35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32406" y="765688"/>
            <a:ext cx="8344050" cy="1386022"/>
            <a:chOff x="323528" y="908720"/>
            <a:chExt cx="6724362" cy="1386022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사고내역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7170" y="1094413"/>
              <a:ext cx="64807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발생일 </a:t>
              </a:r>
              <a:r>
                <a:rPr lang="en-US" altLang="ko-KR" sz="1200" dirty="0" smtClean="0">
                  <a:latin typeface="+mn-ea"/>
                  <a:ea typeface="+mn-ea"/>
                </a:rPr>
                <a:t>: ’25</a:t>
              </a:r>
              <a:r>
                <a:rPr lang="ko-KR" altLang="en-US" sz="1200" dirty="0" smtClean="0">
                  <a:latin typeface="+mn-ea"/>
                  <a:ea typeface="+mn-ea"/>
                </a:rPr>
                <a:t>년 </a:t>
              </a:r>
              <a:r>
                <a:rPr lang="en-US" altLang="ko-KR" sz="1200" dirty="0" smtClean="0">
                  <a:latin typeface="+mn-ea"/>
                  <a:ea typeface="+mn-ea"/>
                </a:rPr>
                <a:t>12</a:t>
              </a:r>
              <a:r>
                <a:rPr lang="ko-KR" altLang="en-US" sz="1200" dirty="0" smtClean="0">
                  <a:latin typeface="+mn-ea"/>
                  <a:ea typeface="+mn-ea"/>
                </a:rPr>
                <a:t>월 </a:t>
              </a:r>
              <a:r>
                <a:rPr lang="en-US" altLang="ko-KR" sz="1200" dirty="0" smtClean="0">
                  <a:latin typeface="+mn-ea"/>
                  <a:ea typeface="+mn-ea"/>
                </a:rPr>
                <a:t>18</a:t>
              </a:r>
              <a:r>
                <a:rPr lang="ko-KR" altLang="en-US" sz="1200" dirty="0" smtClean="0">
                  <a:latin typeface="+mn-ea"/>
                  <a:ea typeface="+mn-ea"/>
                </a:rPr>
                <a:t>일</a:t>
              </a:r>
              <a:r>
                <a:rPr lang="en-US" altLang="ko-KR" sz="1200" dirty="0" smtClean="0">
                  <a:latin typeface="+mn-ea"/>
                  <a:ea typeface="+mn-ea"/>
                </a:rPr>
                <a:t>(</a:t>
              </a:r>
              <a:r>
                <a:rPr lang="ko-KR" altLang="en-US" sz="1200" dirty="0" smtClean="0">
                  <a:latin typeface="+mn-ea"/>
                  <a:ea typeface="+mn-ea"/>
                </a:rPr>
                <a:t>목</a:t>
              </a:r>
              <a:r>
                <a:rPr lang="en-US" altLang="ko-KR" sz="1200" dirty="0" smtClean="0">
                  <a:latin typeface="+mn-ea"/>
                  <a:ea typeface="+mn-ea"/>
                </a:rPr>
                <a:t>) 14:00</a:t>
              </a:r>
              <a:r>
                <a:rPr lang="ko-KR" altLang="en-US" sz="1200" dirty="0" smtClean="0">
                  <a:latin typeface="+mn-ea"/>
                  <a:ea typeface="+mn-ea"/>
                </a:rPr>
                <a:t>분 경 </a:t>
              </a:r>
              <a:r>
                <a:rPr lang="en-US" altLang="ko-KR" sz="1200" dirty="0" smtClean="0">
                  <a:latin typeface="+mn-ea"/>
                  <a:ea typeface="+mn-ea"/>
                </a:rPr>
                <a:t>(SD810SS-3248D </a:t>
              </a:r>
              <a:r>
                <a:rPr lang="ko-KR" altLang="en-US" sz="1200" dirty="0" smtClean="0">
                  <a:latin typeface="+mn-ea"/>
                  <a:ea typeface="+mn-ea"/>
                </a:rPr>
                <a:t>생산 중</a:t>
              </a:r>
              <a:r>
                <a:rPr lang="en-US" altLang="ko-KR" sz="1200" dirty="0" smtClean="0">
                  <a:latin typeface="+mn-ea"/>
                  <a:ea typeface="+mn-ea"/>
                </a:rPr>
                <a:t>)</a:t>
              </a: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ko-KR" sz="1200" dirty="0" err="1" smtClean="0">
                  <a:latin typeface="+mn-ea"/>
                  <a:ea typeface="+mn-ea"/>
                </a:rPr>
                <a:t>대상설비</a:t>
              </a:r>
              <a:r>
                <a:rPr lang="ko-KR" altLang="ko-KR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>
                  <a:latin typeface="+mn-ea"/>
                  <a:ea typeface="+mn-ea"/>
                </a:rPr>
                <a:t>: </a:t>
              </a:r>
              <a:r>
                <a:rPr lang="en-US" altLang="ko-KR" sz="1200" dirty="0" smtClean="0">
                  <a:latin typeface="+mn-ea"/>
                  <a:ea typeface="+mn-ea"/>
                </a:rPr>
                <a:t>#13</a:t>
              </a:r>
              <a:r>
                <a:rPr lang="ko-KR" altLang="en-US" sz="1200" dirty="0" smtClean="0">
                  <a:latin typeface="+mn-ea"/>
                  <a:ea typeface="+mn-ea"/>
                </a:rPr>
                <a:t>호기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스크류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카플링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 smtClean="0">
                  <a:latin typeface="+mn-ea"/>
                  <a:ea typeface="+mn-ea"/>
                </a:rPr>
                <a:t>2</a:t>
              </a:r>
              <a:r>
                <a:rPr lang="ko-KR" altLang="en-US" sz="1200" dirty="0" smtClean="0">
                  <a:latin typeface="+mn-ea"/>
                  <a:ea typeface="+mn-ea"/>
                </a:rPr>
                <a:t>개 중 </a:t>
              </a: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개 파손으로 인한 샤프트 부러짐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marL="171450" lvl="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원인</a:t>
              </a:r>
              <a:r>
                <a:rPr lang="ko-KR" altLang="ko-KR" sz="1200" dirty="0" smtClean="0">
                  <a:latin typeface="+mn-ea"/>
                  <a:ea typeface="+mn-ea"/>
                </a:rPr>
                <a:t> </a:t>
              </a:r>
              <a:r>
                <a:rPr lang="en-US" altLang="ko-KR" sz="1200" dirty="0">
                  <a:latin typeface="+mn-ea"/>
                  <a:ea typeface="+mn-ea"/>
                </a:rPr>
                <a:t>: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베랄슬리브</a:t>
              </a:r>
              <a:r>
                <a:rPr lang="ko-KR" altLang="en-US" sz="1200" dirty="0" smtClean="0">
                  <a:latin typeface="+mn-ea"/>
                  <a:ea typeface="+mn-ea"/>
                </a:rPr>
                <a:t> 마모로 샤프트 회전축이 흔들리면서 기어박스 베어링 파손과 샤프트를 연결하는 </a:t>
              </a:r>
              <a:endParaRPr lang="en-US" altLang="ko-KR" sz="1200" dirty="0" smtClean="0">
                <a:latin typeface="+mn-ea"/>
                <a:ea typeface="+mn-ea"/>
              </a:endParaRPr>
            </a:p>
            <a:p>
              <a:pPr lvl="0">
                <a:lnSpc>
                  <a:spcPct val="150000"/>
                </a:lnSpc>
              </a:pPr>
              <a:r>
                <a:rPr lang="en-US" altLang="ko-KR" sz="1200" dirty="0" smtClean="0">
                  <a:latin typeface="+mn-ea"/>
                  <a:ea typeface="+mn-ea"/>
                </a:rPr>
                <a:t>          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카플링이</a:t>
              </a:r>
              <a:r>
                <a:rPr lang="ko-KR" altLang="en-US" sz="1200" dirty="0" smtClean="0">
                  <a:latin typeface="+mn-ea"/>
                  <a:ea typeface="+mn-ea"/>
                </a:rPr>
                <a:t> </a:t>
              </a:r>
              <a:r>
                <a:rPr lang="ko-KR" altLang="en-US" sz="1200" dirty="0" smtClean="0">
                  <a:latin typeface="+mn-ea"/>
                  <a:ea typeface="+mn-ea"/>
                </a:rPr>
                <a:t>파손됨</a:t>
              </a:r>
              <a:r>
                <a:rPr lang="en-US" altLang="ko-KR" sz="1200" dirty="0" smtClean="0">
                  <a:latin typeface="+mn-ea"/>
                  <a:ea typeface="+mn-ea"/>
                </a:rPr>
                <a:t>. </a:t>
              </a:r>
              <a:r>
                <a:rPr lang="ko-KR" altLang="en-US" sz="1200" dirty="0" smtClean="0">
                  <a:latin typeface="+mn-ea"/>
                  <a:ea typeface="+mn-ea"/>
                </a:rPr>
                <a:t>또한 </a:t>
              </a:r>
              <a:r>
                <a:rPr lang="ko-KR" altLang="en-US" sz="1200" dirty="0" smtClean="0">
                  <a:latin typeface="+mn-ea"/>
                  <a:ea typeface="+mn-ea"/>
                </a:rPr>
                <a:t>회전축이 흔들림과 힘이 전달되면서 샤프트 부러짐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#13</a:t>
            </a:r>
            <a:r>
              <a:rPr lang="ko-KR" altLang="en-US" sz="1600" b="1" dirty="0" smtClean="0">
                <a:latin typeface="+mn-ea"/>
                <a:ea typeface="+mn-ea"/>
              </a:rPr>
              <a:t>호기 </a:t>
            </a:r>
            <a:r>
              <a:rPr lang="en-US" altLang="ko-KR" sz="1600" b="1" dirty="0" smtClean="0">
                <a:latin typeface="+mn-ea"/>
                <a:ea typeface="+mn-ea"/>
              </a:rPr>
              <a:t>92mm </a:t>
            </a:r>
            <a:r>
              <a:rPr lang="ko-KR" altLang="en-US" sz="1600" b="1" dirty="0" smtClean="0">
                <a:latin typeface="+mn-ea"/>
                <a:ea typeface="+mn-ea"/>
              </a:rPr>
              <a:t>샤프트 구매의 건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32955" y="2150913"/>
            <a:ext cx="8344050" cy="1090344"/>
            <a:chOff x="323528" y="908720"/>
            <a:chExt cx="6724362" cy="1090344"/>
          </a:xfrm>
        </p:grpSpPr>
        <p:sp>
          <p:nvSpPr>
            <p:cNvPr id="11" name="TextBox 10"/>
            <p:cNvSpPr txBox="1"/>
            <p:nvPr/>
          </p:nvSpPr>
          <p:spPr>
            <a:xfrm>
              <a:off x="323528" y="908720"/>
              <a:ext cx="55357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■ 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조치내용</a:t>
              </a:r>
              <a:endParaRPr lang="ko-KR" altLang="en-US" sz="12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7170" y="1075734"/>
              <a:ext cx="648072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기어박스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외부수리</a:t>
              </a:r>
              <a:r>
                <a:rPr lang="ko-KR" altLang="en-US" sz="1200" dirty="0" smtClean="0">
                  <a:latin typeface="+mn-ea"/>
                  <a:ea typeface="+mn-ea"/>
                </a:rPr>
                <a:t> 진행 </a:t>
              </a:r>
              <a:r>
                <a:rPr lang="en-US" altLang="ko-KR" sz="1200" dirty="0" smtClean="0">
                  <a:latin typeface="+mn-ea"/>
                  <a:ea typeface="+mn-ea"/>
                </a:rPr>
                <a:t>(12</a:t>
              </a:r>
              <a:r>
                <a:rPr lang="ko-KR" altLang="en-US" sz="1200" dirty="0" smtClean="0">
                  <a:latin typeface="+mn-ea"/>
                  <a:ea typeface="+mn-ea"/>
                </a:rPr>
                <a:t>월 </a:t>
              </a:r>
              <a:r>
                <a:rPr lang="en-US" altLang="ko-KR" sz="1200" dirty="0" smtClean="0">
                  <a:latin typeface="+mn-ea"/>
                  <a:ea typeface="+mn-ea"/>
                </a:rPr>
                <a:t>18</a:t>
              </a:r>
              <a:r>
                <a:rPr lang="ko-KR" altLang="en-US" sz="1200" dirty="0" smtClean="0">
                  <a:latin typeface="+mn-ea"/>
                  <a:ea typeface="+mn-ea"/>
                </a:rPr>
                <a:t>일 </a:t>
              </a:r>
              <a:r>
                <a:rPr lang="en-US" altLang="ko-KR" sz="1200" dirty="0" smtClean="0">
                  <a:latin typeface="+mn-ea"/>
                  <a:ea typeface="+mn-ea"/>
                </a:rPr>
                <a:t>~ 24</a:t>
              </a:r>
              <a:r>
                <a:rPr lang="ko-KR" altLang="en-US" sz="1200" dirty="0" smtClean="0">
                  <a:latin typeface="+mn-ea"/>
                  <a:ea typeface="+mn-ea"/>
                </a:rPr>
                <a:t>일 오후 </a:t>
              </a:r>
              <a:r>
                <a:rPr lang="en-US" altLang="ko-KR" sz="1200" dirty="0" smtClean="0">
                  <a:latin typeface="+mn-ea"/>
                  <a:ea typeface="+mn-ea"/>
                </a:rPr>
                <a:t>16:30</a:t>
              </a:r>
              <a:r>
                <a:rPr lang="ko-KR" altLang="en-US" sz="1200" dirty="0" smtClean="0">
                  <a:latin typeface="+mn-ea"/>
                  <a:ea typeface="+mn-ea"/>
                </a:rPr>
                <a:t>분 가동</a:t>
              </a:r>
              <a:r>
                <a:rPr lang="en-US" altLang="ko-KR" sz="1200" dirty="0" smtClean="0">
                  <a:latin typeface="+mn-ea"/>
                  <a:ea typeface="+mn-ea"/>
                </a:rPr>
                <a:t>)/ </a:t>
              </a:r>
              <a:r>
                <a:rPr lang="ko-KR" altLang="en-US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수리비 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: 800</a:t>
              </a:r>
              <a:r>
                <a:rPr lang="ko-KR" altLang="en-US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만원</a:t>
              </a:r>
              <a:endParaRPr lang="en-US" altLang="ko-KR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  <a:p>
              <a:pPr marL="171450" indent="-171450">
                <a:lnSpc>
                  <a:spcPct val="150000"/>
                </a:lnSpc>
                <a:buFontTx/>
                <a:buChar char="-"/>
              </a:pPr>
              <a:r>
                <a:rPr lang="ko-KR" altLang="en-US" sz="1200" dirty="0" smtClean="0">
                  <a:latin typeface="+mn-ea"/>
                  <a:ea typeface="+mn-ea"/>
                </a:rPr>
                <a:t>샤프트는 </a:t>
              </a: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세트 </a:t>
              </a:r>
              <a:r>
                <a:rPr lang="ko-KR" altLang="en-US" sz="1200" dirty="0" err="1" smtClean="0">
                  <a:latin typeface="+mn-ea"/>
                  <a:ea typeface="+mn-ea"/>
                </a:rPr>
                <a:t>예비품으로</a:t>
              </a:r>
              <a:r>
                <a:rPr lang="ko-KR" altLang="en-US" sz="1200" dirty="0" smtClean="0">
                  <a:latin typeface="+mn-ea"/>
                  <a:ea typeface="+mn-ea"/>
                </a:rPr>
                <a:t> 대체함 </a:t>
              </a:r>
              <a:r>
                <a:rPr lang="en-US" altLang="ko-KR" sz="1200" dirty="0" smtClean="0">
                  <a:latin typeface="+mn-ea"/>
                  <a:ea typeface="+mn-ea"/>
                </a:rPr>
                <a:t>(</a:t>
              </a:r>
              <a:r>
                <a:rPr lang="ko-KR" altLang="en-US" sz="1200" dirty="0" smtClean="0">
                  <a:latin typeface="+mn-ea"/>
                  <a:ea typeface="+mn-ea"/>
                </a:rPr>
                <a:t>현재 </a:t>
              </a: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세트 중 </a:t>
              </a:r>
              <a:r>
                <a:rPr lang="en-US" altLang="ko-KR" sz="1200" dirty="0" smtClean="0">
                  <a:latin typeface="+mn-ea"/>
                  <a:ea typeface="+mn-ea"/>
                </a:rPr>
                <a:t>1</a:t>
              </a:r>
              <a:r>
                <a:rPr lang="ko-KR" altLang="en-US" sz="1200" dirty="0" smtClean="0">
                  <a:latin typeface="+mn-ea"/>
                  <a:ea typeface="+mn-ea"/>
                </a:rPr>
                <a:t>개만 있음</a:t>
              </a:r>
              <a:r>
                <a:rPr lang="en-US" altLang="ko-KR" sz="1200" dirty="0" smtClean="0">
                  <a:latin typeface="+mn-ea"/>
                  <a:ea typeface="+mn-ea"/>
                </a:rPr>
                <a:t>)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marL="171450" lvl="0" indent="-171450">
                <a:lnSpc>
                  <a:spcPct val="150000"/>
                </a:lnSpc>
                <a:buFontTx/>
                <a:buChar char="-"/>
              </a:pPr>
              <a:r>
                <a:rPr lang="en-US" altLang="ko-KR" sz="1200" dirty="0" smtClean="0">
                  <a:latin typeface="+mn-ea"/>
                  <a:ea typeface="+mn-ea"/>
                </a:rPr>
                <a:t>DOWNTIME</a:t>
              </a:r>
              <a:r>
                <a:rPr lang="ko-KR" altLang="en-US" sz="1200" dirty="0" smtClean="0">
                  <a:latin typeface="+mn-ea"/>
                  <a:ea typeface="+mn-ea"/>
                </a:rPr>
                <a:t>으로 인한 예상 생산량 감소 </a:t>
              </a:r>
              <a:r>
                <a:rPr lang="en-US" altLang="ko-KR" sz="1200" dirty="0" smtClean="0">
                  <a:latin typeface="+mn-ea"/>
                  <a:ea typeface="+mn-ea"/>
                </a:rPr>
                <a:t>: 5</a:t>
              </a:r>
              <a:r>
                <a:rPr lang="ko-KR" altLang="en-US" sz="1200" dirty="0" smtClean="0">
                  <a:latin typeface="+mn-ea"/>
                  <a:ea typeface="+mn-ea"/>
                </a:rPr>
                <a:t>일 </a:t>
              </a:r>
              <a:r>
                <a:rPr lang="en-US" altLang="ko-KR" sz="1200" dirty="0" smtClean="0">
                  <a:latin typeface="+mn-ea"/>
                  <a:ea typeface="+mn-ea"/>
                </a:rPr>
                <a:t>8</a:t>
              </a:r>
              <a:r>
                <a:rPr lang="ko-KR" altLang="en-US" sz="1200" dirty="0" smtClean="0">
                  <a:latin typeface="+mn-ea"/>
                  <a:ea typeface="+mn-ea"/>
                </a:rPr>
                <a:t>시간 </a:t>
              </a:r>
              <a:r>
                <a:rPr lang="ko-KR" altLang="en-US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약</a:t>
              </a:r>
              <a:r>
                <a:rPr lang="en-US" altLang="ko-KR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148</a:t>
              </a:r>
              <a:r>
                <a:rPr lang="ko-KR" altLang="en-US" sz="1200" b="1" dirty="0" smtClean="0">
                  <a:solidFill>
                    <a:srgbClr val="FF0000"/>
                  </a:solidFill>
                  <a:latin typeface="+mn-ea"/>
                  <a:ea typeface="+mn-ea"/>
                </a:rPr>
                <a:t>톤 </a:t>
              </a:r>
              <a:endParaRPr lang="ko-KR" altLang="ko-KR" sz="12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32955" y="3194122"/>
            <a:ext cx="6869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샤프트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예비품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보유현황</a:t>
            </a:r>
            <a:endParaRPr lang="ko-KR" alt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30414" y="4692394"/>
            <a:ext cx="8041722" cy="61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 smtClean="0">
                <a:latin typeface="+mn-ea"/>
                <a:ea typeface="+mn-ea"/>
              </a:rPr>
              <a:t>92mm(3590) G/F</a:t>
            </a:r>
            <a:r>
              <a:rPr lang="ko-KR" altLang="en-US" sz="1200" b="1" dirty="0" err="1" smtClean="0">
                <a:latin typeface="+mn-ea"/>
                <a:ea typeface="+mn-ea"/>
              </a:rPr>
              <a:t>용와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en-US" altLang="ko-KR" sz="1200" b="1" dirty="0" smtClean="0">
                <a:latin typeface="+mn-ea"/>
                <a:ea typeface="+mn-ea"/>
              </a:rPr>
              <a:t>P.P</a:t>
            </a:r>
            <a:r>
              <a:rPr lang="ko-KR" altLang="en-US" sz="1200" b="1" dirty="0" smtClean="0">
                <a:latin typeface="+mn-ea"/>
                <a:ea typeface="+mn-ea"/>
              </a:rPr>
              <a:t>용 각 </a:t>
            </a:r>
            <a:r>
              <a:rPr lang="en-US" altLang="ko-KR" sz="1200" b="1" dirty="0" smtClean="0">
                <a:latin typeface="+mn-ea"/>
                <a:ea typeface="+mn-ea"/>
              </a:rPr>
              <a:t>1</a:t>
            </a:r>
            <a:r>
              <a:rPr lang="ko-KR" altLang="en-US" sz="1200" b="1" dirty="0" smtClean="0">
                <a:latin typeface="+mn-ea"/>
                <a:ea typeface="+mn-ea"/>
              </a:rPr>
              <a:t>세트 </a:t>
            </a:r>
            <a:r>
              <a:rPr lang="ko-KR" altLang="en-US" sz="1200" b="1" dirty="0" err="1" smtClean="0">
                <a:latin typeface="+mn-ea"/>
                <a:ea typeface="+mn-ea"/>
              </a:rPr>
              <a:t>예비품</a:t>
            </a:r>
            <a:r>
              <a:rPr lang="ko-KR" altLang="en-US" sz="1200" b="1" dirty="0">
                <a:latin typeface="+mn-ea"/>
                <a:ea typeface="+mn-ea"/>
              </a:rPr>
              <a:t> </a:t>
            </a:r>
            <a:r>
              <a:rPr lang="ko-KR" altLang="en-US" sz="1200" b="1" dirty="0" smtClean="0">
                <a:latin typeface="+mn-ea"/>
                <a:ea typeface="+mn-ea"/>
              </a:rPr>
              <a:t>보유</a:t>
            </a:r>
            <a:r>
              <a:rPr lang="en-US" altLang="ko-KR" sz="1200" b="1" dirty="0" smtClean="0">
                <a:latin typeface="+mn-ea"/>
                <a:ea typeface="+mn-ea"/>
              </a:rPr>
              <a:t>. </a:t>
            </a:r>
            <a:r>
              <a:rPr lang="ko-KR" altLang="en-US" sz="1200" b="1" dirty="0" smtClean="0">
                <a:latin typeface="+mn-ea"/>
                <a:ea typeface="+mn-ea"/>
              </a:rPr>
              <a:t>현 </a:t>
            </a:r>
            <a:r>
              <a:rPr lang="en-US" altLang="ko-KR" sz="1200" b="1" dirty="0" smtClean="0">
                <a:latin typeface="+mn-ea"/>
                <a:ea typeface="+mn-ea"/>
              </a:rPr>
              <a:t>P.P</a:t>
            </a:r>
            <a:r>
              <a:rPr lang="ko-KR" altLang="en-US" sz="1200" b="1" dirty="0" smtClean="0">
                <a:latin typeface="+mn-ea"/>
                <a:ea typeface="+mn-ea"/>
              </a:rPr>
              <a:t>용 파손됨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 err="1" smtClean="0">
                <a:latin typeface="+mn-ea"/>
                <a:ea typeface="+mn-ea"/>
              </a:rPr>
              <a:t>구매목적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en-US" altLang="ko-KR" sz="1200" b="1" dirty="0" smtClean="0">
                <a:latin typeface="+mn-ea"/>
                <a:ea typeface="+mn-ea"/>
              </a:rPr>
              <a:t>: </a:t>
            </a:r>
            <a:r>
              <a:rPr lang="ko-KR" altLang="en-US" sz="1200" b="1" dirty="0" smtClean="0">
                <a:latin typeface="+mn-ea"/>
                <a:ea typeface="+mn-ea"/>
              </a:rPr>
              <a:t>샤프트 </a:t>
            </a:r>
            <a:r>
              <a:rPr lang="en-US" altLang="ko-KR" sz="1200" b="1" dirty="0" smtClean="0">
                <a:latin typeface="+mn-ea"/>
                <a:ea typeface="+mn-ea"/>
              </a:rPr>
              <a:t>1EA </a:t>
            </a:r>
            <a:r>
              <a:rPr lang="ko-KR" altLang="en-US" sz="1200" b="1" dirty="0" smtClean="0">
                <a:latin typeface="+mn-ea"/>
                <a:ea typeface="+mn-ea"/>
              </a:rPr>
              <a:t>구매로 </a:t>
            </a:r>
            <a:r>
              <a:rPr lang="en-US" altLang="ko-KR" sz="1200" b="1" dirty="0" smtClean="0">
                <a:latin typeface="+mn-ea"/>
                <a:ea typeface="+mn-ea"/>
              </a:rPr>
              <a:t>92mm 1</a:t>
            </a:r>
            <a:r>
              <a:rPr lang="ko-KR" altLang="en-US" sz="1200" b="1" dirty="0" smtClean="0">
                <a:latin typeface="+mn-ea"/>
                <a:ea typeface="+mn-ea"/>
              </a:rPr>
              <a:t>세트 </a:t>
            </a:r>
            <a:r>
              <a:rPr lang="ko-KR" altLang="en-US" sz="1200" b="1" dirty="0" err="1" smtClean="0">
                <a:latin typeface="+mn-ea"/>
                <a:ea typeface="+mn-ea"/>
              </a:rPr>
              <a:t>예비품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준비필요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. ’26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년 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월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, 7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월 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#12, #11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호기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+mn-ea"/>
                <a:ea typeface="+mn-ea"/>
              </a:rPr>
              <a:t>스크류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 교체 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예정임</a:t>
            </a:r>
            <a:endParaRPr lang="en-US" altLang="ko-KR" sz="1200" b="1" dirty="0" smtClean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38509" y="5334500"/>
            <a:ext cx="7920880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■ </a:t>
            </a:r>
            <a:r>
              <a:rPr lang="ko-KR" altLang="en-US" sz="1200" b="1" dirty="0" smtClean="0">
                <a:solidFill>
                  <a:srgbClr val="1F1F1F"/>
                </a:solidFill>
                <a:latin typeface="+mn-lt"/>
                <a:ea typeface="맑은 고딕" panose="020B0503020000020004" pitchFamily="50" charset="-127"/>
                <a:cs typeface="Google Sans"/>
              </a:rPr>
              <a:t>결 론</a:t>
            </a:r>
            <a:endParaRPr lang="ko-KR" altLang="ko-KR" sz="1200" b="1" dirty="0">
              <a:latin typeface="+mn-lt"/>
            </a:endParaRPr>
          </a:p>
          <a:p>
            <a:pPr>
              <a:spcAft>
                <a:spcPts val="1200"/>
              </a:spcAft>
            </a:pP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  -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현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P.P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용 샤프트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1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세트 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준비로</a:t>
            </a:r>
            <a:r>
              <a:rPr lang="ko-KR" altLang="en-US" sz="1200" b="1" dirty="0" smtClean="0">
                <a:solidFill>
                  <a:srgbClr val="002060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b="1" dirty="0" smtClean="0">
                <a:solidFill>
                  <a:srgbClr val="00206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oogle Sans"/>
              </a:rPr>
              <a:t>① </a:t>
            </a:r>
            <a:r>
              <a:rPr lang="ko-KR" altLang="en-US" sz="1200" b="1" dirty="0" err="1" smtClean="0">
                <a:solidFill>
                  <a:srgbClr val="002060"/>
                </a:solidFill>
                <a:latin typeface="+mn-ea"/>
                <a:ea typeface="+mn-ea"/>
                <a:cs typeface="Google Sans"/>
              </a:rPr>
              <a:t>스크류</a:t>
            </a:r>
            <a:r>
              <a:rPr lang="ko-KR" altLang="en-US" sz="1200" b="1" dirty="0" smtClean="0">
                <a:solidFill>
                  <a:srgbClr val="002060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ko-KR" altLang="en-US" sz="1200" b="1" dirty="0" smtClean="0">
                <a:solidFill>
                  <a:srgbClr val="002060"/>
                </a:solidFill>
                <a:latin typeface="+mn-ea"/>
                <a:ea typeface="+mn-ea"/>
                <a:cs typeface="Google Sans"/>
              </a:rPr>
              <a:t>교체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b="1" dirty="0" smtClean="0">
                <a:solidFill>
                  <a:srgbClr val="00206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Google Sans"/>
              </a:rPr>
              <a:t>② </a:t>
            </a:r>
            <a:r>
              <a:rPr lang="ko-KR" altLang="en-US" sz="1200" b="1" dirty="0" smtClean="0">
                <a:solidFill>
                  <a:srgbClr val="002060"/>
                </a:solidFill>
                <a:latin typeface="+mn-ea"/>
                <a:ea typeface="+mn-ea"/>
                <a:cs typeface="Google Sans"/>
              </a:rPr>
              <a:t>파손 시 </a:t>
            </a:r>
            <a:r>
              <a:rPr lang="ko-KR" altLang="en-US" sz="1200" dirty="0" smtClean="0">
                <a:latin typeface="+mn-ea"/>
                <a:ea typeface="+mn-ea"/>
                <a:cs typeface="Google Sans"/>
              </a:rPr>
              <a:t>즉시 </a:t>
            </a:r>
            <a:r>
              <a:rPr lang="ko-KR" altLang="en-US" sz="1200" dirty="0" err="1" smtClean="0">
                <a:latin typeface="+mn-ea"/>
                <a:ea typeface="+mn-ea"/>
                <a:cs typeface="Google Sans"/>
              </a:rPr>
              <a:t>대응가능하므로</a:t>
            </a:r>
            <a:r>
              <a:rPr lang="ko-KR" altLang="en-US" sz="1200" dirty="0" smtClean="0">
                <a:latin typeface="+mn-ea"/>
                <a:ea typeface="+mn-ea"/>
                <a:cs typeface="Google Sans"/>
              </a:rPr>
              <a:t> </a:t>
            </a:r>
            <a:r>
              <a:rPr lang="en-US" altLang="ko-KR" sz="1200" dirty="0" smtClean="0">
                <a:latin typeface="+mn-ea"/>
                <a:ea typeface="+mn-ea"/>
                <a:cs typeface="Google Sans"/>
              </a:rPr>
              <a:t>1</a:t>
            </a:r>
            <a:r>
              <a:rPr lang="ko-KR" altLang="en-US" sz="1200" dirty="0" smtClean="0">
                <a:latin typeface="+mn-ea"/>
                <a:ea typeface="+mn-ea"/>
                <a:cs typeface="Google Sans"/>
              </a:rPr>
              <a:t>개 구매로 </a:t>
            </a:r>
            <a:r>
              <a:rPr lang="en-US" altLang="ko-KR" sz="1200" dirty="0" smtClean="0">
                <a:latin typeface="+mn-ea"/>
                <a:ea typeface="+mn-ea"/>
                <a:cs typeface="Google Sans"/>
              </a:rPr>
              <a:t>1</a:t>
            </a:r>
            <a:r>
              <a:rPr lang="ko-KR" altLang="en-US" sz="1200" dirty="0" smtClean="0">
                <a:latin typeface="+mn-ea"/>
                <a:ea typeface="+mn-ea"/>
                <a:cs typeface="Google Sans"/>
              </a:rPr>
              <a:t>세트 필요 판단됨</a:t>
            </a:r>
            <a:endParaRPr lang="en-US" altLang="ko-KR" sz="1200" dirty="0" smtClean="0">
              <a:latin typeface="+mn-ea"/>
              <a:ea typeface="+mn-ea"/>
              <a:cs typeface="Google Sans"/>
            </a:endParaRPr>
          </a:p>
          <a:p>
            <a:pPr>
              <a:spcAft>
                <a:spcPts val="1200"/>
              </a:spcAft>
            </a:pPr>
            <a:r>
              <a:rPr lang="en-US" altLang="ko-KR" sz="1200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r>
              <a:rPr lang="en-US" altLang="ko-KR" sz="1200" dirty="0" smtClean="0">
                <a:solidFill>
                  <a:srgbClr val="002060"/>
                </a:solidFill>
                <a:latin typeface="+mn-ea"/>
                <a:ea typeface="+mn-ea"/>
              </a:rPr>
              <a:t>  - </a:t>
            </a:r>
            <a:r>
              <a:rPr lang="ko-KR" altLang="en-US" sz="1200" dirty="0" smtClean="0">
                <a:solidFill>
                  <a:srgbClr val="002060"/>
                </a:solidFill>
                <a:latin typeface="+mn-ea"/>
                <a:ea typeface="+mn-ea"/>
              </a:rPr>
              <a:t>향후 </a:t>
            </a:r>
            <a:r>
              <a:rPr lang="en-US" altLang="ko-KR" sz="1200" dirty="0" smtClean="0">
                <a:solidFill>
                  <a:srgbClr val="002060"/>
                </a:solidFill>
                <a:latin typeface="+mn-ea"/>
                <a:ea typeface="+mn-ea"/>
              </a:rPr>
              <a:t>1</a:t>
            </a:r>
            <a:r>
              <a:rPr lang="ko-KR" altLang="en-US" sz="1200" dirty="0" smtClean="0">
                <a:solidFill>
                  <a:srgbClr val="002060"/>
                </a:solidFill>
                <a:latin typeface="+mn-ea"/>
                <a:ea typeface="+mn-ea"/>
              </a:rPr>
              <a:t>공장 중단과 </a:t>
            </a:r>
            <a:r>
              <a:rPr lang="en-US" altLang="ko-KR" sz="1200" dirty="0" smtClean="0">
                <a:solidFill>
                  <a:srgbClr val="002060"/>
                </a:solidFill>
                <a:latin typeface="+mn-ea"/>
                <a:ea typeface="+mn-ea"/>
              </a:rPr>
              <a:t>G/F </a:t>
            </a:r>
            <a:r>
              <a:rPr lang="ko-KR" altLang="en-US" sz="1200" dirty="0" smtClean="0">
                <a:solidFill>
                  <a:srgbClr val="002060"/>
                </a:solidFill>
                <a:latin typeface="+mn-ea"/>
                <a:ea typeface="+mn-ea"/>
              </a:rPr>
              <a:t>외주로 이전할 경우</a:t>
            </a:r>
            <a:r>
              <a:rPr lang="en-US" altLang="ko-KR" sz="1200" dirty="0" smtClean="0">
                <a:solidFill>
                  <a:srgbClr val="00206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 err="1" smtClean="0">
                <a:solidFill>
                  <a:srgbClr val="002060"/>
                </a:solidFill>
                <a:latin typeface="+mn-ea"/>
                <a:ea typeface="+mn-ea"/>
              </a:rPr>
              <a:t>예비품</a:t>
            </a:r>
            <a:r>
              <a:rPr lang="ko-KR" altLang="en-US" sz="1200" dirty="0" smtClean="0">
                <a:solidFill>
                  <a:srgbClr val="002060"/>
                </a:solidFill>
                <a:latin typeface="+mn-ea"/>
                <a:ea typeface="+mn-ea"/>
              </a:rPr>
              <a:t> 수량을 </a:t>
            </a:r>
            <a:r>
              <a:rPr lang="en-US" altLang="ko-KR" sz="1200" dirty="0" smtClean="0">
                <a:solidFill>
                  <a:srgbClr val="002060"/>
                </a:solidFill>
                <a:latin typeface="+mn-ea"/>
                <a:ea typeface="+mn-ea"/>
              </a:rPr>
              <a:t>1</a:t>
            </a:r>
            <a:r>
              <a:rPr lang="ko-KR" altLang="en-US" sz="1200" dirty="0" smtClean="0">
                <a:solidFill>
                  <a:srgbClr val="002060"/>
                </a:solidFill>
                <a:latin typeface="+mn-ea"/>
                <a:ea typeface="+mn-ea"/>
              </a:rPr>
              <a:t>세트로 감소 가능 판단됨</a:t>
            </a:r>
            <a:endParaRPr lang="en-US" altLang="ko-KR" sz="1200" dirty="0">
              <a:solidFill>
                <a:srgbClr val="1F1F1F"/>
              </a:solidFill>
              <a:latin typeface="+mn-ea"/>
              <a:ea typeface="+mn-ea"/>
            </a:endParaRPr>
          </a:p>
          <a:p>
            <a:pPr>
              <a:spcAft>
                <a:spcPts val="1200"/>
              </a:spcAft>
            </a:pPr>
            <a:r>
              <a:rPr lang="en-US" altLang="ko-KR" sz="1200" dirty="0" smtClean="0">
                <a:solidFill>
                  <a:srgbClr val="1F1F1F"/>
                </a:solidFill>
                <a:effectLst/>
                <a:latin typeface="+mn-ea"/>
                <a:ea typeface="+mn-ea"/>
              </a:rPr>
              <a:t>   - </a:t>
            </a:r>
            <a:r>
              <a:rPr lang="ko-KR" altLang="en-US" sz="1200" dirty="0" err="1" smtClean="0">
                <a:solidFill>
                  <a:srgbClr val="1F1F1F"/>
                </a:solidFill>
                <a:latin typeface="+mn-ea"/>
                <a:ea typeface="+mn-ea"/>
              </a:rPr>
              <a:t>견적금액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450</a:t>
            </a:r>
            <a:r>
              <a:rPr lang="ko-KR" altLang="en-US" sz="1200" dirty="0" smtClean="0">
                <a:solidFill>
                  <a:srgbClr val="1F1F1F"/>
                </a:solidFill>
                <a:latin typeface="+mn-ea"/>
                <a:ea typeface="+mn-ea"/>
              </a:rPr>
              <a:t>만원 </a:t>
            </a:r>
            <a:r>
              <a:rPr lang="en-US" altLang="ko-KR" sz="1200" dirty="0" smtClean="0">
                <a:solidFill>
                  <a:srgbClr val="1F1F1F"/>
                </a:solidFill>
                <a:latin typeface="+mn-ea"/>
                <a:ea typeface="+mn-ea"/>
              </a:rPr>
              <a:t>-&gt;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+mn-ea"/>
                <a:ea typeface="+mn-ea"/>
              </a:rPr>
              <a:t>네고금액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 </a:t>
            </a:r>
            <a:r>
              <a:rPr lang="en-US" altLang="ko-KR" sz="1200" b="1" dirty="0" smtClean="0">
                <a:solidFill>
                  <a:srgbClr val="FF0000"/>
                </a:solidFill>
                <a:latin typeface="+mn-ea"/>
                <a:ea typeface="+mn-ea"/>
              </a:rPr>
              <a:t>410</a:t>
            </a:r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만원 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샤프트 </a:t>
            </a:r>
            <a:r>
              <a:rPr lang="en-US" altLang="ko-KR" sz="1200" dirty="0" smtClean="0">
                <a:latin typeface="+mn-ea"/>
                <a:ea typeface="+mn-ea"/>
              </a:rPr>
              <a:t>1</a:t>
            </a:r>
            <a:r>
              <a:rPr lang="ko-KR" altLang="en-US" sz="1200" dirty="0" smtClean="0">
                <a:latin typeface="+mn-ea"/>
                <a:ea typeface="+mn-ea"/>
              </a:rPr>
              <a:t>개 </a:t>
            </a:r>
            <a:r>
              <a:rPr lang="ko-KR" altLang="en-US" sz="1200" dirty="0" err="1" smtClean="0">
                <a:latin typeface="+mn-ea"/>
                <a:ea typeface="+mn-ea"/>
              </a:rPr>
              <a:t>금액임</a:t>
            </a:r>
            <a:r>
              <a:rPr lang="en-US" altLang="ko-KR" sz="1200" dirty="0" smtClean="0">
                <a:latin typeface="+mn-ea"/>
                <a:ea typeface="+mn-ea"/>
              </a:rPr>
              <a:t>)</a:t>
            </a:r>
            <a:endParaRPr lang="ko-KR" altLang="ko-KR" sz="1200" dirty="0">
              <a:effectLst/>
              <a:latin typeface="+mn-ea"/>
              <a:ea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35" y="3473396"/>
            <a:ext cx="7198985" cy="12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55" y="1211098"/>
            <a:ext cx="3856054" cy="509822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015" y="1188236"/>
            <a:ext cx="3848433" cy="51210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#13</a:t>
            </a:r>
            <a:r>
              <a:rPr lang="ko-KR" altLang="en-US" sz="1600" b="1" dirty="0" smtClean="0">
                <a:latin typeface="+mn-ea"/>
                <a:ea typeface="+mn-ea"/>
              </a:rPr>
              <a:t>호기 샤프트 파손 사진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570339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147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+mn-ea"/>
                <a:ea typeface="+mn-ea"/>
              </a:rPr>
              <a:t>[ </a:t>
            </a:r>
            <a:r>
              <a:rPr lang="ko-KR" altLang="en-US" sz="1600" b="1" dirty="0" err="1" smtClean="0">
                <a:latin typeface="+mn-ea"/>
                <a:ea typeface="+mn-ea"/>
              </a:rPr>
              <a:t>스크류</a:t>
            </a:r>
            <a:r>
              <a:rPr lang="ko-KR" altLang="en-US" sz="1600" b="1" dirty="0" smtClean="0"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  <a:ea typeface="+mn-ea"/>
              </a:rPr>
              <a:t>예방보전</a:t>
            </a:r>
            <a:r>
              <a:rPr lang="ko-KR" altLang="en-US" sz="1600" b="1" dirty="0" smtClean="0">
                <a:latin typeface="+mn-ea"/>
                <a:ea typeface="+mn-ea"/>
              </a:rPr>
              <a:t> 계획 </a:t>
            </a:r>
            <a:r>
              <a:rPr lang="en-US" altLang="ko-KR" sz="1600" b="1" dirty="0" smtClean="0">
                <a:latin typeface="+mn-ea"/>
                <a:ea typeface="+mn-ea"/>
              </a:rPr>
              <a:t>]</a:t>
            </a:r>
            <a:endParaRPr lang="ko-KR" altLang="en-US" sz="1600" b="1" dirty="0">
              <a:latin typeface="+mn-ea"/>
              <a:ea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" y="764704"/>
            <a:ext cx="9097098" cy="396044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3573016"/>
            <a:ext cx="9108504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22701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35834</TotalTime>
  <Words>245</Words>
  <Application>Microsoft Office PowerPoint</Application>
  <PresentationFormat>화면 슬라이드 쇼(4:3)</PresentationFormat>
  <Paragraphs>25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</vt:i4>
      </vt:variant>
      <vt:variant>
        <vt:lpstr>재구성한 쇼</vt:lpstr>
      </vt:variant>
      <vt:variant>
        <vt:i4>1</vt:i4>
      </vt:variant>
    </vt:vector>
  </HeadingPairs>
  <TitlesOfParts>
    <vt:vector size="18" baseType="lpstr">
      <vt:lpstr>Google Sans</vt:lpstr>
      <vt:lpstr>굴림</vt:lpstr>
      <vt:lpstr>돋움</vt:lpstr>
      <vt:lpstr>Arial</vt:lpstr>
      <vt:lpstr>HY견고딕</vt:lpstr>
      <vt:lpstr>맑은 고딕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1686</cp:revision>
  <cp:lastPrinted>2026-03-03T23:42:12Z</cp:lastPrinted>
  <dcterms:created xsi:type="dcterms:W3CDTF">2006-12-21T02:27:07Z</dcterms:created>
  <dcterms:modified xsi:type="dcterms:W3CDTF">2026-03-25T04:20:55Z</dcterms:modified>
</cp:coreProperties>
</file>