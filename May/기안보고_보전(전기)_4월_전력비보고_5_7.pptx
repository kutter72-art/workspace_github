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5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88640"/>
            <a:ext cx="5688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>
                <a:latin typeface="맑은 고딕"/>
                <a:ea typeface="맑은 고딕"/>
              </a:rPr>
              <a:t>[ </a:t>
            </a:r>
            <a:r>
              <a:rPr lang="ko-KR" altLang="en-US" sz="1400" b="1" dirty="0" err="1" smtClean="0">
                <a:latin typeface="맑은 고딕"/>
                <a:ea typeface="맑은 고딕"/>
              </a:rPr>
              <a:t>기안보고</a:t>
            </a:r>
            <a:r>
              <a:rPr lang="en-US" altLang="ko-KR" sz="1400" b="1" dirty="0" smtClean="0">
                <a:latin typeface="맑은 고딕"/>
                <a:ea typeface="맑은 고딕"/>
              </a:rPr>
              <a:t>_</a:t>
            </a:r>
            <a:r>
              <a:rPr lang="ko-KR" altLang="en-US" sz="1400" b="1" dirty="0" smtClean="0">
                <a:latin typeface="맑은 고딕"/>
                <a:ea typeface="맑은 고딕"/>
              </a:rPr>
              <a:t>보전</a:t>
            </a:r>
            <a:r>
              <a:rPr lang="en-US" altLang="ko-KR" sz="1400" b="1" dirty="0" smtClean="0">
                <a:latin typeface="맑은 고딕"/>
                <a:ea typeface="맑은 고딕"/>
              </a:rPr>
              <a:t>(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전기</a:t>
            </a:r>
            <a:r>
              <a:rPr lang="en-US" altLang="ko-KR" sz="1400" b="1" dirty="0" smtClean="0">
                <a:latin typeface="맑은 고딕"/>
                <a:ea typeface="맑은 고딕"/>
              </a:rPr>
              <a:t>)_</a:t>
            </a:r>
            <a:r>
              <a:rPr lang="ko-KR" altLang="en-US" sz="1400" b="1" dirty="0" smtClean="0">
                <a:latin typeface="맑은 고딕"/>
                <a:ea typeface="맑은 고딕"/>
              </a:rPr>
              <a:t>＇26</a:t>
            </a:r>
            <a:r>
              <a:rPr lang="ko-KR" altLang="en-US" sz="1400" b="1" dirty="0">
                <a:latin typeface="맑은 고딕"/>
                <a:ea typeface="맑은 고딕"/>
              </a:rPr>
              <a:t>년 4월 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전력비 </a:t>
            </a:r>
            <a:r>
              <a:rPr lang="ko-KR" altLang="en-US" sz="1400" b="1" dirty="0">
                <a:latin typeface="맑은 고딕"/>
                <a:ea typeface="맑은 고딕"/>
              </a:rPr>
              <a:t>보고 ] - 5월 7일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8" y="2613436"/>
            <a:ext cx="8595360" cy="369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'26년 4월 전기요금 현황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전기사용량 : 2,364,672 kWh  (전월 2,485,968 kWh 대비 ▼121,296 kWh, -4.9%)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전기요금(세액별도) : 387,778천원  (전월 404,961천원 대비 ▼17,183천원, -4.2%)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단위 전기사용량 : 0.323 kWh/kg  (전월 0.327 kWh/kg 대비 ▼0.004, -1.2%)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생산량 : 7,312,576 kg  (전월 7,595,718 kg 대비 ▼283,142 kg, -3.7%)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근무일수 : 26.3일  (전월 26.0일 대비 +0.3일)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전월(3월) 대비 전기요금 감소 원인 분석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① 총생산량 감소에 따른 사용량 감소 (-3.7%)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생산량 감소 : 7,595,718 kg → 7,312,576 kg (▼283,142 kg, -3.7%)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설비 가동시간 감소 → 부하별 사용량 전반 감소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② 시간대별 부하 구성 </a:t>
            </a:r>
            <a:r>
              <a:rPr lang="ko-KR" altLang="en-US" sz="1200" b="1" dirty="0" smtClean="0">
                <a:latin typeface="맑은 고딕"/>
                <a:ea typeface="맑은 고딕"/>
              </a:rPr>
              <a:t>현황 </a:t>
            </a:r>
            <a:r>
              <a:rPr lang="ko-KR" altLang="en-US" sz="1200" b="1" dirty="0">
                <a:latin typeface="맑은 고딕"/>
                <a:ea typeface="맑은 고딕"/>
              </a:rPr>
              <a:t>(경부하 감소 집중, 최대·중부하 소폭 감소·유지)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최대부하 : 862,992 kWh → 847,584 kWh  (▼15,408 kWh, -1.8%) </a:t>
            </a:r>
            <a:r>
              <a:rPr lang="el-GR" altLang="ko-KR" sz="1200" b="1" dirty="0" smtClean="0">
                <a:solidFill>
                  <a:srgbClr val="FF0000"/>
                </a:solidFill>
                <a:latin typeface="맑은 고딕"/>
                <a:ea typeface="맑은 고딕" panose="020B0503020000020004" pitchFamily="34" charset="-127"/>
              </a:rPr>
              <a:t>Ι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주요 감소 항목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중부하   : 484,272 kWh → 487,584 kWh  (▲3,312 kWh, +0.7%)  ← 소폭 증가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  : 1,138,704 kWh → 1,029,504 kWh  (▼109,200 kWh, -9.6%)  ← 감소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 ※ 최대부하 감소 및 경부하 비중 축소로 전체 사용량 감소에 기여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③ 봄철(3~5월) 계절단가 적용으로 전체 </a:t>
            </a:r>
            <a:r>
              <a:rPr lang="ko-KR" altLang="en-US" sz="1200" b="1" dirty="0" err="1">
                <a:latin typeface="맑은 고딕"/>
                <a:ea typeface="맑은 고딕"/>
              </a:rPr>
              <a:t>평균단가</a:t>
            </a:r>
            <a:r>
              <a:rPr lang="ko-KR" altLang="en-US" sz="1200" b="1" dirty="0">
                <a:latin typeface="맑은 고딕"/>
                <a:ea typeface="맑은 고딕"/>
              </a:rPr>
              <a:t> </a:t>
            </a:r>
            <a:r>
              <a:rPr lang="ko-KR" altLang="en-US" sz="1200" b="1" dirty="0" smtClean="0">
                <a:latin typeface="맑은 고딕"/>
                <a:ea typeface="맑은 고딕"/>
              </a:rPr>
              <a:t>감소</a:t>
            </a:r>
            <a:endParaRPr lang="ko-KR" altLang="en-US" sz="1200" b="1" dirty="0">
              <a:latin typeface="맑은 고딕"/>
              <a:ea typeface="맑은 고딕"/>
            </a:endParaRP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단가 : 110.9원/kWh (여름철 116.0원/kWh 대비 낮은 단가)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4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월 봄·가을철 요금체계 전체 적용 → 전체 평균단가 하락에 기여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500"/>
              </a:lnSpc>
              <a:spcBef>
                <a:spcPts val="0"/>
              </a:spcBef>
            </a:pPr>
            <a:r>
              <a:rPr lang="ko-KR" altLang="en-US" sz="1200" dirty="0" smtClean="0">
                <a:latin typeface="맑은 고딕"/>
                <a:ea typeface="맑은 고딕"/>
              </a:rPr>
              <a:t> </a:t>
            </a:r>
            <a:endParaRPr lang="ko-KR" altLang="en-US" sz="1200" dirty="0">
              <a:latin typeface="맑은 고딕"/>
              <a:ea typeface="맑은 고딕"/>
            </a:endParaRPr>
          </a:p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▶ 첨부1. 한국전력 전기공급 개정내용 (출처 : 한국전력공사)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4476"/>
              </p:ext>
            </p:extLst>
          </p:nvPr>
        </p:nvGraphicFramePr>
        <p:xfrm>
          <a:off x="0" y="933336"/>
          <a:ext cx="9144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2">
                  <a:extLst>
                    <a:ext uri="{9D8B030D-6E8A-4147-A177-3AD203B41FA5}">
                      <a16:colId xmlns:a16="http://schemas.microsoft.com/office/drawing/2014/main" val="270415898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36046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35859851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3526934"/>
                    </a:ext>
                  </a:extLst>
                </a:gridCol>
                <a:gridCol w="971600">
                  <a:extLst>
                    <a:ext uri="{9D8B030D-6E8A-4147-A177-3AD203B41FA5}">
                      <a16:colId xmlns:a16="http://schemas.microsoft.com/office/drawing/2014/main" val="2220512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전력요금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0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’26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전력비 보고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전기요금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: 387,778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404,961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대비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17,183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-4.2%)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전기요금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감소원인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생산량감소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7,595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-&gt;7,312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-3.7%) </a:t>
                      </a:r>
                      <a:r>
                        <a:rPr lang="el-GR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전력사용량 감소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최대부하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감소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862,584kWh(▼15,408kWh -1.8%)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주요감소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항목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③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 전기요금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53,028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53,314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▼286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-0.5%)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387,778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4104456" cy="58355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8646" y="116632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맑은 고딕"/>
                <a:ea typeface="맑은 고딕"/>
              </a:rPr>
              <a:t>[ </a:t>
            </a:r>
            <a:r>
              <a:rPr lang="ko-KR" altLang="en-US" b="1" dirty="0" smtClean="0">
                <a:latin typeface="맑은 고딕"/>
                <a:ea typeface="맑은 고딕"/>
              </a:rPr>
              <a:t>한국전력 </a:t>
            </a:r>
            <a:r>
              <a:rPr lang="ko-KR" altLang="en-US" b="1" dirty="0">
                <a:latin typeface="맑은 고딕"/>
                <a:ea typeface="맑은 고딕"/>
              </a:rPr>
              <a:t>전기공급 개정내용 </a:t>
            </a:r>
            <a:r>
              <a:rPr lang="en-US" altLang="ko-KR" b="1" dirty="0" smtClean="0">
                <a:latin typeface="맑은 고딕"/>
                <a:ea typeface="맑은 고딕"/>
              </a:rPr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98562"/>
      </p:ext>
    </p:extLst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36613</TotalTime>
  <Words>411</Words>
  <Application>Microsoft Office PowerPoint</Application>
  <PresentationFormat>화면 슬라이드 쇼(4:3)</PresentationFormat>
  <Paragraphs>40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1676</cp:revision>
  <cp:lastPrinted>2026-03-05T07:40:04Z</cp:lastPrinted>
  <dcterms:created xsi:type="dcterms:W3CDTF">2006-12-21T02:27:07Z</dcterms:created>
  <dcterms:modified xsi:type="dcterms:W3CDTF">2026-05-07T19:45:49Z</dcterms:modified>
</cp:coreProperties>
</file>