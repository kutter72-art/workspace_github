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8" r:id="rId9"/>
    <p:sldId id="579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CC"/>
    <a:srgbClr val="789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787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647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197518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‘26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폐기물 처리비 내역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600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251520" y="696433"/>
            <a:ext cx="2879872" cy="199207"/>
            <a:chOff x="540000" y="696433"/>
            <a:chExt cx="2879872" cy="199207"/>
          </a:xfrm>
        </p:grpSpPr>
        <p:sp>
          <p:nvSpPr>
            <p:cNvPr id="13" name="Rectangle 5"/>
            <p:cNvSpPr/>
            <p:nvPr/>
          </p:nvSpPr>
          <p:spPr>
            <a:xfrm>
              <a:off x="540000" y="755834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2400" y="696433"/>
              <a:ext cx="2757472" cy="199207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최근</a:t>
              </a:r>
              <a:r>
                <a:rPr sz="1200" b="1" i="0" dirty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3개월 </a:t>
              </a:r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폐기물</a:t>
              </a:r>
              <a:r>
                <a:rPr sz="1200" b="1" i="0" dirty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처리비용</a:t>
              </a:r>
              <a:r>
                <a:rPr sz="1200" b="1" i="0" dirty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집계</a:t>
              </a:r>
              <a:r>
                <a:rPr sz="1200" b="1" i="0" dirty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</a:p>
          </p:txBody>
        </p:sp>
      </p:grpSp>
      <p:graphicFrame>
        <p:nvGraphicFramePr>
          <p:cNvPr id="1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067271"/>
              </p:ext>
            </p:extLst>
          </p:nvPr>
        </p:nvGraphicFramePr>
        <p:xfrm>
          <a:off x="251520" y="971999"/>
          <a:ext cx="8640961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18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96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5359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  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배출주기</a:t>
                      </a:r>
                      <a:endParaRPr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전월대비</a:t>
                      </a:r>
                      <a:endParaRPr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증감원인</a:t>
                      </a:r>
                      <a:endParaRPr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일반쓰레기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수시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7,627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6,194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6,764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▲570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5월 처리량 증가(29,410kg, +9%)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폐유</a:t>
                      </a:r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공 </a:t>
                      </a:r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드럼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필요시</a:t>
                      </a:r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그밖의 폐유(액상)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수시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1,760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1,357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742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▼615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5월 처리량 감소(2,320kg, -45%)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폐기 펠렛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1,171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▼1,171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5월 미발생(잔량 185kg, 처리비 없음)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분진(매립)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5,208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4,844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2,964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▼1,880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5월 감소(7,410kg, -39%)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분진</a:t>
                      </a:r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재활용</a:t>
                      </a:r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1,833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2,052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1,296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▼756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5월 감소(4,800kg, -37%)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폐목재(원)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약 6개월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4월 정기처리 후 미발생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오수처리시설관리(원)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고정비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 용 합 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16,728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16,418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12,067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▼4,351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재활용</a:t>
                      </a:r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BAG </a:t>
                      </a:r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매각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수시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18,830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15,060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13,248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▼1,812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생산량 비례 변동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3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매</a:t>
                      </a:r>
                      <a:r>
                        <a:rPr lang="ko-KR" altLang="en-US" sz="1100" b="1" baseline="0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각 합</a:t>
                      </a:r>
                      <a:r>
                        <a:rPr sz="1100" b="1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16,728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16,418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12,067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 smtClean="0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▼4,351</a:t>
                      </a:r>
                      <a:endParaRPr sz="1100" b="1" dirty="0">
                        <a:solidFill>
                          <a:srgbClr val="0055AA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242093" y="4185576"/>
            <a:ext cx="6480000" cy="198000"/>
            <a:chOff x="242093" y="4293096"/>
            <a:chExt cx="6480000" cy="198000"/>
          </a:xfrm>
        </p:grpSpPr>
        <p:sp>
          <p:nvSpPr>
            <p:cNvPr id="16" name="Rectangle 8"/>
            <p:cNvSpPr/>
            <p:nvPr/>
          </p:nvSpPr>
          <p:spPr>
            <a:xfrm>
              <a:off x="242093" y="4352496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4493" y="4293096"/>
              <a:ext cx="6357600" cy="198000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월별</a:t>
              </a:r>
              <a:r>
                <a:rPr sz="1200" b="1" i="0" dirty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생산량</a:t>
              </a:r>
              <a:r>
                <a:rPr sz="1200" b="1" i="0" dirty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및 </a:t>
              </a:r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톤당</a:t>
              </a:r>
              <a:r>
                <a:rPr sz="1200" b="1" i="0" dirty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처리비용</a:t>
              </a:r>
              <a:r>
                <a:rPr sz="1200" b="1" i="0" dirty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  <a:r>
                <a:rPr sz="1200" b="1" i="0" dirty="0" err="1">
                  <a:latin typeface="맑은 고딕" panose="020B0503020000020004" pitchFamily="34" charset="-127"/>
                  <a:ea typeface="맑은 고딕" panose="020B0503020000020004" pitchFamily="34" charset="-127"/>
                </a:rPr>
                <a:t>비교</a:t>
              </a:r>
              <a:endParaRPr sz="1200" b="1" i="0" dirty="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graphicFrame>
        <p:nvGraphicFramePr>
          <p:cNvPr id="18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766175"/>
              </p:ext>
            </p:extLst>
          </p:nvPr>
        </p:nvGraphicFramePr>
        <p:xfrm>
          <a:off x="242093" y="4435708"/>
          <a:ext cx="721022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9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근무일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26일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26.3일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25.9일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총 </a:t>
                      </a:r>
                      <a:r>
                        <a:rPr sz="1100" b="0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생산량</a:t>
                      </a:r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(ton)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7,215.5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7,312.6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7,147.5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톤당</a:t>
                      </a:r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처리비용</a:t>
                      </a:r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(원</a:t>
                      </a:r>
                      <a:r>
                        <a:rPr sz="1100" b="1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en-US" sz="1100" b="1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t</a:t>
                      </a:r>
                      <a:r>
                        <a:rPr sz="1100" b="1" dirty="0" smtClean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on</a:t>
                      </a:r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C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2,318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1F1F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2,245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smtClean="0">
                          <a:solidFill>
                            <a:srgbClr val="0055AA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1,689</a:t>
                      </a:r>
                      <a:endParaRPr sz="1100" b="1" dirty="0">
                        <a:solidFill>
                          <a:srgbClr val="0055AA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57828" y="5831898"/>
            <a:ext cx="8678668" cy="353095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•  5월 비용 대폭 감소(</a:t>
            </a:r>
            <a:r>
              <a:rPr lang="ko-KR" sz="1100" b="1" dirty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▼4,350,950</a:t>
            </a:r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원): 분진 처리비 감소(매립 4,844→2,964천원, -39%), 재활용 감소(2,052→1,296천원, -37%)</a:t>
            </a:r>
          </a:p>
          <a:p>
            <a:pPr algn="l"/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 그밖의 폐유 감소(-45%), 일반쓰레기 소폭 증가(6,194→6,764천원, +9%)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92" y="6242837"/>
            <a:ext cx="8470379" cy="183818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•  </a:t>
            </a:r>
            <a:r>
              <a:rPr lang="ko-KR"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폐기 펠렛 미발생(▼1,171천원)</a:t>
            </a:r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폐목재 미처리(▼500천원)</a:t>
            </a:r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— 4월 발생 후 5월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없음</a:t>
            </a:r>
            <a:r>
              <a:rPr 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두 항목 합산 ▼1,671천원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84368" y="734507"/>
            <a:ext cx="9361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j-ea"/>
                <a:ea typeface="+mj-ea"/>
              </a:rPr>
              <a:t>(</a:t>
            </a:r>
            <a:r>
              <a:rPr lang="ko-KR" altLang="en-US" sz="1050" dirty="0" smtClean="0">
                <a:latin typeface="+mj-ea"/>
                <a:ea typeface="+mj-ea"/>
              </a:rPr>
              <a:t>단위 </a:t>
            </a:r>
            <a:r>
              <a:rPr lang="en-US" altLang="ko-KR" sz="1050" dirty="0" smtClean="0">
                <a:latin typeface="+mj-ea"/>
                <a:ea typeface="+mj-ea"/>
              </a:rPr>
              <a:t>: </a:t>
            </a:r>
            <a:r>
              <a:rPr lang="ko-KR" altLang="en-US" sz="1050" dirty="0" smtClean="0">
                <a:latin typeface="+mj-ea"/>
                <a:ea typeface="+mj-ea"/>
              </a:rPr>
              <a:t>천원</a:t>
            </a:r>
            <a:r>
              <a:rPr lang="en-US" altLang="ko-KR" sz="1050" dirty="0" smtClean="0">
                <a:latin typeface="+mj-ea"/>
                <a:ea typeface="+mj-ea"/>
              </a:rPr>
              <a:t>)</a:t>
            </a:r>
            <a:endParaRPr lang="ko-KR" altLang="en-US" sz="1050" dirty="0">
              <a:latin typeface="+mj-ea"/>
              <a:ea typeface="+mj-ea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243362" y="5616142"/>
            <a:ext cx="6480000" cy="198000"/>
            <a:chOff x="242093" y="4293096"/>
            <a:chExt cx="6480000" cy="198000"/>
          </a:xfrm>
        </p:grpSpPr>
        <p:sp>
          <p:nvSpPr>
            <p:cNvPr id="24" name="Rectangle 8"/>
            <p:cNvSpPr/>
            <p:nvPr/>
          </p:nvSpPr>
          <p:spPr>
            <a:xfrm>
              <a:off x="242093" y="4352496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4493" y="4293096"/>
              <a:ext cx="6357600" cy="198000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lang="ko-KR" altLang="en-US" sz="1200" b="1" i="0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전월 대비 증감 </a:t>
              </a:r>
              <a:r>
                <a:rPr lang="ko-KR" altLang="en-US" sz="1200" b="1" i="0" dirty="0" err="1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주요사유</a:t>
              </a:r>
              <a:endParaRPr sz="1200" b="1" i="0" dirty="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293218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46364" y="731945"/>
            <a:ext cx="2879872" cy="199207"/>
            <a:chOff x="540000" y="696433"/>
            <a:chExt cx="2879872" cy="199207"/>
          </a:xfrm>
        </p:grpSpPr>
        <p:sp>
          <p:nvSpPr>
            <p:cNvPr id="13" name="Rectangle 5"/>
            <p:cNvSpPr/>
            <p:nvPr/>
          </p:nvSpPr>
          <p:spPr>
            <a:xfrm>
              <a:off x="540000" y="755834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2400" y="696433"/>
              <a:ext cx="2757472" cy="199207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Scrap </a:t>
              </a:r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처리내역</a:t>
              </a:r>
              <a:endParaRPr sz="1200" b="1" i="0" dirty="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54540" y="2307402"/>
            <a:ext cx="826250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5월 분진(Scrap) 처리량은 4월 대비 </a:t>
            </a:r>
            <a:r>
              <a:rPr lang="ko-KR" sz="1100" dirty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(-) 7,500kg 감소</a:t>
            </a:r>
            <a:r>
              <a:rPr 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하였으며, 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  </a:t>
            </a:r>
            <a:r>
              <a:rPr lang="ko-KR" sz="11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추정원인은</a:t>
            </a:r>
            <a:r>
              <a:rPr lang="ko-KR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4월 대비 5월 </a:t>
            </a:r>
            <a:r>
              <a:rPr lang="ko-KR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생산</a:t>
            </a:r>
            <a:r>
              <a:rPr lang="ko-KR" altLang="en-US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량 감소</a:t>
            </a:r>
            <a:r>
              <a:rPr lang="ko-KR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및 Grade Change 횟수 감소(892→768회)로 인한 Scrap 발생 </a:t>
            </a:r>
            <a:r>
              <a:rPr lang="ko-KR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감소</a:t>
            </a:r>
            <a:endParaRPr lang="ko-KR" sz="11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  </a:t>
            </a:r>
            <a:r>
              <a:rPr lang="ko-KR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4</a:t>
            </a:r>
            <a:r>
              <a:rPr lang="ko-KR"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 비가동 시간 28,775분(970회) Ι 5월 비가동 시간 </a:t>
            </a:r>
            <a:r>
              <a:rPr lang="ko-KR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감소(</a:t>
            </a:r>
            <a:r>
              <a:rPr lang="ko-KR"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출처 : 유니라이트 비가동 시간 조회)</a:t>
            </a:r>
          </a:p>
        </p:txBody>
      </p:sp>
      <p:pic>
        <p:nvPicPr>
          <p:cNvPr id="9" name="그림 8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O$4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268" y="3687135"/>
            <a:ext cx="8441486" cy="80516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noFill/>
            <a:miter lim="800000"/>
            <a:headEnd/>
            <a:tailEnd/>
          </a:ln>
        </p:spPr>
      </p:pic>
      <p:grpSp>
        <p:nvGrpSpPr>
          <p:cNvPr id="10" name="그룹 9"/>
          <p:cNvGrpSpPr/>
          <p:nvPr/>
        </p:nvGrpSpPr>
        <p:grpSpPr>
          <a:xfrm>
            <a:off x="346364" y="3356992"/>
            <a:ext cx="2879872" cy="199207"/>
            <a:chOff x="540000" y="696433"/>
            <a:chExt cx="2879872" cy="199207"/>
          </a:xfrm>
        </p:grpSpPr>
        <p:sp>
          <p:nvSpPr>
            <p:cNvPr id="11" name="Rectangle 5"/>
            <p:cNvSpPr/>
            <p:nvPr/>
          </p:nvSpPr>
          <p:spPr>
            <a:xfrm>
              <a:off x="540000" y="755834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2400" y="696433"/>
              <a:ext cx="2757472" cy="199207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lang="ko-KR" altLang="en-US" sz="1200" b="1" dirty="0" err="1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폐기펠렛</a:t>
              </a:r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  <a:r>
                <a:rPr lang="ko-KR" altLang="en-US" sz="1200" b="1" dirty="0" err="1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발생현황</a:t>
              </a:r>
              <a:r>
                <a:rPr lang="en-US" altLang="ko-KR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(’25</a:t>
              </a:r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년 </a:t>
              </a:r>
              <a:r>
                <a:rPr lang="en-US" altLang="ko-KR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VS ’26</a:t>
              </a:r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년</a:t>
              </a:r>
              <a:r>
                <a:rPr lang="en-US" altLang="ko-KR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)</a:t>
              </a:r>
              <a:endParaRPr sz="1200" b="1" i="0" dirty="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67" y="960309"/>
            <a:ext cx="8155309" cy="13224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3528" y="197518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‘26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폐기물 처리비 내역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600" b="1" dirty="0"/>
          </a:p>
        </p:txBody>
      </p:sp>
      <p:sp>
        <p:nvSpPr>
          <p:cNvPr id="6" name="직사각형 5"/>
          <p:cNvSpPr/>
          <p:nvPr/>
        </p:nvSpPr>
        <p:spPr>
          <a:xfrm>
            <a:off x="3131840" y="4278197"/>
            <a:ext cx="576064" cy="214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323528" y="4785535"/>
            <a:ext cx="8460226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5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월은 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4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월에 비해서 폐기물 발생량이 일반쓰레기 소폭 증가만 있을 뿐 모든 내역이 감소하였음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가장 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많은 감소는 분진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폐기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재활용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이 약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38%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정도 감소함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   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-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분진발생량은 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생산량에 비례하지만 금번은 생산량 감소 보다도 더 크게 감소함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   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- 4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/5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 필러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안정제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안료 등의 </a:t>
            </a:r>
            <a:r>
              <a:rPr lang="ko-KR" altLang="en-US"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분진성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자재 사용량을 비교했으나 이 또한 약 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5%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정도 감소함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   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- </a:t>
            </a:r>
            <a:r>
              <a:rPr lang="ko-KR" altLang="en-US"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추정원인은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집진기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분진은 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5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19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일 마지막으로 처리하고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남아있으며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이는 </a:t>
            </a:r>
            <a:r>
              <a:rPr lang="en-US" altLang="ko-KR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6</a:t>
            </a:r>
            <a:r>
              <a:rPr lang="ko-KR" altLang="en-US"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 분진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폐기비용의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증가로 이어질 것으로 예상됨</a:t>
            </a:r>
            <a:endParaRPr lang="ko-KR" altLang="en-US" sz="11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350162" y="4597945"/>
            <a:ext cx="2879872" cy="199207"/>
            <a:chOff x="540000" y="696433"/>
            <a:chExt cx="2879872" cy="199207"/>
          </a:xfrm>
        </p:grpSpPr>
        <p:sp>
          <p:nvSpPr>
            <p:cNvPr id="17" name="Rectangle 5"/>
            <p:cNvSpPr/>
            <p:nvPr/>
          </p:nvSpPr>
          <p:spPr>
            <a:xfrm>
              <a:off x="540000" y="755834"/>
              <a:ext cx="79200" cy="79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2400" y="696433"/>
              <a:ext cx="2757472" cy="199207"/>
            </a:xfrm>
            <a:prstGeom prst="rect">
              <a:avLst/>
            </a:prstGeom>
            <a:noFill/>
          </p:spPr>
          <p:txBody>
            <a:bodyPr wrap="square" lIns="18000" tIns="7200" rIns="18000" bIns="7200">
              <a:spAutoFit/>
            </a:bodyPr>
            <a:lstStyle/>
            <a:p>
              <a:pPr algn="l"/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결론</a:t>
              </a:r>
              <a:endParaRPr sz="1200" b="1" i="0" dirty="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3239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37419</TotalTime>
  <Words>448</Words>
  <Application>Microsoft Office PowerPoint</Application>
  <PresentationFormat>화면 슬라이드 쇼(4:3)</PresentationFormat>
  <Paragraphs>119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7" baseType="lpstr">
      <vt:lpstr>HY견고딕</vt:lpstr>
      <vt:lpstr>굴림</vt:lpstr>
      <vt:lpstr>돋움</vt:lpstr>
      <vt:lpstr>맑은 고딕</vt:lpstr>
      <vt:lpstr>Arial</vt:lpstr>
      <vt:lpstr>Wingdings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1686</cp:revision>
  <cp:lastPrinted>2026-03-05T07:40:04Z</cp:lastPrinted>
  <dcterms:created xsi:type="dcterms:W3CDTF">2006-12-21T02:27:07Z</dcterms:created>
  <dcterms:modified xsi:type="dcterms:W3CDTF">2026-06-08T10:01:14Z</dcterms:modified>
</cp:coreProperties>
</file>