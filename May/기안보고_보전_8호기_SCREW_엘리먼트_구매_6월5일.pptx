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8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52475"/>
            <a:ext cx="5011738" cy="3759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35528" y="214990"/>
            <a:ext cx="7551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[ 생산팀(기계/설비)_구매_8호기 SCREW 엘리먼트 교체 구매_보고일 : </a:t>
            </a:r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6</a:t>
            </a: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일 ]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141184"/>
              </p:ext>
            </p:extLst>
          </p:nvPr>
        </p:nvGraphicFramePr>
        <p:xfrm>
          <a:off x="9423" y="723153"/>
          <a:ext cx="9108508" cy="2923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737619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구매내역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8호기 SCREW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Element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신규 구매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■ 개요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- 8호기 SCREW 엘리먼트 교체 주기(1년) 도달 → 기간 : '25.6.11 ~ '26.5.6 (약 1년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마모 점검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 : 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 C3 위치 82mm 마모(정치수 91mm 대비 9mm 마모) → 교체 기준 초과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C2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KB 80/5R 88mm 마모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C9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 SE 80/80 마모 → 추가 구매 필요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구매 엘리먼트 : SE80/80 × 4EA/ KB80/5R × 8EA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재질 : SKD11 / 경도 : HRC 57~58 / 납기 : 30일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사용기간 : '25.6.11 ~ '26.5.6 (약 1년)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endParaRPr lang="ko-KR" altLang="en-US" sz="11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■ 첨부1. 구매내역</a:t>
                      </a:r>
                    </a:p>
                    <a:p>
                      <a:pPr algn="l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■ 첨부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92mm</a:t>
                      </a:r>
                      <a:r>
                        <a:rPr lang="en-US" altLang="ko-KR" sz="11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엘리멘트</a:t>
                      </a: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재고현황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2,800,000원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별도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45390" y="3672642"/>
            <a:ext cx="3734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첨부1. 구매 내역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" y="3953777"/>
            <a:ext cx="4802709" cy="9692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-36512" y="4940823"/>
            <a:ext cx="3734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lang="en-US" altLang="ko-KR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 </a:t>
            </a:r>
            <a:r>
              <a:rPr lang="en-US" altLang="ko-KR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92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mm </a:t>
            </a:r>
            <a:r>
              <a:rPr lang="ko-KR" altLang="en-US" sz="12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엘리멘트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재고현황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12" name="그림 11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M$10:$W$15"/>
              </a:ext>
            </a:extLst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18" y="5208944"/>
            <a:ext cx="8039100" cy="1304925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687079"/>
              </p:ext>
            </p:extLst>
          </p:nvPr>
        </p:nvGraphicFramePr>
        <p:xfrm>
          <a:off x="376683" y="3933056"/>
          <a:ext cx="8370017" cy="12848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5002">
                  <a:extLst>
                    <a:ext uri="{9D8B030D-6E8A-4147-A177-3AD203B41FA5}">
                      <a16:colId xmlns:a16="http://schemas.microsoft.com/office/drawing/2014/main" val="2766237822"/>
                    </a:ext>
                  </a:extLst>
                </a:gridCol>
                <a:gridCol w="578345">
                  <a:extLst>
                    <a:ext uri="{9D8B030D-6E8A-4147-A177-3AD203B41FA5}">
                      <a16:colId xmlns:a16="http://schemas.microsoft.com/office/drawing/2014/main" val="2315372062"/>
                    </a:ext>
                  </a:extLst>
                </a:gridCol>
                <a:gridCol w="680694">
                  <a:extLst>
                    <a:ext uri="{9D8B030D-6E8A-4147-A177-3AD203B41FA5}">
                      <a16:colId xmlns:a16="http://schemas.microsoft.com/office/drawing/2014/main" val="1895854024"/>
                    </a:ext>
                  </a:extLst>
                </a:gridCol>
                <a:gridCol w="680694">
                  <a:extLst>
                    <a:ext uri="{9D8B030D-6E8A-4147-A177-3AD203B41FA5}">
                      <a16:colId xmlns:a16="http://schemas.microsoft.com/office/drawing/2014/main" val="1556085001"/>
                    </a:ext>
                  </a:extLst>
                </a:gridCol>
                <a:gridCol w="680694">
                  <a:extLst>
                    <a:ext uri="{9D8B030D-6E8A-4147-A177-3AD203B41FA5}">
                      <a16:colId xmlns:a16="http://schemas.microsoft.com/office/drawing/2014/main" val="3467239589"/>
                    </a:ext>
                  </a:extLst>
                </a:gridCol>
                <a:gridCol w="680694">
                  <a:extLst>
                    <a:ext uri="{9D8B030D-6E8A-4147-A177-3AD203B41FA5}">
                      <a16:colId xmlns:a16="http://schemas.microsoft.com/office/drawing/2014/main" val="1351066176"/>
                    </a:ext>
                  </a:extLst>
                </a:gridCol>
                <a:gridCol w="680694">
                  <a:extLst>
                    <a:ext uri="{9D8B030D-6E8A-4147-A177-3AD203B41FA5}">
                      <a16:colId xmlns:a16="http://schemas.microsoft.com/office/drawing/2014/main" val="3050813928"/>
                    </a:ext>
                  </a:extLst>
                </a:gridCol>
                <a:gridCol w="680694">
                  <a:extLst>
                    <a:ext uri="{9D8B030D-6E8A-4147-A177-3AD203B41FA5}">
                      <a16:colId xmlns:a16="http://schemas.microsoft.com/office/drawing/2014/main" val="2977088527"/>
                    </a:ext>
                  </a:extLst>
                </a:gridCol>
                <a:gridCol w="680694">
                  <a:extLst>
                    <a:ext uri="{9D8B030D-6E8A-4147-A177-3AD203B41FA5}">
                      <a16:colId xmlns:a16="http://schemas.microsoft.com/office/drawing/2014/main" val="714449957"/>
                    </a:ext>
                  </a:extLst>
                </a:gridCol>
                <a:gridCol w="705906">
                  <a:extLst>
                    <a:ext uri="{9D8B030D-6E8A-4147-A177-3AD203B41FA5}">
                      <a16:colId xmlns:a16="http://schemas.microsoft.com/office/drawing/2014/main" val="3152140880"/>
                    </a:ext>
                  </a:extLst>
                </a:gridCol>
                <a:gridCol w="705906">
                  <a:extLst>
                    <a:ext uri="{9D8B030D-6E8A-4147-A177-3AD203B41FA5}">
                      <a16:colId xmlns:a16="http://schemas.microsoft.com/office/drawing/2014/main" val="37901771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 위치 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 투입구 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　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　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S/Feeder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>
                          <a:effectLst/>
                        </a:rPr>
                        <a:t>　</a:t>
                      </a:r>
                      <a:endParaRPr lang="ko-KR" altLang="en-US" sz="105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　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 smtClean="0">
                          <a:effectLst/>
                        </a:rPr>
                        <a:t>V/</a:t>
                      </a:r>
                      <a:r>
                        <a:rPr lang="en-US" sz="1050" b="1" u="none" strike="noStrike" baseline="0" dirty="0" smtClean="0">
                          <a:effectLst/>
                        </a:rPr>
                        <a:t> Zone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　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 smtClean="0">
                          <a:effectLst/>
                        </a:rPr>
                        <a:t>V/ Zone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　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6572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 구분 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C0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C1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C2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C3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C4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C5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C6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C7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C8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C9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254414"/>
                  </a:ext>
                </a:extLst>
              </a:tr>
              <a:tr h="5648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100" u="none" strike="noStrike" dirty="0" smtClean="0">
                          <a:effectLst/>
                        </a:rPr>
                        <a:t>SCREW</a:t>
                      </a:r>
                    </a:p>
                    <a:p>
                      <a:pPr algn="ctr" fontAlgn="ctr"/>
                      <a:r>
                        <a:rPr lang="ko-KR" altLang="en-US" sz="1100" u="none" strike="noStrike" dirty="0" err="1" smtClean="0">
                          <a:effectLst/>
                        </a:rPr>
                        <a:t>정치수</a:t>
                      </a:r>
                      <a:r>
                        <a:rPr lang="ko-KR" altLang="en-US" sz="1100" u="none" strike="noStrike" dirty="0" smtClean="0">
                          <a:effectLst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</a:rPr>
                        <a:t>91</a:t>
                      </a:r>
                      <a:r>
                        <a:rPr lang="en-US" sz="1100" u="none" strike="noStrike" dirty="0">
                          <a:effectLst/>
                        </a:rPr>
                        <a:t>mm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effectLst/>
                        </a:rPr>
                        <a:t>90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89 </a:t>
                      </a:r>
                      <a:endParaRPr lang="en-US" altLang="ko-KR" sz="11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88 </a:t>
                      </a:r>
                      <a:endParaRPr lang="en-US" altLang="ko-KR" sz="11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82 </a:t>
                      </a:r>
                      <a:endParaRPr lang="en-US" altLang="ko-KR" sz="11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effectLst/>
                        </a:rPr>
                        <a:t>90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88 </a:t>
                      </a:r>
                      <a:endParaRPr lang="en-US" altLang="ko-KR" sz="11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effectLst/>
                        </a:rPr>
                        <a:t>90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effectLst/>
                        </a:rPr>
                        <a:t>90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90.5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90.5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562364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570339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0398" y="251770"/>
            <a:ext cx="531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[ #8</a:t>
            </a:r>
            <a:r>
              <a:rPr lang="ko-KR" altLang="en-US" sz="1600" b="1" dirty="0" smtClean="0">
                <a:latin typeface="+mn-ea"/>
                <a:ea typeface="+mn-ea"/>
              </a:rPr>
              <a:t>호기 </a:t>
            </a:r>
            <a:r>
              <a:rPr lang="en-US" altLang="ko-KR" sz="1600" b="1" dirty="0" smtClean="0">
                <a:latin typeface="+mn-ea"/>
                <a:ea typeface="+mn-ea"/>
              </a:rPr>
              <a:t>SCREW</a:t>
            </a:r>
            <a:r>
              <a:rPr lang="ko-KR" altLang="en-US" sz="1600" b="1" dirty="0" smtClean="0">
                <a:latin typeface="+mn-ea"/>
                <a:ea typeface="+mn-ea"/>
              </a:rPr>
              <a:t> 분해 보고서 건 </a:t>
            </a:r>
            <a:r>
              <a:rPr lang="en-US" altLang="ko-KR" sz="1600" b="1" dirty="0" smtClean="0">
                <a:latin typeface="+mn-ea"/>
                <a:ea typeface="+mn-ea"/>
              </a:rPr>
              <a:t>]</a:t>
            </a:r>
            <a:endParaRPr lang="ko-KR" altLang="en-US" sz="1600" b="1" dirty="0">
              <a:latin typeface="+mn-ea"/>
              <a:ea typeface="+mn-ea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394552" y="1072449"/>
            <a:ext cx="8357012" cy="864001"/>
            <a:chOff x="227914" y="1072449"/>
            <a:chExt cx="8357012" cy="864001"/>
          </a:xfrm>
        </p:grpSpPr>
        <p:pic>
          <p:nvPicPr>
            <p:cNvPr id="5" name="그림 4"/>
            <p:cNvPicPr preferRelativeResize="0"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27914" y="1072449"/>
              <a:ext cx="900000" cy="864000"/>
            </a:xfrm>
            <a:prstGeom prst="rect">
              <a:avLst/>
            </a:prstGeom>
          </p:spPr>
        </p:pic>
        <p:pic>
          <p:nvPicPr>
            <p:cNvPr id="6" name="그림 5"/>
            <p:cNvPicPr preferRelativeResize="0"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1160040" y="1072449"/>
              <a:ext cx="900000" cy="864000"/>
            </a:xfrm>
            <a:prstGeom prst="rect">
              <a:avLst/>
            </a:prstGeom>
          </p:spPr>
        </p:pic>
        <p:pic>
          <p:nvPicPr>
            <p:cNvPr id="7" name="그림 6"/>
            <p:cNvPicPr preferRelativeResize="0"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92166" y="1072449"/>
              <a:ext cx="900000" cy="864000"/>
            </a:xfrm>
            <a:prstGeom prst="rect">
              <a:avLst/>
            </a:prstGeom>
          </p:spPr>
        </p:pic>
        <p:pic>
          <p:nvPicPr>
            <p:cNvPr id="13" name="그림 12"/>
            <p:cNvPicPr preferRelativeResize="0"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024292" y="1072449"/>
              <a:ext cx="900000" cy="864000"/>
            </a:xfrm>
            <a:prstGeom prst="rect">
              <a:avLst/>
            </a:prstGeom>
          </p:spPr>
        </p:pic>
        <p:pic>
          <p:nvPicPr>
            <p:cNvPr id="14" name="그림 13"/>
            <p:cNvPicPr preferRelativeResize="0"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956418" y="1072449"/>
              <a:ext cx="900000" cy="864000"/>
            </a:xfrm>
            <a:prstGeom prst="rect">
              <a:avLst/>
            </a:prstGeom>
          </p:spPr>
        </p:pic>
        <p:pic>
          <p:nvPicPr>
            <p:cNvPr id="15" name="그림 14"/>
            <p:cNvPicPr preferRelativeResize="0"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4888545" y="1072450"/>
              <a:ext cx="900000" cy="864000"/>
            </a:xfrm>
            <a:prstGeom prst="rect">
              <a:avLst/>
            </a:prstGeom>
          </p:spPr>
        </p:pic>
        <p:pic>
          <p:nvPicPr>
            <p:cNvPr id="16" name="그림 15"/>
            <p:cNvPicPr preferRelativeResize="0"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5820672" y="1072450"/>
              <a:ext cx="900000" cy="864000"/>
            </a:xfrm>
            <a:prstGeom prst="rect">
              <a:avLst/>
            </a:prstGeom>
          </p:spPr>
        </p:pic>
        <p:pic>
          <p:nvPicPr>
            <p:cNvPr id="17" name="그림 16"/>
            <p:cNvPicPr preferRelativeResize="0">
              <a:picLocks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6752799" y="1072449"/>
              <a:ext cx="900000" cy="864000"/>
            </a:xfrm>
            <a:prstGeom prst="rect">
              <a:avLst/>
            </a:prstGeom>
          </p:spPr>
        </p:pic>
        <p:pic>
          <p:nvPicPr>
            <p:cNvPr id="18" name="그림 17"/>
            <p:cNvPicPr preferRelativeResize="0">
              <a:picLocks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7684926" y="1072449"/>
              <a:ext cx="900000" cy="864000"/>
            </a:xfrm>
            <a:prstGeom prst="rect">
              <a:avLst/>
            </a:prstGeom>
          </p:spPr>
        </p:pic>
      </p:grp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4" b="2354"/>
          <a:stretch/>
        </p:blipFill>
        <p:spPr>
          <a:xfrm rot="16200000" flipV="1">
            <a:off x="3656249" y="-1277353"/>
            <a:ext cx="1828753" cy="83521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3927" y="761191"/>
            <a:ext cx="3503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■ 8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SCREW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조합 분해 마모도 점검 내역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64714026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36449</TotalTime>
  <Words>231</Words>
  <Application>Microsoft Office PowerPoint</Application>
  <PresentationFormat>화면 슬라이드 쇼(4:3)</PresentationFormat>
  <Paragraphs>65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1712</cp:revision>
  <cp:lastPrinted>2026-03-03T23:42:12Z</cp:lastPrinted>
  <dcterms:created xsi:type="dcterms:W3CDTF">2006-12-21T02:27:07Z</dcterms:created>
  <dcterms:modified xsi:type="dcterms:W3CDTF">2026-06-05T06:16:02Z</dcterms:modified>
</cp:coreProperties>
</file>