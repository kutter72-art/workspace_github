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8" r:id="rId9"/>
    <p:sldId id="579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CC"/>
    <a:srgbClr val="789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8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47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260648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‘26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폐기물 처리비 내역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251520" y="696433"/>
            <a:ext cx="2879872" cy="199207"/>
            <a:chOff x="540000" y="696433"/>
            <a:chExt cx="2879872" cy="199207"/>
          </a:xfrm>
        </p:grpSpPr>
        <p:sp>
          <p:nvSpPr>
            <p:cNvPr id="13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sz="1200" b="1" i="0" dirty="0" err="1">
                  <a:solidFill>
                    <a:srgbClr val="1F3864"/>
                  </a:solidFill>
                  <a:latin typeface="+mj-ea"/>
                  <a:ea typeface="+mj-ea"/>
                </a:rPr>
                <a:t>최근</a:t>
              </a:r>
              <a:r>
                <a:rPr sz="1200" b="1" i="0" dirty="0">
                  <a:solidFill>
                    <a:srgbClr val="1F3864"/>
                  </a:solidFill>
                  <a:latin typeface="+mj-ea"/>
                  <a:ea typeface="+mj-ea"/>
                </a:rPr>
                <a:t> 3개월 </a:t>
              </a:r>
              <a:r>
                <a:rPr sz="1200" b="1" i="0" dirty="0" err="1">
                  <a:solidFill>
                    <a:srgbClr val="1F3864"/>
                  </a:solidFill>
                  <a:latin typeface="+mj-ea"/>
                  <a:ea typeface="+mj-ea"/>
                </a:rPr>
                <a:t>폐기물</a:t>
              </a:r>
              <a:r>
                <a:rPr sz="1200" b="1" i="0" dirty="0">
                  <a:solidFill>
                    <a:srgbClr val="1F3864"/>
                  </a:solidFill>
                  <a:latin typeface="+mj-ea"/>
                  <a:ea typeface="+mj-ea"/>
                </a:rPr>
                <a:t> </a:t>
              </a:r>
              <a:r>
                <a:rPr sz="1200" b="1" i="0" dirty="0" err="1">
                  <a:solidFill>
                    <a:srgbClr val="1F3864"/>
                  </a:solidFill>
                  <a:latin typeface="+mj-ea"/>
                  <a:ea typeface="+mj-ea"/>
                </a:rPr>
                <a:t>처리비용</a:t>
              </a:r>
              <a:r>
                <a:rPr sz="1200" b="1" i="0" dirty="0">
                  <a:solidFill>
                    <a:srgbClr val="1F3864"/>
                  </a:solidFill>
                  <a:latin typeface="+mj-ea"/>
                  <a:ea typeface="+mj-ea"/>
                </a:rPr>
                <a:t> </a:t>
              </a:r>
              <a:r>
                <a:rPr sz="1200" b="1" i="0" dirty="0" err="1">
                  <a:solidFill>
                    <a:srgbClr val="1F3864"/>
                  </a:solidFill>
                  <a:latin typeface="+mj-ea"/>
                  <a:ea typeface="+mj-ea"/>
                </a:rPr>
                <a:t>집계</a:t>
              </a:r>
              <a:r>
                <a:rPr sz="1200" b="1" i="0" dirty="0">
                  <a:solidFill>
                    <a:srgbClr val="1F3864"/>
                  </a:solidFill>
                  <a:latin typeface="+mj-ea"/>
                  <a:ea typeface="+mj-ea"/>
                </a:rPr>
                <a:t> </a:t>
              </a:r>
            </a:p>
          </p:txBody>
        </p:sp>
      </p:grpSp>
      <p:graphicFrame>
        <p:nvGraphicFramePr>
          <p:cNvPr id="1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21550"/>
              </p:ext>
            </p:extLst>
          </p:nvPr>
        </p:nvGraphicFramePr>
        <p:xfrm>
          <a:off x="251520" y="971999"/>
          <a:ext cx="864096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18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6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535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항  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배출주기</a:t>
                      </a:r>
                      <a:endParaRPr sz="12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2</a:t>
                      </a:r>
                      <a:r>
                        <a:rPr sz="1200" b="1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월</a:t>
                      </a:r>
                      <a:endParaRPr sz="12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3</a:t>
                      </a:r>
                      <a:r>
                        <a:rPr sz="1200" b="1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월</a:t>
                      </a:r>
                      <a:endParaRPr sz="12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4</a:t>
                      </a:r>
                      <a:r>
                        <a:rPr sz="1200" b="1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월</a:t>
                      </a:r>
                      <a:endParaRPr sz="12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 smtClean="0">
                          <a:solidFill>
                            <a:schemeClr val="tx1"/>
                          </a:solidFill>
                          <a:latin typeface="맑은 고딕"/>
                        </a:rPr>
                        <a:t>전월대비</a:t>
                      </a:r>
                      <a:endParaRPr sz="12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증감원인</a:t>
                      </a:r>
                      <a:endParaRPr sz="12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일반쓰레기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수시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5,911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7,627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6,194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55AA"/>
                          </a:solidFill>
                          <a:latin typeface="맑은 고딕"/>
                        </a:rPr>
                        <a:t>▼1,433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4월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처리량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감소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(26,930kg, </a:t>
                      </a:r>
                      <a:r>
                        <a:rPr sz="1200" b="1" dirty="0">
                          <a:solidFill>
                            <a:srgbClr val="0066FF"/>
                          </a:solidFill>
                          <a:latin typeface="맑은 고딕"/>
                        </a:rPr>
                        <a:t>-19%)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폐유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공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드럼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필요시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구매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그밖의 폐유(액상)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수시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563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1,760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1,357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0055AA"/>
                          </a:solidFill>
                          <a:latin typeface="맑은 고딕"/>
                        </a:rPr>
                        <a:t>▼403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4월 감소(</a:t>
                      </a:r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4,240kg,</a:t>
                      </a:r>
                      <a:r>
                        <a:rPr lang="en-US" sz="1200" b="0" baseline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 -23%)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폐기 펠렛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1,171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FF0000"/>
                          </a:solidFill>
                          <a:latin typeface="맑은 고딕"/>
                        </a:rPr>
                        <a:t>▲1,171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4월 발생(</a:t>
                      </a:r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6,330kg)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분진(매립)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2,328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5,208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4,844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55AA"/>
                          </a:solidFill>
                          <a:latin typeface="맑은 고딕"/>
                        </a:rPr>
                        <a:t>▼364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4월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소폭감소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(12,110kg, -7%)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분진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재활용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1,501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1,833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2,052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FF0000"/>
                          </a:solidFill>
                          <a:latin typeface="맑은 고딕"/>
                        </a:rPr>
                        <a:t>▲219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4월 증가(7,600kg, +12%)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폐목재(원)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약 6개월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C0000"/>
                          </a:solidFill>
                          <a:latin typeface="맑은 고딕"/>
                        </a:rPr>
                        <a:t>▲500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4월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정기처리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(2대분)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오수처리시설관리(원)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고정비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비 용 합 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11,103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16,728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16,418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0055AA"/>
                          </a:solidFill>
                          <a:latin typeface="맑은 고딕"/>
                        </a:rPr>
                        <a:t>▼310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재활용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+mn-lt"/>
                        </a:rPr>
                        <a:t> BAG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매각</a:t>
                      </a:r>
                      <a:endParaRPr sz="12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수시</a:t>
                      </a:r>
                      <a:endParaRPr sz="12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+mn-lt"/>
                        </a:rPr>
                        <a:t>13,900</a:t>
                      </a:r>
                      <a:endParaRPr sz="12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+mn-lt"/>
                        </a:rPr>
                        <a:t>18,830</a:t>
                      </a:r>
                      <a:endParaRPr sz="12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+mn-lt"/>
                        </a:rPr>
                        <a:t>15,060</a:t>
                      </a:r>
                      <a:endParaRPr sz="12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rgbClr val="0055AA"/>
                          </a:solidFill>
                          <a:latin typeface="+mn-lt"/>
                        </a:rPr>
                        <a:t>▼</a:t>
                      </a:r>
                      <a:r>
                        <a:rPr lang="en-US" altLang="ko-KR" sz="1200" b="1" dirty="0" smtClean="0">
                          <a:solidFill>
                            <a:srgbClr val="0055AA"/>
                          </a:solidFill>
                          <a:latin typeface="+mn-lt"/>
                        </a:rPr>
                        <a:t>3,770</a:t>
                      </a:r>
                      <a:endParaRPr lang="ko-KR" altLang="en-US" sz="1200" b="1" dirty="0" smtClean="0">
                        <a:solidFill>
                          <a:srgbClr val="0055AA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dirty="0">
                        <a:solidFill>
                          <a:srgbClr val="1F1F1F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매</a:t>
                      </a:r>
                      <a:r>
                        <a:rPr lang="ko-KR" altLang="en-US" sz="1200" b="1" baseline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 각 합</a:t>
                      </a:r>
                      <a:r>
                        <a:rPr sz="1200" b="1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11,103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16,728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16,418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 smtClean="0">
                          <a:solidFill>
                            <a:srgbClr val="0055AA"/>
                          </a:solidFill>
                          <a:latin typeface="맑은 고딕"/>
                        </a:rPr>
                        <a:t>▼</a:t>
                      </a:r>
                      <a:r>
                        <a:rPr lang="en-US" sz="1200" b="1" dirty="0" smtClean="0">
                          <a:solidFill>
                            <a:srgbClr val="0055AA"/>
                          </a:solidFill>
                          <a:latin typeface="맑은 고딕"/>
                        </a:rPr>
                        <a:t>3,770</a:t>
                      </a:r>
                      <a:endParaRPr sz="1200" b="1" dirty="0">
                        <a:solidFill>
                          <a:srgbClr val="0055AA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242093" y="4293096"/>
            <a:ext cx="6480000" cy="198000"/>
            <a:chOff x="242093" y="4293096"/>
            <a:chExt cx="6480000" cy="198000"/>
          </a:xfrm>
        </p:grpSpPr>
        <p:sp>
          <p:nvSpPr>
            <p:cNvPr id="16" name="Rectangle 8"/>
            <p:cNvSpPr/>
            <p:nvPr/>
          </p:nvSpPr>
          <p:spPr>
            <a:xfrm>
              <a:off x="242093" y="4352496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4493" y="4293096"/>
              <a:ext cx="6357600" cy="198000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+mj-ea"/>
                  <a:ea typeface="+mj-ea"/>
                </a:rPr>
                <a:t>월별 생산량 및 톤당 처리비용 비교</a:t>
              </a:r>
            </a:p>
          </p:txBody>
        </p:sp>
      </p:grpSp>
      <p:graphicFrame>
        <p:nvGraphicFramePr>
          <p:cNvPr id="18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521183"/>
              </p:ext>
            </p:extLst>
          </p:nvPr>
        </p:nvGraphicFramePr>
        <p:xfrm>
          <a:off x="242093" y="4543228"/>
          <a:ext cx="721022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맑은 고딕"/>
                        </a:rPr>
                        <a:t>근무일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21일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26일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26.</a:t>
                      </a:r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3</a:t>
                      </a:r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일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총 </a:t>
                      </a:r>
                      <a:r>
                        <a:rPr sz="120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생산량</a:t>
                      </a:r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(ton)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6,1</a:t>
                      </a:r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80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7,21</a:t>
                      </a:r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6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7</a:t>
                      </a:r>
                      <a:r>
                        <a:rPr lang="en-US" sz="12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,312</a:t>
                      </a:r>
                      <a:endParaRPr sz="12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톤당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처리비용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맑은 고딕"/>
                        </a:rPr>
                        <a:t> (원/ton)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1,797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C0000"/>
                          </a:solidFill>
                          <a:latin typeface="맑은 고딕"/>
                        </a:rPr>
                        <a:t>2,318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smtClean="0">
                          <a:solidFill>
                            <a:srgbClr val="0055AA"/>
                          </a:solidFill>
                          <a:latin typeface="맑은 고딕"/>
                        </a:rPr>
                        <a:t>2,2</a:t>
                      </a:r>
                      <a:r>
                        <a:rPr lang="en-US" sz="1200" b="1" dirty="0" smtClean="0">
                          <a:solidFill>
                            <a:srgbClr val="0055AA"/>
                          </a:solidFill>
                          <a:latin typeface="맑은 고딕"/>
                        </a:rPr>
                        <a:t>45</a:t>
                      </a:r>
                      <a:endParaRPr sz="1200" b="1" dirty="0">
                        <a:solidFill>
                          <a:srgbClr val="0055AA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Rectangle 11"/>
          <p:cNvSpPr/>
          <p:nvPr/>
        </p:nvSpPr>
        <p:spPr>
          <a:xfrm>
            <a:off x="242093" y="5777018"/>
            <a:ext cx="792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4493" y="5717618"/>
            <a:ext cx="6357600" cy="198000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200" b="1" i="0" dirty="0" err="1">
                <a:solidFill>
                  <a:srgbClr val="1F3864"/>
                </a:solidFill>
                <a:latin typeface="+mj-ea"/>
                <a:ea typeface="+mj-ea"/>
              </a:rPr>
              <a:t>전월</a:t>
            </a:r>
            <a:r>
              <a:rPr sz="1200" b="1" i="0" dirty="0">
                <a:solidFill>
                  <a:srgbClr val="1F3864"/>
                </a:solidFill>
                <a:latin typeface="+mj-ea"/>
                <a:ea typeface="+mj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j-ea"/>
                <a:ea typeface="+mj-ea"/>
              </a:rPr>
              <a:t>대비</a:t>
            </a:r>
            <a:r>
              <a:rPr sz="1200" b="1" i="0" dirty="0">
                <a:solidFill>
                  <a:srgbClr val="1F3864"/>
                </a:solidFill>
                <a:latin typeface="+mj-ea"/>
                <a:ea typeface="+mj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j-ea"/>
                <a:ea typeface="+mj-ea"/>
              </a:rPr>
              <a:t>증감</a:t>
            </a:r>
            <a:r>
              <a:rPr sz="1200" b="1" i="0" dirty="0">
                <a:solidFill>
                  <a:srgbClr val="1F3864"/>
                </a:solidFill>
                <a:latin typeface="+mj-ea"/>
                <a:ea typeface="+mj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j-ea"/>
                <a:ea typeface="+mj-ea"/>
              </a:rPr>
              <a:t>주요</a:t>
            </a:r>
            <a:r>
              <a:rPr sz="1200" b="1" i="0" dirty="0">
                <a:solidFill>
                  <a:srgbClr val="1F3864"/>
                </a:solidFill>
                <a:latin typeface="+mj-ea"/>
                <a:ea typeface="+mj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j-ea"/>
                <a:ea typeface="+mj-ea"/>
              </a:rPr>
              <a:t>사유</a:t>
            </a:r>
            <a:endParaRPr sz="1200" b="1" i="0" dirty="0">
              <a:solidFill>
                <a:srgbClr val="1F3864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7828" y="5934874"/>
            <a:ext cx="8678668" cy="383873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• </a:t>
            </a:r>
            <a:r>
              <a:rPr lang="en-US" sz="1200" i="0" dirty="0" smtClean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i="0" dirty="0" smtClean="0">
                <a:solidFill>
                  <a:srgbClr val="1F1F1F"/>
                </a:solidFill>
                <a:latin typeface="+mn-lt"/>
                <a:ea typeface="+mj-ea"/>
              </a:rPr>
              <a:t>4월 </a:t>
            </a:r>
            <a:r>
              <a:rPr sz="1200" i="0" dirty="0" err="1">
                <a:solidFill>
                  <a:srgbClr val="1F1F1F"/>
                </a:solidFill>
                <a:latin typeface="+mn-lt"/>
                <a:ea typeface="+mj-ea"/>
              </a:rPr>
              <a:t>비용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i="0" dirty="0" err="1">
                <a:solidFill>
                  <a:srgbClr val="1F1F1F"/>
                </a:solidFill>
                <a:latin typeface="+mn-lt"/>
                <a:ea typeface="+mj-ea"/>
              </a:rPr>
              <a:t>감소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(▼310,250원): </a:t>
            </a:r>
            <a:r>
              <a:rPr sz="1200" i="0" dirty="0" err="1">
                <a:solidFill>
                  <a:srgbClr val="FF0000"/>
                </a:solidFill>
                <a:latin typeface="+mn-lt"/>
                <a:ea typeface="+mj-ea"/>
              </a:rPr>
              <a:t>분진</a:t>
            </a:r>
            <a:r>
              <a:rPr sz="1200" i="0" dirty="0">
                <a:solidFill>
                  <a:srgbClr val="FF0000"/>
                </a:solidFill>
                <a:latin typeface="+mn-lt"/>
                <a:ea typeface="+mj-ea"/>
              </a:rPr>
              <a:t> </a:t>
            </a:r>
            <a:r>
              <a:rPr sz="1200" i="0" dirty="0" err="1">
                <a:solidFill>
                  <a:srgbClr val="FF0000"/>
                </a:solidFill>
                <a:latin typeface="+mn-lt"/>
                <a:ea typeface="+mj-ea"/>
              </a:rPr>
              <a:t>매립</a:t>
            </a:r>
            <a:r>
              <a:rPr sz="1200" i="0" dirty="0">
                <a:solidFill>
                  <a:srgbClr val="FF0000"/>
                </a:solidFill>
                <a:latin typeface="+mn-lt"/>
                <a:ea typeface="+mj-ea"/>
              </a:rPr>
              <a:t> </a:t>
            </a:r>
            <a:r>
              <a:rPr sz="1200" i="0" dirty="0" err="1">
                <a:solidFill>
                  <a:srgbClr val="FF0000"/>
                </a:solidFill>
                <a:latin typeface="+mn-lt"/>
                <a:ea typeface="+mj-ea"/>
              </a:rPr>
              <a:t>소폭감소</a:t>
            </a:r>
            <a:r>
              <a:rPr sz="1200" i="0" dirty="0">
                <a:solidFill>
                  <a:srgbClr val="FF0000"/>
                </a:solidFill>
                <a:latin typeface="+mn-lt"/>
                <a:ea typeface="+mj-ea"/>
              </a:rPr>
              <a:t>(5,208→4,844천원, -7%)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, </a:t>
            </a:r>
            <a:r>
              <a:rPr sz="1200" i="0" dirty="0" err="1">
                <a:solidFill>
                  <a:srgbClr val="1F1F1F"/>
                </a:solidFill>
                <a:latin typeface="+mn-lt"/>
                <a:ea typeface="+mj-ea"/>
              </a:rPr>
              <a:t>일반쓰레기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i="0" dirty="0" err="1">
                <a:solidFill>
                  <a:srgbClr val="1F1F1F"/>
                </a:solidFill>
                <a:latin typeface="+mn-lt"/>
                <a:ea typeface="+mj-ea"/>
              </a:rPr>
              <a:t>감소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(7,627→6,194천원, -19%), </a:t>
            </a:r>
            <a:endParaRPr lang="en-US" sz="1200" i="0" dirty="0" smtClean="0">
              <a:solidFill>
                <a:srgbClr val="1F1F1F"/>
              </a:solidFill>
              <a:latin typeface="+mn-lt"/>
              <a:ea typeface="+mj-ea"/>
            </a:endParaRPr>
          </a:p>
          <a:p>
            <a:pPr algn="l"/>
            <a:r>
              <a:rPr lang="en-US" sz="1200" dirty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lang="en-US" sz="1200" dirty="0" smtClean="0">
                <a:solidFill>
                  <a:srgbClr val="1F1F1F"/>
                </a:solidFill>
                <a:latin typeface="+mn-lt"/>
                <a:ea typeface="+mj-ea"/>
              </a:rPr>
              <a:t>  </a:t>
            </a:r>
            <a:r>
              <a:rPr sz="1200" i="0" dirty="0" err="1" smtClean="0">
                <a:solidFill>
                  <a:srgbClr val="1F1F1F"/>
                </a:solidFill>
                <a:latin typeface="+mn-lt"/>
                <a:ea typeface="+mj-ea"/>
              </a:rPr>
              <a:t>그밖의</a:t>
            </a:r>
            <a:r>
              <a:rPr sz="1200" i="0" dirty="0" smtClean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i="0" dirty="0" err="1">
                <a:solidFill>
                  <a:srgbClr val="1F1F1F"/>
                </a:solidFill>
                <a:latin typeface="+mn-lt"/>
                <a:ea typeface="+mj-ea"/>
              </a:rPr>
              <a:t>폐유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i="0" dirty="0" err="1">
                <a:solidFill>
                  <a:srgbClr val="1F1F1F"/>
                </a:solidFill>
                <a:latin typeface="+mn-lt"/>
                <a:ea typeface="+mj-ea"/>
              </a:rPr>
              <a:t>감소</a:t>
            </a:r>
            <a:r>
              <a:rPr sz="1200" i="0" dirty="0">
                <a:solidFill>
                  <a:srgbClr val="1F1F1F"/>
                </a:solidFill>
                <a:latin typeface="+mn-lt"/>
                <a:ea typeface="+mj-ea"/>
              </a:rPr>
              <a:t>(-23%)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92" y="6345813"/>
            <a:ext cx="8470379" cy="199207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200" b="0" i="0" dirty="0" smtClean="0">
                <a:solidFill>
                  <a:srgbClr val="1F1F1F"/>
                </a:solidFill>
                <a:latin typeface="+mn-lt"/>
                <a:ea typeface="+mj-ea"/>
              </a:rPr>
              <a:t>•</a:t>
            </a:r>
            <a:r>
              <a:rPr lang="en-US" sz="1200" b="0" i="0" dirty="0" smtClean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b="0" i="0" dirty="0" smtClean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b="0" i="0" dirty="0">
                <a:solidFill>
                  <a:srgbClr val="1F1F1F"/>
                </a:solidFill>
                <a:latin typeface="+mn-lt"/>
                <a:ea typeface="+mj-ea"/>
              </a:rPr>
              <a:t>4월 </a:t>
            </a:r>
            <a:r>
              <a:rPr sz="1200" b="0" i="0" dirty="0" err="1">
                <a:solidFill>
                  <a:srgbClr val="1F1F1F"/>
                </a:solidFill>
                <a:latin typeface="+mn-lt"/>
                <a:ea typeface="+mj-ea"/>
              </a:rPr>
              <a:t>폐기펠렛</a:t>
            </a:r>
            <a:r>
              <a:rPr sz="1200" b="0" i="0" dirty="0">
                <a:solidFill>
                  <a:srgbClr val="1F1F1F"/>
                </a:solidFill>
                <a:latin typeface="+mn-lt"/>
                <a:ea typeface="+mj-ea"/>
              </a:rPr>
              <a:t> </a:t>
            </a:r>
            <a:r>
              <a:rPr sz="1200" b="0" i="0" dirty="0" err="1" smtClean="0">
                <a:solidFill>
                  <a:srgbClr val="1F1F1F"/>
                </a:solidFill>
                <a:latin typeface="+mn-lt"/>
                <a:ea typeface="+mj-ea"/>
              </a:rPr>
              <a:t>발생</a:t>
            </a:r>
            <a:r>
              <a:rPr sz="1200" b="0" i="0" dirty="0">
                <a:solidFill>
                  <a:srgbClr val="1F1F1F"/>
                </a:solidFill>
                <a:latin typeface="+mn-lt"/>
                <a:ea typeface="+mj-ea"/>
              </a:rPr>
              <a:t>(1,171</a:t>
            </a:r>
            <a:r>
              <a:rPr sz="1200" b="0" i="0" dirty="0" smtClean="0">
                <a:solidFill>
                  <a:srgbClr val="1F1F1F"/>
                </a:solidFill>
                <a:latin typeface="+mn-lt"/>
                <a:ea typeface="+mj-ea"/>
              </a:rPr>
              <a:t>천원)</a:t>
            </a:r>
            <a:r>
              <a:rPr lang="en-US" sz="1200" b="0" i="0" dirty="0" smtClean="0">
                <a:solidFill>
                  <a:srgbClr val="1F1F1F"/>
                </a:solidFill>
                <a:latin typeface="+mn-lt"/>
                <a:ea typeface="+mj-ea"/>
              </a:rPr>
              <a:t>, </a:t>
            </a:r>
            <a:r>
              <a:rPr sz="1200" b="1" i="0" dirty="0" err="1" smtClean="0">
                <a:solidFill>
                  <a:srgbClr val="0066FF"/>
                </a:solidFill>
                <a:latin typeface="+mn-lt"/>
                <a:ea typeface="+mj-ea"/>
              </a:rPr>
              <a:t>폐목재</a:t>
            </a:r>
            <a:r>
              <a:rPr sz="1200" b="1" i="0" dirty="0" smtClean="0">
                <a:solidFill>
                  <a:srgbClr val="0066FF"/>
                </a:solidFill>
                <a:latin typeface="+mn-lt"/>
                <a:ea typeface="+mj-ea"/>
              </a:rPr>
              <a:t> </a:t>
            </a:r>
            <a:r>
              <a:rPr sz="1200" b="1" i="0" dirty="0">
                <a:solidFill>
                  <a:srgbClr val="0066FF"/>
                </a:solidFill>
                <a:latin typeface="+mn-lt"/>
                <a:ea typeface="+mj-ea"/>
              </a:rPr>
              <a:t>정기처리(500천원</a:t>
            </a:r>
            <a:r>
              <a:rPr sz="1200" b="1" i="0" dirty="0" smtClean="0">
                <a:solidFill>
                  <a:srgbClr val="0066FF"/>
                </a:solidFill>
                <a:latin typeface="+mn-lt"/>
                <a:ea typeface="+mj-ea"/>
              </a:rPr>
              <a:t>)</a:t>
            </a:r>
            <a:r>
              <a:rPr lang="en-US" sz="1200" b="1" i="0" dirty="0" smtClean="0">
                <a:solidFill>
                  <a:srgbClr val="0066FF"/>
                </a:solidFill>
                <a:latin typeface="+mn-lt"/>
                <a:ea typeface="+mj-ea"/>
              </a:rPr>
              <a:t> </a:t>
            </a:r>
            <a:r>
              <a:rPr sz="1200" b="1" i="0" dirty="0" err="1" smtClean="0">
                <a:solidFill>
                  <a:srgbClr val="0066FF"/>
                </a:solidFill>
                <a:latin typeface="+mn-lt"/>
                <a:ea typeface="+mj-ea"/>
              </a:rPr>
              <a:t>발생</a:t>
            </a:r>
            <a:r>
              <a:rPr sz="1200" b="1" i="0" dirty="0">
                <a:solidFill>
                  <a:srgbClr val="0066FF"/>
                </a:solidFill>
                <a:latin typeface="+mn-lt"/>
                <a:ea typeface="+mj-ea"/>
              </a:rPr>
              <a:t>, 분진재활용 증가(+12%)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84368" y="734507"/>
            <a:ext cx="9361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j-ea"/>
                <a:ea typeface="+mj-ea"/>
              </a:rPr>
              <a:t>(</a:t>
            </a:r>
            <a:r>
              <a:rPr lang="ko-KR" altLang="en-US" sz="1050" dirty="0" smtClean="0">
                <a:latin typeface="+mj-ea"/>
                <a:ea typeface="+mj-ea"/>
              </a:rPr>
              <a:t>단위 </a:t>
            </a:r>
            <a:r>
              <a:rPr lang="en-US" altLang="ko-KR" sz="1050" dirty="0" smtClean="0">
                <a:latin typeface="+mj-ea"/>
                <a:ea typeface="+mj-ea"/>
              </a:rPr>
              <a:t>: </a:t>
            </a:r>
            <a:r>
              <a:rPr lang="ko-KR" altLang="en-US" sz="1050" dirty="0" smtClean="0">
                <a:latin typeface="+mj-ea"/>
                <a:ea typeface="+mj-ea"/>
              </a:rPr>
              <a:t>천원</a:t>
            </a:r>
            <a:r>
              <a:rPr lang="en-US" altLang="ko-KR" sz="1050" dirty="0" smtClean="0">
                <a:latin typeface="+mj-ea"/>
                <a:ea typeface="+mj-ea"/>
              </a:rPr>
              <a:t>)</a:t>
            </a:r>
            <a:endParaRPr lang="ko-KR" altLang="en-US" sz="10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4293218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260648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‘26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폐기물 처리비 내역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46364" y="696433"/>
            <a:ext cx="2879872" cy="199207"/>
            <a:chOff x="540000" y="696433"/>
            <a:chExt cx="2879872" cy="199207"/>
          </a:xfrm>
        </p:grpSpPr>
        <p:sp>
          <p:nvSpPr>
            <p:cNvPr id="13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lang="en-US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Scrap </a:t>
              </a:r>
              <a:r>
                <a:rPr lang="ko-KR" altLang="en-US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처리내역</a:t>
              </a:r>
              <a:endParaRPr sz="1200" b="1" i="0" dirty="0">
                <a:solidFill>
                  <a:srgbClr val="1F3864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64" y="942775"/>
            <a:ext cx="8262507" cy="1334097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25564" y="2420888"/>
            <a:ext cx="826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+mn-lt"/>
                <a:ea typeface="+mj-ea"/>
              </a:rPr>
              <a:t>Scrap </a:t>
            </a:r>
            <a:r>
              <a:rPr lang="ko-KR" altLang="en-US" sz="1200" dirty="0" smtClean="0">
                <a:latin typeface="+mn-lt"/>
                <a:ea typeface="+mj-ea"/>
              </a:rPr>
              <a:t>처리량은 </a:t>
            </a:r>
            <a:r>
              <a:rPr lang="en-US" altLang="ko-KR" sz="1200" dirty="0" smtClean="0">
                <a:latin typeface="+mn-lt"/>
                <a:ea typeface="+mj-ea"/>
              </a:rPr>
              <a:t>3</a:t>
            </a:r>
            <a:r>
              <a:rPr lang="ko-KR" altLang="en-US" sz="1200" dirty="0" smtClean="0">
                <a:latin typeface="+mn-lt"/>
                <a:ea typeface="+mj-ea"/>
              </a:rPr>
              <a:t>월 대비 </a:t>
            </a:r>
            <a:r>
              <a:rPr lang="en-US" altLang="ko-KR" sz="1200" b="1" dirty="0" smtClean="0">
                <a:solidFill>
                  <a:srgbClr val="0066FF"/>
                </a:solidFill>
                <a:latin typeface="+mn-lt"/>
                <a:ea typeface="+mj-ea"/>
              </a:rPr>
              <a:t>(+)8,545kg </a:t>
            </a:r>
            <a:r>
              <a:rPr lang="ko-KR" altLang="en-US" sz="1200" b="1" dirty="0" smtClean="0">
                <a:solidFill>
                  <a:srgbClr val="0066FF"/>
                </a:solidFill>
                <a:latin typeface="+mn-lt"/>
                <a:ea typeface="+mj-ea"/>
              </a:rPr>
              <a:t>증가</a:t>
            </a:r>
            <a:r>
              <a:rPr lang="ko-KR" altLang="en-US" sz="1200" b="1" dirty="0" smtClean="0">
                <a:latin typeface="+mn-lt"/>
                <a:ea typeface="+mj-ea"/>
              </a:rPr>
              <a:t>하였으며</a:t>
            </a:r>
            <a:r>
              <a:rPr lang="en-US" altLang="ko-KR" sz="1200" b="1" dirty="0" smtClean="0">
                <a:solidFill>
                  <a:srgbClr val="0066FF"/>
                </a:solidFill>
                <a:latin typeface="+mn-lt"/>
                <a:ea typeface="+mj-ea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 smtClean="0">
                <a:latin typeface="+mn-lt"/>
                <a:ea typeface="+mj-ea"/>
              </a:rPr>
              <a:t>추정원인은</a:t>
            </a:r>
            <a:r>
              <a:rPr lang="ko-KR" altLang="en-US" sz="1200" b="1" dirty="0" smtClean="0">
                <a:latin typeface="+mn-lt"/>
                <a:ea typeface="+mj-ea"/>
              </a:rPr>
              <a:t> </a:t>
            </a:r>
            <a:r>
              <a:rPr lang="en-US" altLang="ko-KR" sz="1200" b="1" dirty="0" smtClean="0">
                <a:latin typeface="+mn-lt"/>
                <a:ea typeface="+mj-ea"/>
              </a:rPr>
              <a:t>3</a:t>
            </a:r>
            <a:r>
              <a:rPr lang="ko-KR" altLang="en-US" sz="1200" b="1" dirty="0" err="1" smtClean="0">
                <a:latin typeface="+mn-lt"/>
                <a:ea typeface="+mj-ea"/>
              </a:rPr>
              <a:t>월대비</a:t>
            </a:r>
            <a:r>
              <a:rPr lang="ko-KR" altLang="en-US" sz="1200" b="1" dirty="0" smtClean="0">
                <a:latin typeface="+mn-lt"/>
                <a:ea typeface="+mj-ea"/>
              </a:rPr>
              <a:t> </a:t>
            </a:r>
            <a:r>
              <a:rPr lang="en-US" altLang="ko-KR" sz="1200" b="1" dirty="0" smtClean="0">
                <a:latin typeface="+mn-lt"/>
                <a:ea typeface="+mj-ea"/>
              </a:rPr>
              <a:t>4</a:t>
            </a:r>
            <a:r>
              <a:rPr lang="ko-KR" altLang="en-US" sz="1200" b="1" dirty="0" smtClean="0">
                <a:latin typeface="+mn-lt"/>
                <a:ea typeface="+mj-ea"/>
              </a:rPr>
              <a:t>월 </a:t>
            </a:r>
            <a:r>
              <a:rPr lang="ko-KR" altLang="en-US" sz="1200" b="1" dirty="0" err="1" smtClean="0">
                <a:latin typeface="+mn-lt"/>
                <a:ea typeface="+mj-ea"/>
              </a:rPr>
              <a:t>비가동</a:t>
            </a:r>
            <a:r>
              <a:rPr lang="ko-KR" altLang="en-US" sz="1200" b="1" dirty="0" smtClean="0">
                <a:latin typeface="+mn-lt"/>
                <a:ea typeface="+mj-ea"/>
              </a:rPr>
              <a:t> 시간 및 횟수 증가로 </a:t>
            </a:r>
            <a:r>
              <a:rPr lang="en-US" altLang="ko-KR" sz="1200" b="1" dirty="0" smtClean="0">
                <a:latin typeface="+mn-lt"/>
                <a:ea typeface="+mj-ea"/>
              </a:rPr>
              <a:t>Line Stop and Start</a:t>
            </a:r>
            <a:r>
              <a:rPr lang="ko-KR" altLang="en-US" sz="1200" b="1" dirty="0" smtClean="0">
                <a:latin typeface="+mn-lt"/>
                <a:ea typeface="+mj-ea"/>
              </a:rPr>
              <a:t> 증가가 원인으로 판단됨</a:t>
            </a:r>
            <a:endParaRPr lang="en-US" altLang="ko-KR" sz="1200" b="1" dirty="0" smtClean="0">
              <a:latin typeface="+mn-lt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 smtClean="0">
                <a:latin typeface="+mn-lt"/>
                <a:ea typeface="+mj-ea"/>
              </a:rPr>
              <a:t>3</a:t>
            </a:r>
            <a:r>
              <a:rPr lang="ko-KR" altLang="en-US" sz="1200" b="1" dirty="0" smtClean="0">
                <a:latin typeface="+mn-lt"/>
                <a:ea typeface="+mj-ea"/>
              </a:rPr>
              <a:t>월 </a:t>
            </a:r>
            <a:r>
              <a:rPr lang="ko-KR" altLang="en-US" sz="1200" b="1" dirty="0" err="1" smtClean="0">
                <a:latin typeface="+mn-lt"/>
                <a:ea typeface="+mj-ea"/>
              </a:rPr>
              <a:t>비가동</a:t>
            </a:r>
            <a:r>
              <a:rPr lang="ko-KR" altLang="en-US" sz="1200" b="1" dirty="0" smtClean="0">
                <a:latin typeface="+mn-lt"/>
                <a:ea typeface="+mj-ea"/>
              </a:rPr>
              <a:t> 시간 </a:t>
            </a:r>
            <a:r>
              <a:rPr lang="en-US" altLang="ko-KR" sz="1200" b="1" dirty="0" smtClean="0">
                <a:latin typeface="+mn-lt"/>
                <a:ea typeface="+mj-ea"/>
              </a:rPr>
              <a:t>20,380</a:t>
            </a:r>
            <a:r>
              <a:rPr lang="ko-KR" altLang="en-US" sz="1200" b="1" dirty="0" smtClean="0">
                <a:latin typeface="+mn-lt"/>
                <a:ea typeface="+mj-ea"/>
              </a:rPr>
              <a:t>분</a:t>
            </a:r>
            <a:r>
              <a:rPr lang="en-US" altLang="ko-KR" sz="1200" b="1" dirty="0" smtClean="0">
                <a:latin typeface="+mn-lt"/>
                <a:ea typeface="+mj-ea"/>
              </a:rPr>
              <a:t>(767</a:t>
            </a:r>
            <a:r>
              <a:rPr lang="ko-KR" altLang="en-US" sz="1200" b="1" dirty="0" smtClean="0">
                <a:latin typeface="+mn-lt"/>
                <a:ea typeface="+mj-ea"/>
              </a:rPr>
              <a:t>회</a:t>
            </a:r>
            <a:r>
              <a:rPr lang="en-US" altLang="ko-KR" sz="1200" b="1" dirty="0" smtClean="0">
                <a:latin typeface="+mn-lt"/>
                <a:ea typeface="+mj-ea"/>
              </a:rPr>
              <a:t>)</a:t>
            </a:r>
            <a:r>
              <a:rPr lang="ko-KR" altLang="en-US" sz="1200" b="1" dirty="0" smtClean="0">
                <a:latin typeface="+mn-lt"/>
                <a:ea typeface="+mj-ea"/>
              </a:rPr>
              <a:t> </a:t>
            </a:r>
            <a:r>
              <a:rPr lang="el-GR" altLang="ko-KR" sz="1200" b="1" dirty="0" smtClean="0">
                <a:latin typeface="+mn-lt"/>
                <a:ea typeface="맑은 고딕" panose="020B0503020000020004" pitchFamily="34" charset="-127"/>
              </a:rPr>
              <a:t>Ι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 4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월 </a:t>
            </a:r>
            <a:r>
              <a:rPr lang="ko-KR" altLang="en-US" sz="1200" b="1" dirty="0" err="1" smtClean="0">
                <a:latin typeface="+mn-lt"/>
                <a:ea typeface="맑은 고딕" panose="020B0503020000020004" pitchFamily="34" charset="-127"/>
              </a:rPr>
              <a:t>비가동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 시간 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28,775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분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(970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회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)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 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(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출처 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: </a:t>
            </a:r>
            <a:r>
              <a:rPr lang="ko-KR" altLang="en-US" sz="1200" b="1" dirty="0" err="1" smtClean="0">
                <a:latin typeface="+mn-lt"/>
                <a:ea typeface="맑은 고딕" panose="020B0503020000020004" pitchFamily="34" charset="-127"/>
              </a:rPr>
              <a:t>유니라이트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 </a:t>
            </a:r>
            <a:r>
              <a:rPr lang="ko-KR" altLang="en-US" sz="1200" b="1" dirty="0" err="1" smtClean="0">
                <a:latin typeface="+mn-lt"/>
                <a:ea typeface="맑은 고딕" panose="020B0503020000020004" pitchFamily="34" charset="-127"/>
              </a:rPr>
              <a:t>비가동</a:t>
            </a:r>
            <a:r>
              <a:rPr lang="ko-KR" altLang="en-US" sz="1200" b="1" dirty="0" smtClean="0">
                <a:latin typeface="+mn-lt"/>
                <a:ea typeface="맑은 고딕" panose="020B0503020000020004" pitchFamily="34" charset="-127"/>
              </a:rPr>
              <a:t> 시간 조회</a:t>
            </a:r>
            <a:r>
              <a:rPr lang="en-US" altLang="ko-KR" sz="1200" b="1" dirty="0" smtClean="0">
                <a:latin typeface="+mn-lt"/>
                <a:ea typeface="맑은 고딕" panose="020B0503020000020004" pitchFamily="34" charset="-127"/>
              </a:rPr>
              <a:t>)</a:t>
            </a:r>
            <a:endParaRPr lang="ko-KR" altLang="en-US" sz="1200" b="1" dirty="0">
              <a:latin typeface="+mn-lt"/>
              <a:ea typeface="+mj-ea"/>
            </a:endParaRPr>
          </a:p>
        </p:txBody>
      </p:sp>
      <p:pic>
        <p:nvPicPr>
          <p:cNvPr id="9" name="그림 8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O$4"/>
              </a:ext>
            </a:extLst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994" y="3847968"/>
            <a:ext cx="8441486" cy="80516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noFill/>
            <a:miter lim="800000"/>
            <a:headEnd/>
            <a:tailEnd/>
          </a:ln>
        </p:spPr>
      </p:pic>
      <p:grpSp>
        <p:nvGrpSpPr>
          <p:cNvPr id="10" name="그룹 9"/>
          <p:cNvGrpSpPr/>
          <p:nvPr/>
        </p:nvGrpSpPr>
        <p:grpSpPr>
          <a:xfrm>
            <a:off x="346364" y="3517825"/>
            <a:ext cx="2879872" cy="199207"/>
            <a:chOff x="540000" y="696433"/>
            <a:chExt cx="2879872" cy="199207"/>
          </a:xfrm>
        </p:grpSpPr>
        <p:sp>
          <p:nvSpPr>
            <p:cNvPr id="11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lang="ko-KR" altLang="en-US" sz="1200" b="1" dirty="0" err="1" smtClean="0">
                  <a:solidFill>
                    <a:srgbClr val="1F3864"/>
                  </a:solidFill>
                  <a:latin typeface="+mn-ea"/>
                  <a:ea typeface="+mn-ea"/>
                </a:rPr>
                <a:t>폐기펠렛</a:t>
              </a:r>
              <a:r>
                <a:rPr lang="ko-KR" altLang="en-US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200" b="1" dirty="0" err="1" smtClean="0">
                  <a:solidFill>
                    <a:srgbClr val="1F3864"/>
                  </a:solidFill>
                  <a:latin typeface="+mn-ea"/>
                  <a:ea typeface="+mn-ea"/>
                </a:rPr>
                <a:t>발생현황</a:t>
              </a:r>
              <a:r>
                <a:rPr lang="en-US" altLang="ko-KR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(’25</a:t>
              </a:r>
              <a:r>
                <a:rPr lang="ko-KR" altLang="en-US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년 </a:t>
              </a:r>
              <a:r>
                <a:rPr lang="en-US" altLang="ko-KR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VS ’26</a:t>
              </a:r>
              <a:r>
                <a:rPr lang="ko-KR" altLang="en-US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년</a:t>
              </a:r>
              <a:r>
                <a:rPr lang="en-US" altLang="ko-KR" sz="1200" b="1" dirty="0" smtClean="0">
                  <a:solidFill>
                    <a:srgbClr val="1F3864"/>
                  </a:solidFill>
                  <a:latin typeface="+mn-ea"/>
                  <a:ea typeface="+mn-ea"/>
                </a:rPr>
                <a:t>)</a:t>
              </a:r>
              <a:endParaRPr sz="1200" b="1" i="0" dirty="0">
                <a:solidFill>
                  <a:srgbClr val="1F3864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323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37380</TotalTime>
  <Words>385</Words>
  <Application>Microsoft Office PowerPoint</Application>
  <PresentationFormat>화면 슬라이드 쇼(4:3)</PresentationFormat>
  <Paragraphs>112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1682</cp:revision>
  <cp:lastPrinted>2026-03-05T07:40:04Z</cp:lastPrinted>
  <dcterms:created xsi:type="dcterms:W3CDTF">2006-12-21T02:27:07Z</dcterms:created>
  <dcterms:modified xsi:type="dcterms:W3CDTF">2026-05-11T06:19:34Z</dcterms:modified>
</cp:coreProperties>
</file>