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7" r:id="rId9"/>
    <p:sldId id="578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329" autoAdjust="0"/>
  </p:normalViewPr>
  <p:slideViewPr>
    <p:cSldViewPr>
      <p:cViewPr varScale="1">
        <p:scale>
          <a:sx n="86" d="100"/>
          <a:sy n="86" d="100"/>
        </p:scale>
        <p:origin x="138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58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6682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400" b="1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499203"/>
              </p:ext>
            </p:extLst>
          </p:nvPr>
        </p:nvGraphicFramePr>
        <p:xfrm>
          <a:off x="9423" y="764704"/>
          <a:ext cx="9108508" cy="3406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1881635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25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비  고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20079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sz="16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안정제비닐</a:t>
                      </a:r>
                      <a:endParaRPr lang="ko-KR" sz="11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SIZE 小 / 大</a:t>
                      </a:r>
                      <a:endParaRPr lang="ko-KR" sz="11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1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(FLEXCO)</a:t>
                      </a:r>
                      <a:endParaRPr lang="ko-KR" sz="11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구   매</a:t>
                      </a:r>
                      <a:endParaRPr lang="ko-KR" sz="11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■ 개요</a:t>
                      </a:r>
                      <a:endParaRPr lang="ko-KR" sz="10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- 품목 : 안정제비닐  SIZE 小(80mic 55×55cm) </a:t>
                      </a:r>
                      <a:r>
                        <a:rPr lang="en-US" altLang="ko-KR" sz="10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&amp;</a:t>
                      </a:r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endParaRPr lang="en-US" altLang="ko-KR" sz="105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10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                         S</a:t>
                      </a:r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IZE 大(75mic 65×80cm)</a:t>
                      </a:r>
                      <a:endParaRPr lang="ko-KR" sz="10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- 용도 : 생산 안정제 </a:t>
                      </a:r>
                      <a:r>
                        <a:rPr lang="ko-KR" altLang="en-US" sz="10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계량용</a:t>
                      </a:r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비닐(생산라인 필수)</a:t>
                      </a:r>
                      <a:endParaRPr lang="ko-KR" sz="10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- 구매수량 : SIZE 小 30,000 EA </a:t>
                      </a:r>
                      <a:r>
                        <a:rPr lang="en-US" altLang="ko-KR" sz="10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&amp;</a:t>
                      </a:r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SIZE 大 30,000 EA </a:t>
                      </a:r>
                      <a:endParaRPr lang="en-US" altLang="ko-KR" sz="105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10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               </a:t>
                      </a:r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= </a:t>
                      </a:r>
                      <a:r>
                        <a:rPr lang="ko-KR" altLang="en-US" sz="1050" b="1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총 60,000 EA</a:t>
                      </a:r>
                      <a:endParaRPr lang="ko-KR" sz="105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- 공급업체 : FLEXCO CO., LTD(경기도 김포시 통진읍)</a:t>
                      </a:r>
                      <a:endParaRPr lang="ko-KR" sz="10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1050" b="1" dirty="0" smtClean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  - </a:t>
                      </a:r>
                      <a:r>
                        <a:rPr lang="en-US" altLang="ko-KR" sz="1050" b="1" dirty="0" smtClean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’26</a:t>
                      </a:r>
                      <a:r>
                        <a:rPr lang="ko-KR" altLang="en-US" sz="1050" b="1" dirty="0" smtClean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년 첫 구매 </a:t>
                      </a:r>
                      <a:r>
                        <a:rPr lang="en-US" altLang="ko-KR" sz="1050" b="1" dirty="0" smtClean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b="1" dirty="0" smtClean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첨부</a:t>
                      </a:r>
                      <a:r>
                        <a:rPr lang="en-US" altLang="ko-KR" sz="1050" b="1" dirty="0" smtClean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1.</a:t>
                      </a:r>
                      <a:r>
                        <a:rPr lang="en-US" altLang="ko-KR" sz="1050" b="1" baseline="0" dirty="0" smtClean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50" b="1" baseline="0" dirty="0" smtClean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구매내역</a:t>
                      </a:r>
                      <a:r>
                        <a:rPr lang="en-US" altLang="ko-KR" sz="1050" b="1" baseline="0" dirty="0" smtClean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algn="l" latinLnBrk="1"/>
                      <a:endParaRPr lang="ko-KR" sz="10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■ 구매가 증가 원인  ─  FLEXCO 공문(2026.04.09)</a:t>
                      </a:r>
                      <a:endParaRPr lang="ko-KR" sz="10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1050" b="1" dirty="0" smtClean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  - PE(폴리에틸렌) 원료 이란-미국 전쟁 영향으로 </a:t>
                      </a:r>
                      <a:endParaRPr lang="en-US" altLang="ko-KR" sz="1050" b="1" dirty="0" smtClean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1050" b="1" dirty="0" smtClean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ko-KR" sz="1050" b="1" baseline="0" dirty="0" smtClean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50" b="1" dirty="0" smtClean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42% 가격 급등</a:t>
                      </a:r>
                      <a:endParaRPr lang="ko-KR" sz="10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- SIZE 小 142원→185원(+43원,+30.3%)</a:t>
                      </a:r>
                      <a:endParaRPr lang="en-US" altLang="ko-KR" sz="105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10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 </a:t>
                      </a:r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SIZE 大 204원→265원(+61원,+29.9%)</a:t>
                      </a:r>
                      <a:endParaRPr lang="en-US" altLang="ko-KR" sz="105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- 적용기간 : 2026년 4월 한시 적용, 5월 이후 원자재 </a:t>
                      </a:r>
                      <a:endParaRPr lang="en-US" altLang="ko-KR" sz="105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10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 </a:t>
                      </a:r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변동에 따라 재협의</a:t>
                      </a:r>
                      <a:endParaRPr lang="en-US" altLang="ko-KR" sz="105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endParaRPr lang="ko-KR" sz="10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■ </a:t>
                      </a:r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첨부1. 구매내역</a:t>
                      </a:r>
                      <a:endParaRPr lang="en-US" altLang="ko-KR" sz="105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105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첨부</a:t>
                      </a:r>
                      <a:r>
                        <a:rPr lang="en-US" altLang="ko-KR" sz="105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05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단가인상</a:t>
                      </a:r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공문</a:t>
                      </a:r>
                      <a:endParaRPr lang="ko-KR" sz="105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13,500,000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  <a:endParaRPr 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1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(VAT 별도)</a:t>
                      </a:r>
                      <a:endParaRPr lang="ko-KR" sz="11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50" dirty="0">
                        <a:solidFill>
                          <a:srgbClr val="1F389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38328" y="260648"/>
            <a:ext cx="7113992" cy="233910"/>
          </a:xfrm>
          <a:prstGeom prst="rect">
            <a:avLst/>
          </a:prstGeom>
          <a:noFill/>
          <a:ln>
            <a:noFill/>
          </a:ln>
        </p:spPr>
        <p:txBody>
          <a:bodyPr wrap="square" lIns="36576" tIns="9144" rIns="18288" bIns="9144">
            <a:spAutoFit/>
          </a:bodyPr>
          <a:lstStyle/>
          <a:p>
            <a:r>
              <a:rPr sz="1400" b="1" dirty="0">
                <a:solidFill>
                  <a:srgbClr val="000000"/>
                </a:solidFill>
                <a:latin typeface="+mn-ea"/>
                <a:ea typeface="+mn-ea"/>
              </a:rPr>
              <a:t>[ </a:t>
            </a:r>
            <a:r>
              <a:rPr lang="ko-KR" altLang="en-US" sz="1400" b="1" dirty="0" err="1" smtClean="0">
                <a:solidFill>
                  <a:srgbClr val="000000"/>
                </a:solidFill>
                <a:latin typeface="+mn-ea"/>
                <a:ea typeface="+mn-ea"/>
              </a:rPr>
              <a:t>기안보고</a:t>
            </a:r>
            <a:r>
              <a:rPr lang="en-US" altLang="ko-KR" sz="1400" b="1" dirty="0" smtClean="0">
                <a:solidFill>
                  <a:srgbClr val="000000"/>
                </a:solidFill>
                <a:latin typeface="+mn-ea"/>
                <a:ea typeface="+mn-ea"/>
              </a:rPr>
              <a:t>_</a:t>
            </a:r>
            <a:r>
              <a:rPr lang="ko-KR" altLang="en-US" sz="1400" b="1" dirty="0" smtClean="0">
                <a:solidFill>
                  <a:srgbClr val="000000"/>
                </a:solidFill>
                <a:latin typeface="+mn-ea"/>
                <a:ea typeface="+mn-ea"/>
              </a:rPr>
              <a:t>생산</a:t>
            </a:r>
            <a:r>
              <a:rPr lang="en-US" altLang="ko-KR" sz="1400" b="1" dirty="0" smtClean="0">
                <a:solidFill>
                  <a:srgbClr val="000000"/>
                </a:solidFill>
                <a:latin typeface="+mn-ea"/>
                <a:ea typeface="+mn-ea"/>
              </a:rPr>
              <a:t>_</a:t>
            </a:r>
            <a:r>
              <a:rPr lang="ko-KR" altLang="en-US" sz="1400" b="1" dirty="0" smtClean="0">
                <a:solidFill>
                  <a:srgbClr val="000000"/>
                </a:solidFill>
                <a:latin typeface="+mn-ea"/>
                <a:ea typeface="+mn-ea"/>
              </a:rPr>
              <a:t>안정제 비닐 및 오염방지 비닐 구매</a:t>
            </a:r>
            <a:r>
              <a:rPr lang="en-US" altLang="ko-KR" sz="1400" b="1" dirty="0" smtClean="0">
                <a:solidFill>
                  <a:srgbClr val="000000"/>
                </a:solidFill>
                <a:latin typeface="+mn-ea"/>
                <a:ea typeface="+mn-ea"/>
              </a:rPr>
              <a:t>_</a:t>
            </a:r>
            <a:r>
              <a:rPr lang="ko-KR" altLang="en-US" sz="1400" b="1" dirty="0" smtClean="0">
                <a:solidFill>
                  <a:srgbClr val="000000"/>
                </a:solidFill>
                <a:latin typeface="+mn-ea"/>
                <a:ea typeface="+mn-ea"/>
              </a:rPr>
              <a:t>보고일 </a:t>
            </a:r>
            <a:r>
              <a:rPr lang="en-US" altLang="ko-KR" sz="1400" b="1" dirty="0" smtClean="0">
                <a:solidFill>
                  <a:srgbClr val="000000"/>
                </a:solidFill>
                <a:latin typeface="+mn-ea"/>
                <a:ea typeface="+mn-ea"/>
              </a:rPr>
              <a:t>: 5</a:t>
            </a:r>
            <a:r>
              <a:rPr lang="ko-KR" altLang="en-US" sz="1400" b="1" dirty="0" smtClean="0">
                <a:solidFill>
                  <a:srgbClr val="000000"/>
                </a:solidFill>
                <a:latin typeface="+mn-ea"/>
                <a:ea typeface="+mn-ea"/>
              </a:rPr>
              <a:t>월 </a:t>
            </a:r>
            <a:r>
              <a:rPr lang="en-US" altLang="ko-KR" sz="1400" b="1" dirty="0" smtClean="0">
                <a:solidFill>
                  <a:srgbClr val="000000"/>
                </a:solidFill>
                <a:latin typeface="+mn-ea"/>
                <a:ea typeface="+mn-ea"/>
              </a:rPr>
              <a:t>23</a:t>
            </a:r>
            <a:r>
              <a:rPr lang="ko-KR" altLang="en-US" sz="1400" b="1" dirty="0" smtClean="0">
                <a:solidFill>
                  <a:srgbClr val="000000"/>
                </a:solidFill>
                <a:latin typeface="+mn-ea"/>
                <a:ea typeface="+mn-ea"/>
              </a:rPr>
              <a:t>일 </a:t>
            </a:r>
            <a:r>
              <a:rPr lang="en-US" altLang="ko-KR" sz="1400" b="1" dirty="0" smtClean="0">
                <a:solidFill>
                  <a:srgbClr val="000000"/>
                </a:solidFill>
                <a:latin typeface="+mn-ea"/>
                <a:ea typeface="+mn-ea"/>
              </a:rPr>
              <a:t>]</a:t>
            </a:r>
            <a:endParaRPr sz="14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244886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484632"/>
            <a:ext cx="9144000" cy="36576"/>
          </a:xfrm>
          <a:prstGeom prst="rect">
            <a:avLst/>
          </a:prstGeom>
          <a:solidFill>
            <a:srgbClr val="1F3896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708694"/>
              </p:ext>
            </p:extLst>
          </p:nvPr>
        </p:nvGraphicFramePr>
        <p:xfrm>
          <a:off x="251523" y="1026560"/>
          <a:ext cx="8682164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3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45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30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867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06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2481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8727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5007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연도</a:t>
                      </a:r>
                      <a:endParaRPr lang="ko-KR" sz="10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규격</a:t>
                      </a:r>
                      <a:endParaRPr lang="ko-KR" sz="10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1월</a:t>
                      </a:r>
                      <a:endParaRPr lang="ko-KR" sz="10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2월</a:t>
                      </a:r>
                      <a:endParaRPr lang="ko-KR" sz="10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3월</a:t>
                      </a:r>
                      <a:endParaRPr lang="ko-KR" sz="10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4월</a:t>
                      </a:r>
                      <a:endParaRPr lang="ko-KR" sz="10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5월</a:t>
                      </a:r>
                      <a:endParaRPr lang="ko-KR" sz="10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6월</a:t>
                      </a:r>
                      <a:endParaRPr lang="ko-KR" sz="10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7월</a:t>
                      </a:r>
                      <a:endParaRPr lang="ko-KR" sz="10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8월</a:t>
                      </a:r>
                      <a:endParaRPr lang="ko-KR" sz="10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9월</a:t>
                      </a:r>
                      <a:endParaRPr lang="ko-KR" sz="10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10월</a:t>
                      </a:r>
                      <a:endParaRPr lang="ko-KR" sz="10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11월</a:t>
                      </a:r>
                      <a:endParaRPr lang="ko-KR" sz="10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12월</a:t>
                      </a:r>
                      <a:endParaRPr lang="ko-KR" sz="10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  계</a:t>
                      </a:r>
                      <a:endParaRPr lang="ko-KR" sz="10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‘</a:t>
                      </a:r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25년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小</a:t>
                      </a:r>
                      <a:r>
                        <a:rPr lang="en-US" altLang="ko-KR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</a:t>
                      </a:r>
                      <a:r>
                        <a:rPr lang="en-US" altLang="ko-KR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금액</a:t>
                      </a:r>
                      <a:r>
                        <a:rPr lang="en-US" altLang="ko-KR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r>
                        <a:rPr lang="en-US" altLang="ko-KR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
2,130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r>
                        <a:rPr lang="en-US" altLang="ko-KR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
4,260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r>
                        <a:rPr lang="en-US" altLang="ko-KR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
4,260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r>
                        <a:rPr lang="en-US" altLang="ko-KR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
2,130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r>
                        <a:rPr lang="en-US" altLang="ko-KR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
2,130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105</a:t>
                      </a:r>
                      <a:r>
                        <a:rPr lang="en-US" altLang="ko-KR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
14,910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 vMerge="1">
                  <a:txBody>
                    <a:bodyPr/>
                    <a:lstStyle/>
                    <a:p>
                      <a:pPr algn="ctr" latinLnBrk="1"/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大</a:t>
                      </a:r>
                      <a:r>
                        <a:rPr lang="en-US" altLang="ko-KR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</a:t>
                      </a:r>
                      <a:r>
                        <a:rPr lang="en-US" altLang="ko-KR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금액</a:t>
                      </a:r>
                      <a:r>
                        <a:rPr lang="en-US" altLang="ko-KR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r>
                        <a:rPr lang="en-US" altLang="ko-KR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
3,060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r>
                        <a:rPr lang="en-US" altLang="ko-KR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
6,120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r>
                        <a:rPr lang="en-US" altLang="ko-KR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
6,120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r>
                        <a:rPr lang="en-US" altLang="ko-KR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</a:p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6,120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r>
                        <a:rPr lang="en-US" altLang="ko-KR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
6,120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135</a:t>
                      </a:r>
                      <a:r>
                        <a:rPr lang="en-US" altLang="ko-KR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
27,540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 계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</a:t>
                      </a:r>
                      <a:r>
                        <a:rPr lang="en-US" altLang="ko-KR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금액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r>
                        <a:rPr lang="en-US" altLang="ko-KR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
5,19</a:t>
                      </a:r>
                      <a:r>
                        <a:rPr lang="en-US" altLang="ko-KR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
10,380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en-US" altLang="ko-KR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
10,380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</a:t>
                      </a:r>
                      <a:r>
                        <a:rPr lang="en-US" altLang="ko-KR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
8,250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</a:t>
                      </a:r>
                      <a:r>
                        <a:rPr lang="en-US" altLang="ko-KR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
8,250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240</a:t>
                      </a:r>
                      <a:r>
                        <a:rPr lang="en-US" altLang="ko-KR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
42,450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‘</a:t>
                      </a:r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26년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小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r>
                        <a:rPr lang="en-US" altLang="ko-KR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
5,550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r>
                        <a:rPr lang="en-US" altLang="ko-KR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
5,550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 latinLnBrk="1"/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大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
7,950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r>
                        <a:rPr lang="en-US" altLang="ko-KR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
7,950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 계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</a:t>
                      </a:r>
                      <a:r>
                        <a:rPr lang="en-US" altLang="ko-KR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금액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en-US" altLang="ko-KR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
13,500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
13,500</a:t>
                      </a:r>
                      <a:endParaRPr lang="ko-KR" sz="105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증 감</a:t>
                      </a:r>
                      <a:endParaRPr lang="ko-KR" sz="105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금액(원)</a:t>
                      </a:r>
                      <a:endParaRPr lang="ko-KR" sz="105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5,190</a:t>
                      </a:r>
                      <a:endParaRPr lang="ko-KR" sz="105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-10,380</a:t>
                      </a:r>
                      <a:endParaRPr lang="ko-KR" sz="105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5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+13,500</a:t>
                      </a:r>
                      <a:endParaRPr lang="ko-KR" sz="105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5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5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5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5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5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5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5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5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389120" y="664768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9144" rIns="18288" bIns="9144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" y="234014"/>
            <a:ext cx="7113992" cy="233910"/>
          </a:xfrm>
          <a:prstGeom prst="rect">
            <a:avLst/>
          </a:prstGeom>
          <a:noFill/>
          <a:ln>
            <a:noFill/>
          </a:ln>
        </p:spPr>
        <p:txBody>
          <a:bodyPr wrap="square" lIns="36576" tIns="9144" rIns="18288" bIns="9144">
            <a:spAutoFit/>
          </a:bodyPr>
          <a:lstStyle/>
          <a:p>
            <a:r>
              <a:rPr sz="1400" b="1" dirty="0">
                <a:solidFill>
                  <a:srgbClr val="000000"/>
                </a:solidFill>
                <a:latin typeface="+mn-ea"/>
                <a:ea typeface="+mn-ea"/>
              </a:rPr>
              <a:t>[ </a:t>
            </a:r>
            <a:r>
              <a:rPr lang="ko-KR" altLang="en-US" sz="1400" b="1" dirty="0" err="1" smtClean="0">
                <a:solidFill>
                  <a:srgbClr val="000000"/>
                </a:solidFill>
                <a:latin typeface="+mn-ea"/>
                <a:ea typeface="+mn-ea"/>
              </a:rPr>
              <a:t>기안보고</a:t>
            </a:r>
            <a:r>
              <a:rPr lang="en-US" altLang="ko-KR" sz="1400" b="1" dirty="0" smtClean="0">
                <a:solidFill>
                  <a:srgbClr val="000000"/>
                </a:solidFill>
                <a:latin typeface="+mn-ea"/>
                <a:ea typeface="+mn-ea"/>
              </a:rPr>
              <a:t>_</a:t>
            </a:r>
            <a:r>
              <a:rPr lang="ko-KR" altLang="en-US" sz="1400" b="1" dirty="0" smtClean="0">
                <a:solidFill>
                  <a:srgbClr val="000000"/>
                </a:solidFill>
                <a:latin typeface="+mn-ea"/>
                <a:ea typeface="+mn-ea"/>
              </a:rPr>
              <a:t>생산</a:t>
            </a:r>
            <a:r>
              <a:rPr lang="en-US" altLang="ko-KR" sz="1400" b="1" dirty="0" smtClean="0">
                <a:solidFill>
                  <a:srgbClr val="000000"/>
                </a:solidFill>
                <a:latin typeface="+mn-ea"/>
                <a:ea typeface="+mn-ea"/>
              </a:rPr>
              <a:t>_</a:t>
            </a:r>
            <a:r>
              <a:rPr lang="ko-KR" altLang="en-US" sz="1400" b="1" dirty="0" smtClean="0">
                <a:solidFill>
                  <a:srgbClr val="000000"/>
                </a:solidFill>
                <a:latin typeface="+mn-ea"/>
                <a:ea typeface="+mn-ea"/>
              </a:rPr>
              <a:t>안정제 비닐 및 오염방지 비닐 구매</a:t>
            </a:r>
            <a:r>
              <a:rPr lang="en-US" altLang="ko-KR" sz="1400" b="1" dirty="0" smtClean="0">
                <a:solidFill>
                  <a:srgbClr val="000000"/>
                </a:solidFill>
                <a:latin typeface="+mn-ea"/>
                <a:ea typeface="+mn-ea"/>
              </a:rPr>
              <a:t>_</a:t>
            </a:r>
            <a:r>
              <a:rPr lang="ko-KR" altLang="en-US" sz="1400" b="1" dirty="0" smtClean="0">
                <a:solidFill>
                  <a:srgbClr val="000000"/>
                </a:solidFill>
                <a:latin typeface="+mn-ea"/>
                <a:ea typeface="+mn-ea"/>
              </a:rPr>
              <a:t>보고일 </a:t>
            </a:r>
            <a:r>
              <a:rPr lang="en-US" altLang="ko-KR" sz="1400" b="1" dirty="0" smtClean="0">
                <a:solidFill>
                  <a:srgbClr val="000000"/>
                </a:solidFill>
                <a:latin typeface="+mn-ea"/>
                <a:ea typeface="+mn-ea"/>
              </a:rPr>
              <a:t>: 5</a:t>
            </a:r>
            <a:r>
              <a:rPr lang="ko-KR" altLang="en-US" sz="1400" b="1" dirty="0" smtClean="0">
                <a:solidFill>
                  <a:srgbClr val="000000"/>
                </a:solidFill>
                <a:latin typeface="+mn-ea"/>
                <a:ea typeface="+mn-ea"/>
              </a:rPr>
              <a:t>월 </a:t>
            </a:r>
            <a:r>
              <a:rPr lang="en-US" altLang="ko-KR" sz="1400" b="1" dirty="0" smtClean="0">
                <a:solidFill>
                  <a:srgbClr val="000000"/>
                </a:solidFill>
                <a:latin typeface="+mn-ea"/>
                <a:ea typeface="+mn-ea"/>
              </a:rPr>
              <a:t>23</a:t>
            </a:r>
            <a:r>
              <a:rPr lang="ko-KR" altLang="en-US" sz="1400" b="1" dirty="0" smtClean="0">
                <a:solidFill>
                  <a:srgbClr val="000000"/>
                </a:solidFill>
                <a:latin typeface="+mn-ea"/>
                <a:ea typeface="+mn-ea"/>
              </a:rPr>
              <a:t>일 </a:t>
            </a:r>
            <a:r>
              <a:rPr lang="en-US" altLang="ko-KR" sz="1400" b="1" dirty="0" smtClean="0">
                <a:solidFill>
                  <a:srgbClr val="000000"/>
                </a:solidFill>
                <a:latin typeface="+mn-ea"/>
                <a:ea typeface="+mn-ea"/>
              </a:rPr>
              <a:t>]</a:t>
            </a:r>
            <a:endParaRPr sz="14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7133" y="765875"/>
            <a:ext cx="65379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■ 첨부</a:t>
            </a:r>
            <a:r>
              <a:rPr lang="en-US" altLang="ko-KR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1. ’25</a:t>
            </a:r>
            <a:r>
              <a:rPr lang="ko-KR" altLang="en-US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년 </a:t>
            </a:r>
            <a:r>
              <a:rPr lang="en-US" altLang="ko-KR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VS ’26</a:t>
            </a:r>
            <a:r>
              <a:rPr lang="ko-KR" altLang="en-US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년 안정제 비닐 월별 </a:t>
            </a:r>
            <a:r>
              <a:rPr lang="ko-KR" altLang="en-US" sz="1200" b="1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구매현황</a:t>
            </a:r>
            <a:r>
              <a:rPr lang="en-US" altLang="ko-KR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(</a:t>
            </a:r>
            <a:r>
              <a:rPr lang="ko-KR" altLang="en-US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수량</a:t>
            </a:r>
            <a:r>
              <a:rPr lang="en-US" altLang="ko-KR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/ </a:t>
            </a:r>
            <a:r>
              <a:rPr lang="ko-KR" altLang="en-US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금액 단위 </a:t>
            </a:r>
            <a:r>
              <a:rPr lang="en-US" altLang="ko-KR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lang="ko-KR" altLang="en-US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천</a:t>
            </a:r>
            <a:r>
              <a:rPr lang="en-US" altLang="ko-KR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)</a:t>
            </a:r>
            <a:r>
              <a:rPr lang="ko-KR" altLang="en-US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endParaRPr lang="ko-KR" altLang="en-US" sz="12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251523" y="4284218"/>
            <a:ext cx="86821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■ 결론</a:t>
            </a:r>
            <a:endParaRPr lang="en-US" altLang="ko-KR" sz="1200" dirty="0" smtClean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r>
              <a:rPr lang="en-US" altLang="ko-KR" sz="12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  - </a:t>
            </a:r>
            <a:r>
              <a:rPr lang="ko-KR" altLang="en-US" sz="12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안정제계량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비닐은 생산량에 비례해서 사용량이 증가하며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, ’25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년 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12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월 최종 구매 후 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‘26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년 첫 구매임</a:t>
            </a:r>
            <a:endParaRPr lang="en-US" altLang="ko-KR" sz="1200" dirty="0" smtClean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r>
              <a:rPr lang="en-US" altLang="ko-KR" sz="12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  - 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최근 발생한 미국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.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이란 전쟁으로 인하여 모든 원자재 단가 상승함</a:t>
            </a:r>
            <a:r>
              <a:rPr lang="en-US" altLang="ko-KR" sz="1200" b="1" dirty="0" smtClean="0">
                <a:solidFill>
                  <a:srgbClr val="FF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(</a:t>
            </a:r>
            <a:r>
              <a:rPr lang="ko-KR" altLang="en-US" sz="1200" b="1" dirty="0" err="1" smtClean="0">
                <a:solidFill>
                  <a:srgbClr val="FF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동일수량</a:t>
            </a:r>
            <a:r>
              <a:rPr lang="ko-KR" altLang="en-US" sz="1200" b="1" dirty="0" smtClean="0">
                <a:solidFill>
                  <a:srgbClr val="FF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구매 시 약 </a:t>
            </a:r>
            <a:r>
              <a:rPr lang="en-US" altLang="ko-KR" sz="1200" b="1" dirty="0" smtClean="0">
                <a:solidFill>
                  <a:srgbClr val="FF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310</a:t>
            </a:r>
            <a:r>
              <a:rPr lang="ko-KR" altLang="en-US" sz="1200" b="1" dirty="0" smtClean="0">
                <a:solidFill>
                  <a:srgbClr val="FF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만원 상승</a:t>
            </a:r>
            <a:r>
              <a:rPr lang="en-US" altLang="ko-KR" sz="1200" b="1" dirty="0" smtClean="0">
                <a:solidFill>
                  <a:srgbClr val="FF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)</a:t>
            </a:r>
          </a:p>
          <a:p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en-US" altLang="ko-KR" sz="1200" b="1" dirty="0" smtClean="0">
                <a:solidFill>
                  <a:srgbClr val="FF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  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36410</TotalTime>
  <Words>466</Words>
  <Application>Microsoft Office PowerPoint</Application>
  <PresentationFormat>화면 슬라이드 쇼(4:3)</PresentationFormat>
  <Paragraphs>152</Paragraphs>
  <Slides>2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1707</cp:revision>
  <cp:lastPrinted>2026-03-03T23:42:12Z</cp:lastPrinted>
  <dcterms:created xsi:type="dcterms:W3CDTF">2006-12-21T02:27:07Z</dcterms:created>
  <dcterms:modified xsi:type="dcterms:W3CDTF">2026-05-24T09:07:35Z</dcterms:modified>
</cp:coreProperties>
</file>