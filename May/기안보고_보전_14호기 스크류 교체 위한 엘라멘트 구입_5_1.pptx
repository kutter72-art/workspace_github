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7" r:id="rId9"/>
    <p:sldId id="578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705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6682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)_#14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호기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스크류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교체를 위한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엘라멘트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구매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5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193041"/>
              </p:ext>
            </p:extLst>
          </p:nvPr>
        </p:nvGraphicFramePr>
        <p:xfrm>
          <a:off x="9423" y="661007"/>
          <a:ext cx="910850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189399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60388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25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수리내용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200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#14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호기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스크류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교체를 위한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엘라멘트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구매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개요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#14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호기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스크류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엘라멘트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교체주기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도래로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신규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엘라멘트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구매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원인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‘24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년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교체로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스크류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교체계획에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의거함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교체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엘라멘트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72mm/ 14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쌍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총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28ea)</a:t>
                      </a: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재질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SKD11 HRC 57~58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■ 첨부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1.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엘라멘트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구매 상세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(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유니플러스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         (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견적금액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: 5,258,000)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첨부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2.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엘라멘트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재고 현황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4,900,000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제작 소요기간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약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30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일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7544" y="3146987"/>
            <a:ext cx="2880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▶ 첨부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1. 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엘라멘트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구매 </a:t>
            </a:r>
            <a:r>
              <a:rPr lang="ko-KR" altLang="en-US" sz="12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상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세</a:t>
            </a:r>
            <a:endParaRPr lang="ko-KR" altLang="en-US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441781"/>
            <a:ext cx="6614733" cy="192802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5767556"/>
            <a:ext cx="7205102" cy="57606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467544" y="5481130"/>
            <a:ext cx="2880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▶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첨부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2. 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엘라멘트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재고현황</a:t>
            </a:r>
            <a:endParaRPr lang="ko-KR" altLang="en-US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6682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)_#14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호기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스크류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교체를 위한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엘라멘트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구매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5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67544" y="808411"/>
            <a:ext cx="2880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 </a:t>
            </a:r>
            <a:r>
              <a:rPr lang="en-US" altLang="ko-KR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SKD11 HRC 57~58</a:t>
            </a:r>
            <a:r>
              <a:rPr lang="ko-KR" altLang="en-US" sz="12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200" b="1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재질분석</a:t>
            </a:r>
            <a:endParaRPr lang="ko-KR" altLang="en-US" sz="1200" b="1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683568" y="1092800"/>
            <a:ext cx="799288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 smtClean="0">
                <a:latin typeface="+mj-ea"/>
                <a:ea typeface="+mj-ea"/>
              </a:rPr>
              <a:t>[ SKD-11 </a:t>
            </a:r>
            <a:r>
              <a:rPr lang="en-US" altLang="ko-KR" sz="1200" b="1" dirty="0">
                <a:latin typeface="+mj-ea"/>
                <a:ea typeface="+mj-ea"/>
              </a:rPr>
              <a:t>(HRC 57~58) </a:t>
            </a:r>
            <a:r>
              <a:rPr lang="en-US" altLang="ko-KR" sz="1200" b="1" dirty="0" smtClean="0">
                <a:latin typeface="+mj-ea"/>
                <a:ea typeface="+mj-ea"/>
              </a:rPr>
              <a:t>]</a:t>
            </a:r>
            <a:endParaRPr lang="ko-KR" altLang="en-US" sz="1200" b="1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 err="1">
                <a:latin typeface="+mj-ea"/>
                <a:ea typeface="+mj-ea"/>
              </a:rPr>
              <a:t>압출기</a:t>
            </a:r>
            <a:r>
              <a:rPr lang="ko-KR" altLang="en-US" sz="1200" dirty="0">
                <a:latin typeface="+mj-ea"/>
                <a:ea typeface="+mj-ea"/>
              </a:rPr>
              <a:t> </a:t>
            </a:r>
            <a:r>
              <a:rPr lang="ko-KR" altLang="en-US" sz="1200" dirty="0" err="1">
                <a:latin typeface="+mj-ea"/>
                <a:ea typeface="+mj-ea"/>
              </a:rPr>
              <a:t>스크류에</a:t>
            </a:r>
            <a:r>
              <a:rPr lang="ko-KR" altLang="en-US" sz="1200" dirty="0">
                <a:latin typeface="+mj-ea"/>
                <a:ea typeface="+mj-ea"/>
              </a:rPr>
              <a:t> 사용된 </a:t>
            </a:r>
            <a:r>
              <a:rPr lang="en-US" altLang="ko-KR" sz="1200" b="1" dirty="0">
                <a:latin typeface="+mj-ea"/>
                <a:ea typeface="+mj-ea"/>
              </a:rPr>
              <a:t>SKD-11</a:t>
            </a:r>
            <a:r>
              <a:rPr lang="ko-KR" altLang="en-US" sz="1200" dirty="0">
                <a:latin typeface="+mj-ea"/>
                <a:ea typeface="+mj-ea"/>
              </a:rPr>
              <a:t>은 </a:t>
            </a:r>
            <a:r>
              <a:rPr lang="ko-KR" altLang="en-US" sz="1200" b="1" dirty="0" err="1">
                <a:solidFill>
                  <a:srgbClr val="0000CC"/>
                </a:solidFill>
                <a:latin typeface="+mj-ea"/>
                <a:ea typeface="+mj-ea"/>
              </a:rPr>
              <a:t>고탄소</a:t>
            </a:r>
            <a:r>
              <a:rPr lang="en-US" altLang="ko-KR" sz="1200" b="1" dirty="0">
                <a:solidFill>
                  <a:srgbClr val="0000CC"/>
                </a:solidFill>
                <a:latin typeface="+mj-ea"/>
                <a:ea typeface="+mj-ea"/>
              </a:rPr>
              <a:t>·</a:t>
            </a:r>
            <a:r>
              <a:rPr lang="ko-KR" altLang="en-US" sz="1200" b="1" dirty="0" err="1">
                <a:solidFill>
                  <a:srgbClr val="0000CC"/>
                </a:solidFill>
                <a:latin typeface="+mj-ea"/>
                <a:ea typeface="+mj-ea"/>
              </a:rPr>
              <a:t>고크롬</a:t>
            </a:r>
            <a:r>
              <a:rPr lang="ko-KR" altLang="en-US" sz="1200" b="1" dirty="0">
                <a:solidFill>
                  <a:srgbClr val="0000CC"/>
                </a:solidFill>
                <a:latin typeface="+mj-ea"/>
                <a:ea typeface="+mj-ea"/>
              </a:rPr>
              <a:t> 합금 </a:t>
            </a:r>
            <a:r>
              <a:rPr lang="ko-KR" altLang="en-US" sz="1200" b="1" dirty="0" err="1">
                <a:solidFill>
                  <a:srgbClr val="0000CC"/>
                </a:solidFill>
                <a:latin typeface="+mj-ea"/>
                <a:ea typeface="+mj-ea"/>
              </a:rPr>
              <a:t>공구강</a:t>
            </a:r>
            <a:r>
              <a:rPr lang="ko-KR" altLang="en-US" sz="1200" dirty="0" err="1">
                <a:latin typeface="+mj-ea"/>
                <a:ea typeface="+mj-ea"/>
              </a:rPr>
              <a:t>으로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내마모성과 강도가 매우 뛰어난 </a:t>
            </a:r>
            <a:r>
              <a:rPr lang="ko-KR" altLang="en-US" sz="1200" dirty="0" smtClean="0">
                <a:latin typeface="+mj-ea"/>
                <a:ea typeface="+mj-ea"/>
              </a:rPr>
              <a:t>소재</a:t>
            </a:r>
            <a:endParaRPr lang="en-US" altLang="ko-KR" sz="12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+mj-ea"/>
                <a:ea typeface="+mj-ea"/>
              </a:rPr>
              <a:t>1. </a:t>
            </a:r>
            <a:r>
              <a:rPr lang="ko-KR" altLang="en-US" sz="1200" b="1" dirty="0">
                <a:latin typeface="+mj-ea"/>
                <a:ea typeface="+mj-ea"/>
              </a:rPr>
              <a:t>주요 특징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 smtClean="0">
                <a:latin typeface="+mj-ea"/>
                <a:ea typeface="+mj-ea"/>
              </a:rPr>
              <a:t>   </a:t>
            </a:r>
            <a:r>
              <a:rPr lang="en-US" altLang="ko-KR" sz="1200" b="1" dirty="0" smtClean="0">
                <a:latin typeface="+mj-ea"/>
                <a:ea typeface="+mj-ea"/>
              </a:rPr>
              <a:t>- </a:t>
            </a:r>
            <a:r>
              <a:rPr lang="ko-KR" altLang="en-US" sz="1200" b="1" dirty="0" err="1" smtClean="0">
                <a:latin typeface="+mj-ea"/>
                <a:ea typeface="+mj-ea"/>
              </a:rPr>
              <a:t>고내마모성</a:t>
            </a:r>
            <a:r>
              <a:rPr lang="en-US" altLang="ko-KR" sz="1200" b="1" dirty="0">
                <a:latin typeface="+mj-ea"/>
                <a:ea typeface="+mj-ea"/>
              </a:rPr>
              <a:t>:</a:t>
            </a:r>
            <a:r>
              <a:rPr lang="ko-KR" altLang="en-US" sz="1200" dirty="0">
                <a:latin typeface="+mj-ea"/>
                <a:ea typeface="+mj-ea"/>
              </a:rPr>
              <a:t> 크롬</a:t>
            </a:r>
            <a:r>
              <a:rPr lang="en-US" altLang="ko-KR" sz="1200" dirty="0">
                <a:latin typeface="+mj-ea"/>
                <a:ea typeface="+mj-ea"/>
              </a:rPr>
              <a:t>(Cr)</a:t>
            </a:r>
            <a:r>
              <a:rPr lang="ko-KR" altLang="en-US" sz="1200" dirty="0">
                <a:latin typeface="+mj-ea"/>
                <a:ea typeface="+mj-ea"/>
              </a:rPr>
              <a:t>과 탄소</a:t>
            </a:r>
            <a:r>
              <a:rPr lang="en-US" altLang="ko-KR" sz="1200" dirty="0">
                <a:latin typeface="+mj-ea"/>
                <a:ea typeface="+mj-ea"/>
              </a:rPr>
              <a:t>(C) </a:t>
            </a:r>
            <a:r>
              <a:rPr lang="ko-KR" altLang="en-US" sz="1200" dirty="0">
                <a:latin typeface="+mj-ea"/>
                <a:ea typeface="+mj-ea"/>
              </a:rPr>
              <a:t>함량이 높아 단단한 탄화물을 형성하며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압출 시 발생하는 물리적 마찰에 </a:t>
            </a:r>
            <a:r>
              <a:rPr lang="ko-KR" altLang="en-US" sz="1200" dirty="0" smtClean="0">
                <a:latin typeface="+mj-ea"/>
                <a:ea typeface="+mj-ea"/>
              </a:rPr>
              <a:t>강함</a:t>
            </a:r>
            <a:endParaRPr lang="en-US" altLang="ko-KR" sz="12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 smtClean="0">
                <a:latin typeface="+mj-ea"/>
                <a:ea typeface="+mj-ea"/>
              </a:rPr>
              <a:t>   </a:t>
            </a:r>
            <a:r>
              <a:rPr lang="en-US" altLang="ko-KR" sz="1200" b="1" dirty="0" smtClean="0">
                <a:latin typeface="+mj-ea"/>
                <a:ea typeface="+mj-ea"/>
              </a:rPr>
              <a:t>- </a:t>
            </a:r>
            <a:r>
              <a:rPr lang="ko-KR" altLang="en-US" sz="1200" b="1" dirty="0" smtClean="0">
                <a:latin typeface="+mj-ea"/>
                <a:ea typeface="+mj-ea"/>
              </a:rPr>
              <a:t>열처리 </a:t>
            </a:r>
            <a:r>
              <a:rPr lang="ko-KR" altLang="en-US" sz="1200" b="1" dirty="0">
                <a:latin typeface="+mj-ea"/>
                <a:ea typeface="+mj-ea"/>
              </a:rPr>
              <a:t>안정성</a:t>
            </a:r>
            <a:r>
              <a:rPr lang="en-US" altLang="ko-KR" sz="1200" b="1" dirty="0">
                <a:latin typeface="+mj-ea"/>
                <a:ea typeface="+mj-ea"/>
              </a:rPr>
              <a:t>:</a:t>
            </a:r>
            <a:r>
              <a:rPr lang="ko-KR" altLang="en-US" sz="1200" dirty="0">
                <a:latin typeface="+mj-ea"/>
                <a:ea typeface="+mj-ea"/>
              </a:rPr>
              <a:t> 열처리 시 변형이 적어 정밀한 </a:t>
            </a:r>
            <a:r>
              <a:rPr lang="ko-KR" altLang="en-US" sz="1200" dirty="0" err="1">
                <a:latin typeface="+mj-ea"/>
                <a:ea typeface="+mj-ea"/>
              </a:rPr>
              <a:t>스크류</a:t>
            </a:r>
            <a:r>
              <a:rPr lang="ko-KR" altLang="en-US" sz="1200" dirty="0">
                <a:latin typeface="+mj-ea"/>
                <a:ea typeface="+mj-ea"/>
              </a:rPr>
              <a:t> 형상을 유지하기 </a:t>
            </a:r>
            <a:r>
              <a:rPr lang="ko-KR" altLang="en-US" sz="1200" dirty="0" smtClean="0">
                <a:latin typeface="+mj-ea"/>
                <a:ea typeface="+mj-ea"/>
              </a:rPr>
              <a:t>유리</a:t>
            </a:r>
            <a:endParaRPr lang="en-US" altLang="ko-KR" sz="1200" dirty="0" smtClean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 smtClean="0">
                <a:latin typeface="+mj-ea"/>
                <a:ea typeface="+mj-ea"/>
              </a:rPr>
              <a:t>   </a:t>
            </a:r>
            <a:r>
              <a:rPr lang="en-US" altLang="ko-KR" sz="1200" b="1" dirty="0" smtClean="0">
                <a:latin typeface="+mj-ea"/>
                <a:ea typeface="+mj-ea"/>
              </a:rPr>
              <a:t>- </a:t>
            </a:r>
            <a:r>
              <a:rPr lang="ko-KR" altLang="en-US" sz="1200" b="1" dirty="0" smtClean="0">
                <a:latin typeface="+mj-ea"/>
                <a:ea typeface="+mj-ea"/>
              </a:rPr>
              <a:t>강인성</a:t>
            </a:r>
            <a:r>
              <a:rPr lang="en-US" altLang="ko-KR" sz="1200" b="1" dirty="0">
                <a:latin typeface="+mj-ea"/>
                <a:ea typeface="+mj-ea"/>
              </a:rPr>
              <a:t>:</a:t>
            </a:r>
            <a:r>
              <a:rPr lang="ko-KR" altLang="en-US" sz="1200" dirty="0">
                <a:latin typeface="+mj-ea"/>
                <a:ea typeface="+mj-ea"/>
              </a:rPr>
              <a:t> 일반적인 </a:t>
            </a:r>
            <a:r>
              <a:rPr lang="ko-KR" altLang="en-US" sz="1200" dirty="0" err="1">
                <a:latin typeface="+mj-ea"/>
                <a:ea typeface="+mj-ea"/>
              </a:rPr>
              <a:t>공구강에</a:t>
            </a:r>
            <a:r>
              <a:rPr lang="ko-KR" altLang="en-US" sz="1200" dirty="0">
                <a:latin typeface="+mj-ea"/>
                <a:ea typeface="+mj-ea"/>
              </a:rPr>
              <a:t> 비해 충격에 견디는 힘이 좋아 </a:t>
            </a:r>
            <a:r>
              <a:rPr lang="ko-KR" altLang="en-US" sz="1200" dirty="0" err="1">
                <a:latin typeface="+mj-ea"/>
                <a:ea typeface="+mj-ea"/>
              </a:rPr>
              <a:t>스크류의</a:t>
            </a:r>
            <a:r>
              <a:rPr lang="ko-KR" altLang="en-US" sz="1200" dirty="0">
                <a:latin typeface="+mj-ea"/>
                <a:ea typeface="+mj-ea"/>
              </a:rPr>
              <a:t> 파손 위험을 </a:t>
            </a:r>
            <a:r>
              <a:rPr lang="ko-KR" altLang="en-US" sz="1200" dirty="0" err="1" smtClean="0">
                <a:latin typeface="+mj-ea"/>
                <a:ea typeface="+mj-ea"/>
              </a:rPr>
              <a:t>줄여줌</a:t>
            </a:r>
            <a:endParaRPr lang="en-US" altLang="ko-KR" sz="1200" dirty="0" smtClean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+mj-ea"/>
                <a:ea typeface="+mj-ea"/>
              </a:rPr>
              <a:t>2. </a:t>
            </a:r>
            <a:r>
              <a:rPr lang="ko-KR" altLang="en-US" sz="1200" b="1" dirty="0">
                <a:latin typeface="+mj-ea"/>
                <a:ea typeface="+mj-ea"/>
              </a:rPr>
              <a:t>경도 </a:t>
            </a:r>
            <a:r>
              <a:rPr lang="en-US" altLang="ko-KR" sz="1200" b="1" dirty="0">
                <a:latin typeface="+mj-ea"/>
                <a:ea typeface="+mj-ea"/>
              </a:rPr>
              <a:t>(HRC 57~58)</a:t>
            </a:r>
            <a:r>
              <a:rPr lang="ko-KR" altLang="en-US" sz="1200" b="1" dirty="0">
                <a:latin typeface="+mj-ea"/>
                <a:ea typeface="+mj-ea"/>
              </a:rPr>
              <a:t>의 </a:t>
            </a:r>
            <a:r>
              <a:rPr lang="ko-KR" altLang="en-US" sz="1200" b="1" dirty="0" smtClean="0">
                <a:latin typeface="+mj-ea"/>
                <a:ea typeface="+mj-ea"/>
              </a:rPr>
              <a:t>의미 </a:t>
            </a:r>
            <a:endParaRPr lang="ko-KR" altLang="en-US" sz="1200" b="1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 smtClean="0">
                <a:latin typeface="+mj-ea"/>
                <a:ea typeface="+mj-ea"/>
              </a:rPr>
              <a:t>   </a:t>
            </a:r>
            <a:r>
              <a:rPr lang="en-US" altLang="ko-KR" sz="1200" b="1" dirty="0" smtClean="0">
                <a:latin typeface="+mj-ea"/>
                <a:ea typeface="+mj-ea"/>
              </a:rPr>
              <a:t>- </a:t>
            </a:r>
            <a:r>
              <a:rPr lang="ko-KR" altLang="en-US" sz="1200" b="1" dirty="0" smtClean="0">
                <a:latin typeface="+mj-ea"/>
                <a:ea typeface="+mj-ea"/>
              </a:rPr>
              <a:t>수준</a:t>
            </a:r>
            <a:r>
              <a:rPr lang="en-US" altLang="ko-KR" sz="1200" b="1" dirty="0">
                <a:latin typeface="+mj-ea"/>
                <a:ea typeface="+mj-ea"/>
              </a:rPr>
              <a:t>:</a:t>
            </a:r>
            <a:r>
              <a:rPr lang="ko-KR" altLang="en-US" sz="1200" dirty="0">
                <a:latin typeface="+mj-ea"/>
                <a:ea typeface="+mj-ea"/>
              </a:rPr>
              <a:t> 매우 높은 경도에 속하며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금속 </a:t>
            </a:r>
            <a:r>
              <a:rPr lang="ko-KR" altLang="en-US" sz="1200" dirty="0" err="1">
                <a:latin typeface="+mj-ea"/>
                <a:ea typeface="+mj-ea"/>
              </a:rPr>
              <a:t>절삭용</a:t>
            </a:r>
            <a:r>
              <a:rPr lang="ko-KR" altLang="en-US" sz="1200" dirty="0">
                <a:latin typeface="+mj-ea"/>
                <a:ea typeface="+mj-ea"/>
              </a:rPr>
              <a:t> 공구와 유사한 </a:t>
            </a:r>
            <a:r>
              <a:rPr lang="ko-KR" altLang="en-US" sz="1200" dirty="0" smtClean="0">
                <a:latin typeface="+mj-ea"/>
                <a:ea typeface="+mj-ea"/>
              </a:rPr>
              <a:t>수준</a:t>
            </a:r>
            <a:endParaRPr lang="en-US" altLang="ko-KR" sz="12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 smtClean="0">
                <a:latin typeface="+mj-ea"/>
                <a:ea typeface="+mj-ea"/>
              </a:rPr>
              <a:t>   </a:t>
            </a:r>
            <a:r>
              <a:rPr lang="en-US" altLang="ko-KR" sz="1200" b="1" dirty="0" smtClean="0">
                <a:latin typeface="+mj-ea"/>
                <a:ea typeface="+mj-ea"/>
              </a:rPr>
              <a:t>- </a:t>
            </a:r>
            <a:r>
              <a:rPr lang="ko-KR" altLang="en-US" sz="1200" b="1" dirty="0" smtClean="0">
                <a:latin typeface="+mj-ea"/>
                <a:ea typeface="+mj-ea"/>
              </a:rPr>
              <a:t>효과</a:t>
            </a:r>
            <a:r>
              <a:rPr lang="en-US" altLang="ko-KR" sz="1200" b="1" dirty="0">
                <a:latin typeface="+mj-ea"/>
                <a:ea typeface="+mj-ea"/>
              </a:rPr>
              <a:t>:</a:t>
            </a:r>
            <a:r>
              <a:rPr lang="ko-KR" altLang="en-US" sz="1200" dirty="0">
                <a:latin typeface="+mj-ea"/>
                <a:ea typeface="+mj-ea"/>
              </a:rPr>
              <a:t> 수지 내의 </a:t>
            </a:r>
            <a:r>
              <a:rPr lang="ko-KR" altLang="en-US" sz="1200" dirty="0" err="1">
                <a:latin typeface="+mj-ea"/>
                <a:ea typeface="+mj-ea"/>
              </a:rPr>
              <a:t>충진제</a:t>
            </a:r>
            <a:r>
              <a:rPr lang="en-US" altLang="ko-KR" sz="1200" dirty="0">
                <a:latin typeface="+mj-ea"/>
                <a:ea typeface="+mj-ea"/>
              </a:rPr>
              <a:t>(Talc, Glass Fiber </a:t>
            </a:r>
            <a:r>
              <a:rPr lang="ko-KR" altLang="en-US" sz="1200" dirty="0">
                <a:latin typeface="+mj-ea"/>
                <a:ea typeface="+mj-ea"/>
              </a:rPr>
              <a:t>등</a:t>
            </a:r>
            <a:r>
              <a:rPr lang="en-US" altLang="ko-KR" sz="1200" dirty="0">
                <a:latin typeface="+mj-ea"/>
                <a:ea typeface="+mj-ea"/>
              </a:rPr>
              <a:t>)</a:t>
            </a:r>
            <a:r>
              <a:rPr lang="ko-KR" altLang="en-US" sz="1200" dirty="0">
                <a:latin typeface="+mj-ea"/>
                <a:ea typeface="+mj-ea"/>
              </a:rPr>
              <a:t>에 의한 마찰 손상을 효과적으로 </a:t>
            </a:r>
            <a:r>
              <a:rPr lang="ko-KR" altLang="en-US" sz="1200" dirty="0" smtClean="0">
                <a:latin typeface="+mj-ea"/>
                <a:ea typeface="+mj-ea"/>
              </a:rPr>
              <a:t>방지</a:t>
            </a:r>
            <a:endParaRPr lang="en-US" altLang="ko-KR" sz="12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 smtClean="0">
                <a:latin typeface="+mj-ea"/>
                <a:ea typeface="+mj-ea"/>
              </a:rPr>
              <a:t>   </a:t>
            </a:r>
            <a:r>
              <a:rPr lang="en-US" altLang="ko-KR" sz="1200" b="1" dirty="0" smtClean="0">
                <a:latin typeface="+mj-ea"/>
                <a:ea typeface="+mj-ea"/>
              </a:rPr>
              <a:t>- </a:t>
            </a:r>
            <a:r>
              <a:rPr lang="ko-KR" altLang="en-US" sz="1200" b="1" dirty="0" smtClean="0">
                <a:latin typeface="+mj-ea"/>
                <a:ea typeface="+mj-ea"/>
              </a:rPr>
              <a:t>주의</a:t>
            </a:r>
            <a:r>
              <a:rPr lang="en-US" altLang="ko-KR" sz="1200" b="1" dirty="0">
                <a:latin typeface="+mj-ea"/>
                <a:ea typeface="+mj-ea"/>
              </a:rPr>
              <a:t>:</a:t>
            </a:r>
            <a:r>
              <a:rPr lang="ko-KR" altLang="en-US" sz="1200" dirty="0">
                <a:latin typeface="+mj-ea"/>
                <a:ea typeface="+mj-ea"/>
              </a:rPr>
              <a:t> 경도가 높을수록 내마모성은 좋아지지만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과도한 토크나 이물질 혼입 시 </a:t>
            </a:r>
            <a:r>
              <a:rPr lang="ko-KR" altLang="en-US" sz="1200" dirty="0" err="1">
                <a:solidFill>
                  <a:srgbClr val="FF0000"/>
                </a:solidFill>
                <a:latin typeface="+mj-ea"/>
                <a:ea typeface="+mj-ea"/>
              </a:rPr>
              <a:t>취성</a:t>
            </a: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깨짐 성질</a:t>
            </a: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)</a:t>
            </a:r>
            <a:r>
              <a:rPr lang="ko-KR" altLang="en-US" sz="1200" dirty="0">
                <a:latin typeface="+mj-ea"/>
                <a:ea typeface="+mj-ea"/>
              </a:rPr>
              <a:t>이 </a:t>
            </a:r>
            <a:endParaRPr lang="en-US" altLang="ko-KR" sz="1200" dirty="0" smtClean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j-ea"/>
                <a:ea typeface="+mj-ea"/>
              </a:rPr>
              <a:t> </a:t>
            </a:r>
            <a:r>
              <a:rPr lang="en-US" altLang="ko-KR" sz="1200" dirty="0" smtClean="0">
                <a:latin typeface="+mj-ea"/>
                <a:ea typeface="+mj-ea"/>
              </a:rPr>
              <a:t>            </a:t>
            </a:r>
            <a:r>
              <a:rPr lang="ko-KR" altLang="en-US" sz="1200" dirty="0" smtClean="0">
                <a:latin typeface="+mj-ea"/>
                <a:ea typeface="+mj-ea"/>
              </a:rPr>
              <a:t>발생할 </a:t>
            </a:r>
            <a:r>
              <a:rPr lang="ko-KR" altLang="en-US" sz="1200" dirty="0">
                <a:latin typeface="+mj-ea"/>
                <a:ea typeface="+mj-ea"/>
              </a:rPr>
              <a:t>수 있으므로 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운전 시 급격한 부하를 </a:t>
            </a:r>
            <a:r>
              <a:rPr lang="ko-KR" altLang="en-US" sz="1200" dirty="0" smtClean="0">
                <a:solidFill>
                  <a:srgbClr val="FF0000"/>
                </a:solidFill>
                <a:latin typeface="+mj-ea"/>
                <a:ea typeface="+mj-ea"/>
              </a:rPr>
              <a:t>피해야 함</a:t>
            </a:r>
            <a:endParaRPr lang="en-US" altLang="ko-KR" sz="12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48398344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36311</TotalTime>
  <Words>315</Words>
  <Application>Microsoft Office PowerPoint</Application>
  <PresentationFormat>화면 슬라이드 쇼(4:3)</PresentationFormat>
  <Paragraphs>41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1694</cp:revision>
  <cp:lastPrinted>2026-03-03T23:42:12Z</cp:lastPrinted>
  <dcterms:created xsi:type="dcterms:W3CDTF">2006-12-21T02:27:07Z</dcterms:created>
  <dcterms:modified xsi:type="dcterms:W3CDTF">2026-05-01T13:32:55Z</dcterms:modified>
</cp:coreProperties>
</file>