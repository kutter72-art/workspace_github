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0"/>
  </p:notesMasterIdLst>
  <p:handoutMasterIdLst>
    <p:handoutMasterId r:id="rId11"/>
  </p:handoutMasterIdLst>
  <p:sldIdLst>
    <p:sldId id="258" r:id="rId2"/>
    <p:sldId id="418" r:id="rId3"/>
    <p:sldId id="419" r:id="rId4"/>
    <p:sldId id="428" r:id="rId5"/>
    <p:sldId id="421" r:id="rId6"/>
    <p:sldId id="423" r:id="rId7"/>
    <p:sldId id="427" r:id="rId8"/>
    <p:sldId id="426" r:id="rId9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B9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1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9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0BAF1-489E-4E83-B8F7-7AC750AFF01F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9" y="9440864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D20B6-6E4C-4512-9208-23C12D7709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1264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6T05:46:29.620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1 0,'23'0'172,"1"0"-172,22 0 16,-22 0-16,-1 0 15,0 0-15,24 0 0,-24 0 0,0 0 16,1 0-16,22 0 0,1 0 0,-24 0 16,47 0-16,-47 0 0,47 0 0,-46 0 15,46 0-15,-24 0 0,24 0 16,-47 0-16,47 0 0,-46 0 0,22 0 16,-23 0-16,1 0 0,-1 0 0,24 0 0,-24 0 15,0 0-15,1 0 0,-1 0 16,0 0-16,0 0 0,1 0 15,-1 0-15,0 0 16,1 0-16,-1 0 16,0 0 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6T05:46:35.620"/>
    </inkml:context>
    <inkml:brush xml:id="br0">
      <inkml:brushProperty name="width" value="0.26667" units="cm"/>
      <inkml:brushProperty name="height" value="0.53333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0,'23'0'187,"1"0"-187,-1 0 16,0 0-16,24 0 0,-24 0 0,24 0 15,-1 0-15,-22 0 16,-1 0-16,24 0 0,-24 0 16,0 0-16,0 0 15,1 0-15,-1 0 16,0 0-1,1 0-15,-1 0 16,0 0-16,1 0 16,-1 0-16,0 0 0,1 0 15,-1 0-15,0 0 0,0 0 16,1 0 0,-1 0-1,0 0-15,1 0 16,-1 0-1,0 0 17,1 0-17,-1 0-15,0 0 16,0 0 0,1 0-1,22 0 32,-22 0-47,-1 0 31,0 0-31,1 0 47,-1 0 0,0 0 62,0 0-93,1 0 15,-1 0 16,0 0 31,1 0-78,-1 0 63,0 0 109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7T08:11:00.366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0 0,'46'0'250,"1"0"-234,-24 0-16,0 0 0,1 0 0,22 0 15,-22 0-15,22 0 0,-22 0 0,-1 0 16,0 0-16,24 0 0,-24 0 16,24 0-16,-24 0 0,24 0 15,22 0-15,-45 0 16,-1 0-16,0 0 0,24 0 0,-24 0 16,24 0-16,-24 0 0,24 0 15,-1 0-15,-22 0 0,22 0 16,-22 0-16,-1 0 0,0 0 0,1 0 15,22 0-15,-23 0 16,24 0 0,-24 0-16,1 0 0,22 0 31,-22 0-31,-1 0 0,0 0 16,0 0-16,24 0 15,-24 0 1,1 0-16,-1 0 15,0 0-15,1 0 16,-1 0 0,0 0-16,0 0 15,1 0-15,-1 0 32,0 0-17,1 0 1,-1 0 15,0 0-15,1 0-1,-1 0 1,24 0 0,-1 0-16,-23 0 15,24 0 1,0 0-16,-24 0 15,0 0-15,1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8T00:29:53.27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70 0,'23'0'219,"24"-23"-219,0 23 16,-24 0-16,47 0 15,-47 0-15,47-24 0,-47 24 0,47 0 16,-23-23-16,46 23 0,-23 0 16,-47 0-16,24 0 0,46 0 0,-70 0 15,47 0-15,0 0 0,-47 0 0,47 0 16,-46 0-16,46 0 0,-47 0 0,47 0 15,-24 0-15,71 0 16,-94 0-16,47 0 0,-47 0 0,24 0 0,0 0 16,-1 0-16,-22 0 0,45 0 15,-45 0-15,22 0 0,-22 0 0,-1 0 16,24 0-16,-24 0 0,24 0 0,-24 0 16,23 0-16,-22 0 0,22 0 15,1 0-15,-24 0 0,1 0 16,-1 0-16,0 0 0,0 0 15,1 0-15,-1 0 0,0 0 16,1 0-16,-1 0 16,0 0-16,1 0 0,-1 0 15,0 0-15,0 0 16,1 0-16,-1 0 0,24 0 0,-24 0 16,0 0-16,1 0 15,-1 0-15,0 0 0,0 0 0,1 0 0,-1 0 16,0 0-1,1 0 1,-1 0 15,0 0-15,1 0 0,-1 0-16,0 0 15,1 0 1,-1 0-1,0 0 1,0 0-16,1 0 47,-1 0-31,0 0 15,1 0-31,-1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8T00:30:00.542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0 0,'23'0'156,"0"0"-156,1 0 0,45 0 16,-22 0-16,70 0 0,-48 0 15,-22 0-15,140 0 0,-118 0 0,118 23 0,-94-23 16,117 0-16,-94 0 0,117 0 0,-139 0 15,162 0-15,-233 0 0,117 0 0,-24 0 0,24 23 16,47-23-16,-71 0 0,-23 0 16,94 0-16,-47 0 0,-47 0 0,-23 24 0,70-24 15,-70 0-15,-1 0 0,25 0 16,-71 0-16,93 0 0,-69 0 0,46 0 0,-46 0 16,69 0-16,-69 0 0,70 0 0,-71 0 15,71 0-15,-71 0 0,1 0 16,46 0-16,-46 0 0,46 0 0,-47 0 15,48 0-15,-48 0 0,48 0 0,-48 0 16,47 0-16,-69 0 0,-1 0 0,47 0 16,-47 0-16,47 0 0,-23 0 0,-1 0 15,1 0-15,-1 0 16,1 23-16,0-23 0,-1 0 16,1 0-16,0 0 0,22 0 15,1 0-15,-46 0 16,22 0-16,-22 0 0,22 0 0,24 0 0,-47 0 15,24 0-15,-24 0 0,47 0 0,-47 0 16,1 0-16,22 0 0,1 0 0,-24 0 16,1 0-16,45 0 0,-45 0 0,22 0 15,-22 0-15,46 0 16,-47 0-16,47 0 0,-24 0 16,24 0-16,-46 0 0,46 0 0,-24 0 15,24 0-15,-47 0 0,24 0 0,23 0 16,-24 0-16,24 0 0,-46 0 0,-1 0 15,47 0-15,-47 0 0,47 0 0,-23 0 16,-1 0-16,-22 0 0,-1 0 0,47 0 16,-47 0-16,47 0 0,-47 0 0,47 0 15,-46 0-15,22 0 0,1 0 0,-24 0 16,47 0-16,-47 0 0,47 0 0,-23 0 16,-24 0-16,47 0 0,-47 0 0,24 0 15,-24 0-15,24 0 0,-24 0 0,0 0 16,24 0-16,0 0 0,-24 0 15,0 0-15,1 0 0,-1 0 16,0 0-16,0 0 16,1 0-16,-1 0 15,0 0-15,1 0 16,-1 0 0,0 0-16,1 0 15,-1 0-15,0 0 16,0 0-16,1 0 15,-1 0 1,0 0-16,1 0 16,-1 0-1,0 0 1,1 0-16,-1 0 0,0 0 16,1 0-16,-1 0 15,0 0-15,0 0 16,1 0-1,-1 0-15,0 0 16,1 0-16,22 0 16,-22 0-1,-1 0-15,0 0 0,0 0 16,1 0-16,-1 0 0,24 0 16,-24 0-16,24 0 0,-24 0 15,23 0-15,-22 0 0,22 0 16,-22 0-16,-1 0 0,0 0 15,1 0-15,-1 0 16,0 0 0,1 0-1,-1 0 32,0 0-31,0 0-1,1 0 1,-1 0 78,0 0-79,1 0 1,-1 0 0,70-23 15,-70 23-15,1 0-1,-1 0-15,0 0 63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8T00:30:19.432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0 0,'46'0'172,"-22"0"-157,-1 0-15,0 0 16,1 0-16,-1 0 0,0 0 16,0 0-16,1 0 0,-1 0 0,47 0 15,-47 0-15,1 0 0,45 0 16,-45 0-16,46 0 0,-24 0 0,47 0 16,-46 0-16,-24 0 0,71 0 0,-48 0 15,47 0-15,-46 0 0,23 0 0,0 0 16,-47 0-16,70 0 0,-46 0 15,23 0-15,-47 0 0,70 0 0,-46 0 16,0 0-16,23 0 0,-24 0 0,24 0 16,-47 0-16,71 0 0,-71 0 0,23 0 0,24 0 15,-46 0-15,46 0 0,-24 0 16,1 0-16,-1 0 0,-22 0 16,22 0-16,1 0 15,-24 0-15,24 0 0,-24 0 16,0 0-16,1 0 15,-1 0-15,0 0 0,1 0 16,-1 0-16,0 0 0,24 0 16,-24 0-16,0 0 0,1 0 0,-1 0 15,0 0 1,1 0-16,-1 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8T00:30:22.60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35 0,'23'-23'31,"1"23"-16,-1 0 17,0 0 15,1 0-16,-1 0-31,0 0 15,1 0-15,-1 0 0,0 0 0,24 0 16,-1 0-16,-22 0 0,22 0 16,-22 0-16,22 0 0,1 0 15,-1 0-15,1 0 0,-24 0 16,47 0-16,-23 0 16,-24 0-16,24 0 0,-24 0 0,0 0 15,24 0-15,-24 0 0,24 0 0,-24 0 16,0 0-16,1 0 0,-1 0 0,24 0 15,-24 0-15,0 0 0,1 0 16,-1 0-16,0 0 0,0 0 16,1 0-1,-1 0 17,0 0-1,1 0-16,-1 0 1,0 0-16,1 0 16,-1 0-1,0 0 1,0 0 15,1 0-15,-1 0-1,0 0 32,1 0 0,-1 0 78,0 0-62,1 0-32,-1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8T00:30:27.295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29 0,'23'0'78,"1"0"-63,-1 0-15,0 0 16,24 0-16,-24 0 0,1 0 16,46 0-16,-47 0 0,23 0 0,24 0 15,-46 0-15,22 0 0,24 0 16,0 0-16,-47 0 0,47 0 0,-46 0 0,22 0 15,1 0-15,-1 0 0,1 0 0,-24 0 16,24 0-16,0 0 0,-24 0 16,23 0-16,-22 0 0,-1 0 0,47 0 15,-23 0-15,-24 0 0,0 0 0,0 0 16,24 0-16,-24 0 0,1 0 0,22 0 16,-22 0-16,-1 0 0,0 0 0,24 0 15,-24 0-15,0 0 0,24 0 0,-24 0 16,1 0-16,-1 0 0,0 0 0,1 0 15,-1 0-15,0 0 16,0 0 78,1 0-94,-1 0 0,0 0 15,1 0-15,-1 0 16,0 0 0,1 0 46,-1 0-62,0 0 0,0 0 16,24 0-16,-24 0 15,1 0-15,-1 0 0,0 0 0,1 0 16,-1 0 172,0 0-157,0 0-16,1 0 1,-1-24 0,0 24 31,1 0-32,-1 0 1,24 0-16,-24 0 62,0 0-30,0 0 14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8T00:30:29.68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 0,'24'0'46,"-1"0"-30,0 0 15,24 0-31,23 0 0,-47 0 0,1 0 0,69 0 16,-47 24-16,48-24 0,-48 0 0,47 0 16,-69 0-16,92 23 0,-69-23 15,69 0-15,-92 23 0,-1-23 0,47 0 16,-24 0-16,1 24 0,-24-24 15,1 0-15,-1 0 0,0 0 16,1 0-16,-1 0 16,0 0 15,0 0 125,1 0-125,-1 0 63,0 0-94,1 0 31,-1 0-31,-23-24 0,23 24 32,1 0-1,-1 0-15,-23-23-1,23 23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6-01-28T00:30:30.97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187 0 0,'-24'0'31,"1"0"-16,0 0-15,-1 0 0,-22 0 16,22 0-16,1 0 16,70 0 202,-24 0-218,24 0 0,-1 0 16,-22 0-16,45 0 0,-22 0 0,0 0 16,69 0-16,-69 0 0,46 0 15,-46 0-15,69 0 0,-69 0 0,93 0 0,-94 0 16,71 0-16,-71 0 0,1 0 0,69 0 16,-92 0-16,92 0 0,-69 0 0,46 0 15,-70 0-15,47 0 0,-46 0 0,22 0 16,-23 0-16,24 0 0,-24 0 15,1 0 1,-1 0-16,0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4"/>
            <a:ext cx="2949788" cy="498693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4"/>
            <a:ext cx="2949788" cy="498693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2320A777-E521-49EE-B4D7-AEC3D67BC3C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10"/>
            <a:ext cx="5445760" cy="3913614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8" cy="498692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8" cy="498692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FBD96074-388A-491F-AB28-36E5D16F50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534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673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1257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8714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4286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127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9901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2969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5175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3683-96ED-4C05-B520-80C818B4DF91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5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3E5D-6EBD-4506-A046-5723D397DF50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8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5FB4E-3311-477A-A2A1-8A63D17DC873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31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293A-B915-4A9C-B80B-C7343243FE55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23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EFD4-A49B-4191-9253-21FA04A93A62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8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41F-90EC-4C8B-ABE4-DB13BC948790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1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3655-CA6B-49F0-A212-AF08C4C4C03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31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F0B0-23EA-4759-AC88-7B81E0B30D3C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52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BFFB-DC39-43C1-BB3F-EC448E2CE7C7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57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D646D-73E0-4DB0-84A4-5964F3193F2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81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F7B1-74A4-498A-BFE0-5BAA51D03EB5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73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C0E2D-487F-48B0-BE68-694BF698168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3D37E-5B96-4C93-BA52-943234B30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81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7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8.emf"/><Relationship Id="rId4" Type="http://schemas.openxmlformats.org/officeDocument/2006/relationships/customXml" Target="../ink/ink1.xml"/><Relationship Id="rId9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5.emf"/><Relationship Id="rId3" Type="http://schemas.openxmlformats.org/officeDocument/2006/relationships/image" Target="../media/image8.png"/><Relationship Id="rId7" Type="http://schemas.openxmlformats.org/officeDocument/2006/relationships/image" Target="../media/image12.emf"/><Relationship Id="rId12" Type="http://schemas.openxmlformats.org/officeDocument/2006/relationships/customXml" Target="../ink/ink8.xml"/><Relationship Id="rId17" Type="http://schemas.openxmlformats.org/officeDocument/2006/relationships/image" Target="../media/image17.emf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13.emf"/><Relationship Id="rId1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1155698" y="2236554"/>
            <a:ext cx="7429500" cy="810609"/>
          </a:xfrm>
        </p:spPr>
        <p:txBody>
          <a:bodyPr>
            <a:noAutofit/>
          </a:bodyPr>
          <a:lstStyle/>
          <a:p>
            <a:r>
              <a:rPr lang="ko-KR" altLang="en-US" sz="3656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일일업무일지</a:t>
            </a:r>
            <a:r>
              <a:rPr lang="en-US" altLang="ko-KR" sz="3656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_</a:t>
            </a:r>
            <a:r>
              <a:rPr lang="ko-KR" altLang="en-US" sz="3656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정민훈</a:t>
            </a:r>
            <a:endParaRPr lang="ko-KR" altLang="en-US" sz="365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" name="제목 5"/>
          <p:cNvSpPr txBox="1">
            <a:spLocks/>
          </p:cNvSpPr>
          <p:nvPr/>
        </p:nvSpPr>
        <p:spPr>
          <a:xfrm>
            <a:off x="1155698" y="4245120"/>
            <a:ext cx="7429500" cy="1410853"/>
          </a:xfrm>
          <a:prstGeom prst="rect">
            <a:avLst/>
          </a:prstGeom>
        </p:spPr>
        <p:txBody>
          <a:bodyPr vert="horz" lIns="74295" tIns="37148" rIns="74295" bIns="37148" rtlCol="0" anchor="b">
            <a:normAutofit fontScale="9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406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2194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2026. 1. </a:t>
            </a:r>
            <a:r>
              <a:rPr lang="en-US" altLang="ko-KR" sz="2194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1 ~ </a:t>
            </a:r>
            <a:r>
              <a:rPr lang="en-US" altLang="ko-KR" sz="2194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31</a:t>
            </a:r>
            <a:r>
              <a:rPr lang="en-US" altLang="ko-KR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en-US" altLang="ko-KR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844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2844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㈜대하 생산</a:t>
            </a:r>
            <a:r>
              <a:rPr lang="en-US" altLang="ko-KR" sz="2844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/</a:t>
            </a:r>
            <a:r>
              <a:rPr lang="ko-KR" altLang="en-US" sz="2844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생산관리부문 </a:t>
            </a:r>
            <a:endParaRPr lang="en-US" altLang="ko-KR" sz="2844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406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442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1879">
        <p:cut/>
      </p:transition>
    </mc:Choice>
    <mc:Fallback xmlns="">
      <p:transition advTm="1879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571745" y="936584"/>
            <a:ext cx="8483731" cy="5633069"/>
            <a:chOff x="703686" y="853152"/>
            <a:chExt cx="10441515" cy="6327033"/>
          </a:xfrm>
        </p:grpSpPr>
        <p:sp>
          <p:nvSpPr>
            <p:cNvPr id="2" name="TextBox 1"/>
            <p:cNvSpPr txBox="1"/>
            <p:nvPr/>
          </p:nvSpPr>
          <p:spPr>
            <a:xfrm>
              <a:off x="763398" y="1175211"/>
              <a:ext cx="10381803" cy="6004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2172" indent="-232172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138" dirty="0" smtClean="0">
                  <a:latin typeface="맑은 고딕" panose="020B0503020000020004" pitchFamily="50" charset="-127"/>
                </a:rPr>
                <a:t>내 용 </a:t>
              </a:r>
              <a:r>
                <a:rPr lang="en-US" altLang="ko-KR" sz="1138" dirty="0">
                  <a:latin typeface="맑은 고딕" panose="020B0503020000020004" pitchFamily="50" charset="-127"/>
                </a:rPr>
                <a:t>: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    -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월요일 아침 전 호기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START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時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호기별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기어박스 오일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누유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확인을 함</a:t>
              </a: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 smtClean="0">
                  <a:latin typeface="맑은 고딕" panose="020B0503020000020004" pitchFamily="50" charset="-127"/>
                </a:rPr>
                <a:t>     </a:t>
              </a:r>
              <a:r>
                <a:rPr lang="en-US" altLang="ko-KR" sz="1138" dirty="0">
                  <a:latin typeface="맑은 고딕" panose="020B0503020000020004" pitchFamily="50" charset="-127"/>
                </a:rPr>
                <a:t>-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특히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, #3, #7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호기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누유가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심하여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,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보전팀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(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박태식 부장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)</a:t>
              </a:r>
              <a:r>
                <a:rPr lang="ko-KR" altLang="en-US" sz="1138" dirty="0">
                  <a:latin typeface="맑은 고딕" panose="020B0503020000020004" pitchFamily="50" charset="-127"/>
                </a:rPr>
                <a:t>에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즉시 전달하고 가동 時 이상유무 확인함</a:t>
              </a: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 smtClean="0">
                  <a:latin typeface="맑은 고딕" panose="020B0503020000020004" pitchFamily="50" charset="-127"/>
                </a:rPr>
                <a:t>     -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보전팀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누유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호기 점검 後 원인 파악 및 조치하였으나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,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동절기 주말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비가동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時 온도가 너무 떨어지면서 발생하거나</a:t>
              </a: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     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회전축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실링이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파손 또는 동절기에 수축으로 인한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문제라고함</a:t>
              </a: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 marL="232172" indent="-232172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138" dirty="0" smtClean="0">
                  <a:latin typeface="맑은 고딕" panose="020B0503020000020004" pitchFamily="50" charset="-127"/>
                </a:rPr>
                <a:t>금일 문제 해결은 안되었으며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,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향후 라인 정지 時 추가적으로 조치키로 하였으며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,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향후 외부 수리 필요 시 보고 예정임</a:t>
              </a:r>
              <a:endParaRPr lang="en-US" altLang="ko-KR" sz="1138" dirty="0">
                <a:latin typeface="맑은 고딕" panose="020B0503020000020004" pitchFamily="50" charset="-127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03686" y="853152"/>
              <a:ext cx="5747447" cy="328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[ </a:t>
              </a:r>
              <a:r>
                <a:rPr lang="en-US" altLang="ko-KR" sz="1300" dirty="0" smtClean="0"/>
                <a:t>1</a:t>
              </a:r>
              <a:r>
                <a:rPr lang="ko-KR" altLang="en-US" sz="1300" dirty="0" smtClean="0"/>
                <a:t>월 </a:t>
              </a:r>
              <a:r>
                <a:rPr lang="en-US" altLang="ko-KR" sz="1300" dirty="0" smtClean="0"/>
                <a:t>5</a:t>
              </a:r>
              <a:r>
                <a:rPr lang="ko-KR" altLang="en-US" sz="1300" dirty="0" smtClean="0"/>
                <a:t>일 </a:t>
              </a:r>
              <a:r>
                <a:rPr lang="ko-KR" altLang="en-US" sz="1300" dirty="0"/>
                <a:t>월요일 </a:t>
              </a:r>
              <a:r>
                <a:rPr lang="en-US" altLang="ko-KR" sz="1300" dirty="0" smtClean="0"/>
                <a:t>– </a:t>
              </a:r>
              <a:r>
                <a:rPr lang="ko-KR" altLang="en-US" sz="1300" dirty="0" err="1" smtClean="0"/>
                <a:t>호기별</a:t>
              </a:r>
              <a:r>
                <a:rPr lang="ko-KR" altLang="en-US" sz="1300" dirty="0" smtClean="0"/>
                <a:t> 기어박스 오일 </a:t>
              </a:r>
              <a:r>
                <a:rPr lang="ko-KR" altLang="en-US" sz="1300" dirty="0" err="1" smtClean="0"/>
                <a:t>누유</a:t>
              </a:r>
              <a:r>
                <a:rPr lang="ko-KR" altLang="en-US" sz="1300" dirty="0" smtClean="0"/>
                <a:t> 점검 </a:t>
              </a:r>
              <a:r>
                <a:rPr lang="en-US" altLang="ko-KR" sz="1300" dirty="0"/>
                <a:t>]</a:t>
              </a:r>
              <a:endParaRPr lang="ko-KR" altLang="en-US" sz="1300" dirty="0"/>
            </a:p>
          </p:txBody>
        </p:sp>
      </p:grpSp>
      <p:cxnSp>
        <p:nvCxnSpPr>
          <p:cNvPr id="8" name="직선 연결선 7"/>
          <p:cNvCxnSpPr/>
          <p:nvPr/>
        </p:nvCxnSpPr>
        <p:spPr>
          <a:xfrm flipV="1">
            <a:off x="74936" y="822893"/>
            <a:ext cx="9745935" cy="15478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제목 5"/>
          <p:cNvSpPr txBox="1">
            <a:spLocks/>
          </p:cNvSpPr>
          <p:nvPr/>
        </p:nvSpPr>
        <p:spPr>
          <a:xfrm>
            <a:off x="514144" y="374363"/>
            <a:ext cx="3282872" cy="429554"/>
          </a:xfrm>
          <a:prstGeom prst="rect">
            <a:avLst/>
          </a:prstGeom>
        </p:spPr>
        <p:txBody>
          <a:bodyPr vert="horz" lIns="74295" tIns="37148" rIns="74295" bIns="37148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공정관리팀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정민훈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차장</a:t>
            </a:r>
            <a:endParaRPr lang="ko-KR" altLang="en-US" sz="1625" b="1" dirty="0">
              <a:solidFill>
                <a:schemeClr val="tx1">
                  <a:lumMod val="85000"/>
                  <a:lumOff val="1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750" y="2592196"/>
            <a:ext cx="2691443" cy="358859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18" y="2592196"/>
            <a:ext cx="2691443" cy="358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1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 flipV="1">
            <a:off x="74936" y="864838"/>
            <a:ext cx="9745935" cy="15478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제목 5"/>
          <p:cNvSpPr txBox="1">
            <a:spLocks/>
          </p:cNvSpPr>
          <p:nvPr/>
        </p:nvSpPr>
        <p:spPr>
          <a:xfrm>
            <a:off x="648367" y="416308"/>
            <a:ext cx="6994004" cy="429554"/>
          </a:xfrm>
          <a:prstGeom prst="rect">
            <a:avLst/>
          </a:prstGeom>
        </p:spPr>
        <p:txBody>
          <a:bodyPr vert="horz" lIns="74295" tIns="37148" rIns="74295" bIns="37148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800" b="1" dirty="0">
                <a:solidFill>
                  <a:prstClr val="black"/>
                </a:solidFill>
                <a:latin typeface="+mj-ea"/>
              </a:rPr>
              <a:t>[ </a:t>
            </a:r>
            <a:r>
              <a:rPr lang="ko-KR" altLang="en-US" sz="1800" b="1" dirty="0" err="1" smtClean="0">
                <a:solidFill>
                  <a:prstClr val="black"/>
                </a:solidFill>
                <a:latin typeface="+mj-ea"/>
              </a:rPr>
              <a:t>생산팀</a:t>
            </a:r>
            <a:r>
              <a:rPr lang="ko-KR" altLang="en-US" sz="1800" b="1" dirty="0" smtClean="0">
                <a:solidFill>
                  <a:prstClr val="black"/>
                </a:solidFill>
                <a:latin typeface="+mj-ea"/>
              </a:rPr>
              <a:t> </a:t>
            </a:r>
            <a:r>
              <a:rPr lang="ko-KR" altLang="en-US" sz="1800" b="1" dirty="0" err="1" smtClean="0">
                <a:solidFill>
                  <a:prstClr val="black"/>
                </a:solidFill>
                <a:latin typeface="+mj-ea"/>
              </a:rPr>
              <a:t>외부교육</a:t>
            </a:r>
            <a:r>
              <a:rPr lang="ko-KR" altLang="en-US" sz="1800" b="1" dirty="0" smtClean="0">
                <a:solidFill>
                  <a:prstClr val="black"/>
                </a:solidFill>
                <a:latin typeface="+mj-ea"/>
              </a:rPr>
              <a:t> </a:t>
            </a:r>
            <a:r>
              <a:rPr lang="en-US" altLang="ko-KR" sz="1800" b="1" dirty="0" smtClean="0">
                <a:solidFill>
                  <a:prstClr val="black"/>
                </a:solidFill>
                <a:latin typeface="+mj-ea"/>
              </a:rPr>
              <a:t>]</a:t>
            </a:r>
            <a:endParaRPr lang="ko-KR" altLang="en-US" sz="18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637563" y="1090569"/>
            <a:ext cx="7122253" cy="1909387"/>
            <a:chOff x="637564" y="1090569"/>
            <a:chExt cx="4912507" cy="1909387"/>
          </a:xfrm>
        </p:grpSpPr>
        <p:sp>
          <p:nvSpPr>
            <p:cNvPr id="6" name="TextBox 5"/>
            <p:cNvSpPr txBox="1"/>
            <p:nvPr/>
          </p:nvSpPr>
          <p:spPr>
            <a:xfrm>
              <a:off x="637564" y="1090569"/>
              <a:ext cx="1728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ko-KR" altLang="en-US" b="1" dirty="0" smtClean="0"/>
                <a:t>교육목적</a:t>
              </a:r>
              <a:endParaRPr lang="en-US" altLang="ko-KR" b="1" dirty="0" smtClean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02570" y="1476462"/>
              <a:ext cx="4647501" cy="152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ko-KR" altLang="en-US" sz="1600" dirty="0" err="1" smtClean="0">
                  <a:latin typeface="+mj-ea"/>
                  <a:ea typeface="+mj-ea"/>
                </a:rPr>
                <a:t>생산팀장의</a:t>
              </a:r>
              <a:r>
                <a:rPr lang="ko-KR" altLang="en-US" sz="1600" dirty="0" smtClean="0">
                  <a:latin typeface="+mj-ea"/>
                  <a:ea typeface="+mj-ea"/>
                </a:rPr>
                <a:t>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①</a:t>
              </a:r>
              <a:r>
                <a:rPr lang="ko-KR" altLang="en-US" sz="1600" dirty="0" smtClean="0">
                  <a:latin typeface="+mj-ea"/>
                  <a:ea typeface="+mj-ea"/>
                </a:rPr>
                <a:t>현장관리기술에 대한 기본지식과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②</a:t>
              </a:r>
              <a:r>
                <a:rPr lang="ko-KR" altLang="en-US" sz="1600" dirty="0" smtClean="0">
                  <a:latin typeface="+mj-ea"/>
                  <a:ea typeface="+mj-ea"/>
                </a:rPr>
                <a:t>노하우 전수를 </a:t>
              </a:r>
              <a:endParaRPr lang="en-US" altLang="ko-KR" sz="1600" dirty="0" smtClean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j-ea"/>
                  <a:ea typeface="+mj-ea"/>
                </a:rPr>
                <a:t> </a:t>
              </a:r>
              <a:r>
                <a:rPr lang="en-US" altLang="ko-KR" sz="1600" dirty="0" smtClean="0">
                  <a:latin typeface="+mj-ea"/>
                  <a:ea typeface="+mj-ea"/>
                </a:rPr>
                <a:t>    </a:t>
              </a:r>
              <a:r>
                <a:rPr lang="ko-KR" altLang="en-US" sz="1600" dirty="0" smtClean="0">
                  <a:latin typeface="+mj-ea"/>
                  <a:ea typeface="+mj-ea"/>
                </a:rPr>
                <a:t>통한 직무능력 향상</a:t>
              </a:r>
              <a:endParaRPr lang="en-US" altLang="ko-KR" sz="1600" dirty="0" smtClean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 smtClean="0">
                  <a:latin typeface="+mj-ea"/>
                  <a:ea typeface="+mj-ea"/>
                </a:rPr>
                <a:t>        </a:t>
              </a:r>
              <a:r>
                <a:rPr lang="en-US" altLang="ko-KR" sz="1400" dirty="0" smtClean="0">
                  <a:latin typeface="+mj-ea"/>
                  <a:ea typeface="+mj-ea"/>
                </a:rPr>
                <a:t>(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※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참고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-  ’25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인사고과 고과자 의견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100" dirty="0">
                <a:latin typeface="+mj-ea"/>
                <a:ea typeface="+mj-ea"/>
              </a:endParaRPr>
            </a:p>
            <a:p>
              <a:pPr marL="342900" indent="-342900">
                <a:lnSpc>
                  <a:spcPct val="150000"/>
                </a:lnSpc>
                <a:buFont typeface="+mj-lt"/>
                <a:buAutoNum type="arabicParenR" startAt="2"/>
              </a:pPr>
              <a:r>
                <a:rPr lang="ko-KR" altLang="en-US" sz="1600" dirty="0" smtClean="0">
                  <a:latin typeface="+mj-ea"/>
                  <a:ea typeface="+mj-ea"/>
                </a:rPr>
                <a:t>지게차 운전자 면허 교육을 통한 수료증 발급 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648366" y="3105326"/>
            <a:ext cx="9108029" cy="3663713"/>
            <a:chOff x="637564" y="1090569"/>
            <a:chExt cx="4856668" cy="3663713"/>
          </a:xfrm>
        </p:grpSpPr>
        <p:sp>
          <p:nvSpPr>
            <p:cNvPr id="37" name="TextBox 36"/>
            <p:cNvSpPr txBox="1"/>
            <p:nvPr/>
          </p:nvSpPr>
          <p:spPr>
            <a:xfrm>
              <a:off x="637564" y="1090569"/>
              <a:ext cx="1728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lang="ko-KR" altLang="en-US" b="1" dirty="0" smtClean="0"/>
                <a:t>교육내용</a:t>
              </a:r>
              <a:endParaRPr lang="en-US" altLang="ko-KR" b="1" dirty="0" smtClean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46731" y="1476462"/>
              <a:ext cx="4647501" cy="3277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arenR"/>
              </a:pPr>
              <a:r>
                <a:rPr lang="ko-KR" altLang="en-US" sz="1600" dirty="0" err="1" smtClean="0">
                  <a:latin typeface="+mj-ea"/>
                  <a:ea typeface="+mj-ea"/>
                </a:rPr>
                <a:t>생산팀장</a:t>
              </a:r>
              <a:r>
                <a:rPr lang="ko-KR" altLang="en-US" sz="1600" dirty="0" smtClean="0">
                  <a:latin typeface="+mj-ea"/>
                  <a:ea typeface="+mj-ea"/>
                </a:rPr>
                <a:t> 교육</a:t>
              </a:r>
              <a:endParaRPr lang="en-US" altLang="ko-KR" sz="1600" dirty="0" smtClean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 smtClean="0">
                  <a:latin typeface="+mj-ea"/>
                  <a:ea typeface="+mj-ea"/>
                </a:rPr>
                <a:t>     </a:t>
              </a:r>
              <a:r>
                <a:rPr lang="en-US" altLang="ko-KR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생산현장관리의 기본 프로세스의 이해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-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현장관리 </a:t>
              </a:r>
              <a:r>
                <a:rPr lang="ko-KR" altLang="en-US" sz="16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기초활동인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5S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활동 추진방법 교육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-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생산현장 관리감독자의 현장관리기술 기본지식 습득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-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다양한 사례연구를 통한 현장관리 실무적용방안 체득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2)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지게차 면허 교육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-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지게차 운전자 수료증 발급을 위한 기본지식 교육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- </a:t>
              </a:r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지게차 운행의 안전교육</a:t>
              </a:r>
              <a:endParaRPr lang="en-US" altLang="ko-KR" sz="16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501" y="398297"/>
            <a:ext cx="1400370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6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 flipV="1">
            <a:off x="74936" y="864838"/>
            <a:ext cx="9745935" cy="15478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0" name="그룹 9"/>
          <p:cNvGrpSpPr/>
          <p:nvPr/>
        </p:nvGrpSpPr>
        <p:grpSpPr>
          <a:xfrm>
            <a:off x="637563" y="1317072"/>
            <a:ext cx="7122253" cy="2324885"/>
            <a:chOff x="637564" y="1090569"/>
            <a:chExt cx="4912507" cy="2324885"/>
          </a:xfrm>
        </p:grpSpPr>
        <p:sp>
          <p:nvSpPr>
            <p:cNvPr id="6" name="TextBox 5"/>
            <p:cNvSpPr txBox="1"/>
            <p:nvPr/>
          </p:nvSpPr>
          <p:spPr>
            <a:xfrm>
              <a:off x="637564" y="1090569"/>
              <a:ext cx="1728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lang="ko-KR" altLang="en-US" b="1" dirty="0" smtClean="0"/>
                <a:t>교육기관 및 방법</a:t>
              </a:r>
              <a:endParaRPr lang="en-US" altLang="ko-KR" b="1" dirty="0" smtClean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02570" y="1476462"/>
              <a:ext cx="464750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ko-KR" altLang="en-US" sz="1600" dirty="0" err="1" smtClean="0">
                  <a:latin typeface="+mj-ea"/>
                  <a:ea typeface="+mj-ea"/>
                </a:rPr>
                <a:t>생산팀장</a:t>
              </a:r>
              <a:r>
                <a:rPr lang="ko-KR" altLang="en-US" sz="1600" dirty="0" smtClean="0">
                  <a:latin typeface="+mj-ea"/>
                  <a:ea typeface="+mj-ea"/>
                </a:rPr>
                <a:t> 교육</a:t>
              </a:r>
              <a:endParaRPr lang="en-US" altLang="ko-KR" sz="1600" dirty="0" smtClean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j-ea"/>
                  <a:ea typeface="+mj-ea"/>
                </a:rPr>
                <a:t> </a:t>
              </a:r>
              <a:r>
                <a:rPr lang="en-US" altLang="ko-KR" sz="1600" dirty="0" smtClean="0">
                  <a:latin typeface="+mj-ea"/>
                  <a:ea typeface="+mj-ea"/>
                </a:rPr>
                <a:t>    - </a:t>
              </a:r>
              <a:r>
                <a:rPr lang="ko-KR" altLang="en-US" sz="1600" dirty="0" smtClean="0">
                  <a:latin typeface="+mj-ea"/>
                  <a:ea typeface="+mj-ea"/>
                </a:rPr>
                <a:t>교육기관 </a:t>
              </a:r>
              <a:r>
                <a:rPr lang="en-US" altLang="ko-KR" sz="1600" dirty="0" smtClean="0">
                  <a:latin typeface="+mj-ea"/>
                  <a:ea typeface="+mj-ea"/>
                </a:rPr>
                <a:t>: </a:t>
              </a:r>
              <a:r>
                <a:rPr lang="ko-KR" altLang="en-US" sz="1600" dirty="0" smtClean="0">
                  <a:latin typeface="+mj-ea"/>
                  <a:ea typeface="+mj-ea"/>
                </a:rPr>
                <a:t>한국 </a:t>
              </a:r>
              <a:r>
                <a:rPr lang="ko-KR" altLang="en-US" sz="1600" dirty="0" err="1" smtClean="0">
                  <a:latin typeface="+mj-ea"/>
                  <a:ea typeface="+mj-ea"/>
                </a:rPr>
                <a:t>생산성본부</a:t>
              </a:r>
              <a:endParaRPr lang="en-US" altLang="ko-KR" sz="1600" dirty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 smtClean="0">
                  <a:latin typeface="+mj-ea"/>
                  <a:ea typeface="+mj-ea"/>
                </a:rPr>
                <a:t>     - </a:t>
              </a:r>
              <a:r>
                <a:rPr lang="ko-KR" altLang="en-US" sz="1600" dirty="0" smtClean="0">
                  <a:latin typeface="+mj-ea"/>
                  <a:ea typeface="+mj-ea"/>
                </a:rPr>
                <a:t>대상자 </a:t>
              </a:r>
              <a:r>
                <a:rPr lang="en-US" altLang="ko-KR" sz="1600" dirty="0" smtClean="0">
                  <a:latin typeface="+mj-ea"/>
                  <a:ea typeface="+mj-ea"/>
                </a:rPr>
                <a:t>: </a:t>
              </a:r>
              <a:r>
                <a:rPr lang="ko-KR" altLang="en-US" sz="1600" dirty="0" err="1" smtClean="0">
                  <a:latin typeface="+mj-ea"/>
                  <a:ea typeface="+mj-ea"/>
                </a:rPr>
                <a:t>생산팀장</a:t>
              </a:r>
              <a:r>
                <a:rPr lang="ko-KR" altLang="en-US" sz="1600" dirty="0" smtClean="0">
                  <a:latin typeface="+mj-ea"/>
                  <a:ea typeface="+mj-ea"/>
                </a:rPr>
                <a:t> </a:t>
              </a:r>
              <a:r>
                <a:rPr lang="en-US" altLang="ko-KR" sz="1600" dirty="0" smtClean="0">
                  <a:latin typeface="+mj-ea"/>
                  <a:ea typeface="+mj-ea"/>
                </a:rPr>
                <a:t>(</a:t>
              </a:r>
              <a:r>
                <a:rPr lang="ko-KR" altLang="en-US" sz="1600" dirty="0" smtClean="0">
                  <a:latin typeface="+mj-ea"/>
                  <a:ea typeface="+mj-ea"/>
                </a:rPr>
                <a:t>홍기훈 과장</a:t>
              </a:r>
              <a:r>
                <a:rPr lang="en-US" altLang="ko-KR" sz="1600" dirty="0" smtClean="0">
                  <a:latin typeface="+mj-ea"/>
                  <a:ea typeface="+mj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j-ea"/>
                  <a:ea typeface="+mj-ea"/>
                </a:rPr>
                <a:t> </a:t>
              </a:r>
              <a:r>
                <a:rPr lang="en-US" altLang="ko-KR" sz="1600" dirty="0" smtClean="0">
                  <a:latin typeface="+mj-ea"/>
                  <a:ea typeface="+mj-ea"/>
                </a:rPr>
                <a:t>    - </a:t>
              </a:r>
              <a:r>
                <a:rPr lang="ko-KR" altLang="en-US" sz="1600" dirty="0" err="1" smtClean="0">
                  <a:latin typeface="+mj-ea"/>
                  <a:ea typeface="+mj-ea"/>
                </a:rPr>
                <a:t>교육과목</a:t>
              </a:r>
              <a:r>
                <a:rPr lang="ko-KR" altLang="en-US" sz="1600" dirty="0" smtClean="0">
                  <a:latin typeface="+mj-ea"/>
                  <a:ea typeface="+mj-ea"/>
                </a:rPr>
                <a:t> </a:t>
              </a:r>
              <a:r>
                <a:rPr lang="en-US" altLang="ko-KR" sz="1600" dirty="0" smtClean="0">
                  <a:latin typeface="+mj-ea"/>
                  <a:ea typeface="+mj-ea"/>
                </a:rPr>
                <a:t>: </a:t>
              </a:r>
              <a:r>
                <a:rPr lang="ko-KR" altLang="en-US" sz="1600" dirty="0" smtClean="0">
                  <a:latin typeface="+mj-ea"/>
                  <a:ea typeface="+mj-ea"/>
                </a:rPr>
                <a:t>생산현장관리기본</a:t>
              </a:r>
              <a:r>
                <a:rPr lang="en-US" altLang="ko-KR" sz="1600" dirty="0" smtClean="0">
                  <a:latin typeface="+mj-ea"/>
                  <a:ea typeface="+mj-ea"/>
                </a:rPr>
                <a:t>(4</a:t>
              </a:r>
              <a:r>
                <a:rPr lang="ko-KR" altLang="en-US" sz="1600" dirty="0" smtClean="0">
                  <a:latin typeface="+mj-ea"/>
                  <a:ea typeface="+mj-ea"/>
                </a:rPr>
                <a:t>월</a:t>
              </a:r>
              <a:r>
                <a:rPr lang="en-US" altLang="ko-KR" sz="1600" dirty="0" smtClean="0">
                  <a:latin typeface="+mj-ea"/>
                  <a:ea typeface="+mj-ea"/>
                </a:rPr>
                <a:t>/ 2</a:t>
              </a:r>
              <a:r>
                <a:rPr lang="ko-KR" altLang="en-US" sz="1600" dirty="0" smtClean="0">
                  <a:latin typeface="+mj-ea"/>
                  <a:ea typeface="+mj-ea"/>
                </a:rPr>
                <a:t>일</a:t>
              </a:r>
              <a:r>
                <a:rPr lang="en-US" altLang="ko-KR" sz="1600" dirty="0" smtClean="0">
                  <a:latin typeface="+mj-ea"/>
                  <a:ea typeface="+mj-ea"/>
                </a:rPr>
                <a:t>) &amp; </a:t>
              </a:r>
              <a:r>
                <a:rPr lang="ko-KR" altLang="en-US" sz="1600" dirty="0" smtClean="0">
                  <a:latin typeface="+mj-ea"/>
                  <a:ea typeface="+mj-ea"/>
                </a:rPr>
                <a:t>생산관리종합</a:t>
              </a:r>
              <a:r>
                <a:rPr lang="en-US" altLang="ko-KR" sz="1600" dirty="0" smtClean="0">
                  <a:latin typeface="+mj-ea"/>
                  <a:ea typeface="+mj-ea"/>
                </a:rPr>
                <a:t>(10</a:t>
              </a:r>
              <a:r>
                <a:rPr lang="ko-KR" altLang="en-US" sz="1600" dirty="0" smtClean="0">
                  <a:latin typeface="+mj-ea"/>
                  <a:ea typeface="+mj-ea"/>
                </a:rPr>
                <a:t>월</a:t>
              </a:r>
              <a:r>
                <a:rPr lang="en-US" altLang="ko-KR" sz="1600" dirty="0" smtClean="0">
                  <a:latin typeface="+mj-ea"/>
                  <a:ea typeface="+mj-ea"/>
                </a:rPr>
                <a:t>/ 4</a:t>
              </a:r>
              <a:r>
                <a:rPr lang="ko-KR" altLang="en-US" sz="1600" dirty="0" smtClean="0">
                  <a:latin typeface="+mj-ea"/>
                  <a:ea typeface="+mj-ea"/>
                </a:rPr>
                <a:t>일</a:t>
              </a:r>
              <a:r>
                <a:rPr lang="en-US" altLang="ko-KR" sz="1600" dirty="0" smtClean="0">
                  <a:latin typeface="+mj-ea"/>
                  <a:ea typeface="+mj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j-ea"/>
                  <a:ea typeface="+mj-ea"/>
                </a:rPr>
                <a:t> </a:t>
              </a:r>
              <a:r>
                <a:rPr lang="en-US" altLang="ko-KR" sz="1600" dirty="0" smtClean="0">
                  <a:latin typeface="+mj-ea"/>
                  <a:ea typeface="+mj-ea"/>
                </a:rPr>
                <a:t>    - </a:t>
              </a:r>
              <a:r>
                <a:rPr lang="ko-KR" altLang="en-US" sz="1600" dirty="0" smtClean="0">
                  <a:latin typeface="+mj-ea"/>
                  <a:ea typeface="+mj-ea"/>
                </a:rPr>
                <a:t>비용 </a:t>
              </a:r>
              <a:r>
                <a:rPr lang="en-US" altLang="ko-KR" sz="1600" dirty="0" smtClean="0">
                  <a:latin typeface="+mj-ea"/>
                  <a:ea typeface="+mj-ea"/>
                </a:rPr>
                <a:t>: </a:t>
              </a:r>
              <a:r>
                <a:rPr lang="ko-KR" altLang="en-US" sz="1600" dirty="0" smtClean="0">
                  <a:latin typeface="+mj-ea"/>
                  <a:ea typeface="+mj-ea"/>
                </a:rPr>
                <a:t>생산현장관리기본</a:t>
              </a:r>
              <a:r>
                <a:rPr lang="en-US" altLang="ko-KR" sz="1600" dirty="0" smtClean="0">
                  <a:latin typeface="+mj-ea"/>
                  <a:ea typeface="+mj-ea"/>
                </a:rPr>
                <a:t>(50</a:t>
              </a:r>
              <a:r>
                <a:rPr lang="ko-KR" altLang="en-US" sz="1600" dirty="0" smtClean="0">
                  <a:latin typeface="+mj-ea"/>
                  <a:ea typeface="+mj-ea"/>
                </a:rPr>
                <a:t>만원</a:t>
              </a:r>
              <a:r>
                <a:rPr lang="en-US" altLang="ko-KR" sz="1600" dirty="0" smtClean="0">
                  <a:latin typeface="+mj-ea"/>
                  <a:ea typeface="+mj-ea"/>
                </a:rPr>
                <a:t>) &amp; </a:t>
              </a:r>
              <a:r>
                <a:rPr lang="ko-KR" altLang="en-US" sz="1600" dirty="0" smtClean="0">
                  <a:latin typeface="+mj-ea"/>
                  <a:ea typeface="+mj-ea"/>
                </a:rPr>
                <a:t>생산관리종합</a:t>
              </a:r>
              <a:r>
                <a:rPr lang="en-US" altLang="ko-KR" sz="1600" dirty="0" smtClean="0">
                  <a:latin typeface="+mj-ea"/>
                  <a:ea typeface="+mj-ea"/>
                </a:rPr>
                <a:t>(77</a:t>
              </a:r>
              <a:r>
                <a:rPr lang="ko-KR" altLang="en-US" sz="1600" dirty="0" smtClean="0">
                  <a:latin typeface="+mj-ea"/>
                  <a:ea typeface="+mj-ea"/>
                </a:rPr>
                <a:t>만원</a:t>
              </a:r>
              <a:r>
                <a:rPr lang="en-US" altLang="ko-KR" sz="1600" dirty="0" smtClean="0">
                  <a:latin typeface="+mj-ea"/>
                  <a:ea typeface="+mj-ea"/>
                </a:rPr>
                <a:t>)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973123" y="3868724"/>
            <a:ext cx="744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 startAt="2"/>
            </a:pPr>
            <a:r>
              <a:rPr lang="ko-KR" altLang="en-US" sz="1600" dirty="0" smtClean="0">
                <a:latin typeface="+mj-ea"/>
                <a:ea typeface="+mj-ea"/>
              </a:rPr>
              <a:t>지게차 면허 교육</a:t>
            </a:r>
            <a:endParaRPr lang="en-US" altLang="ko-KR" sz="16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j-ea"/>
                <a:ea typeface="+mj-ea"/>
              </a:rPr>
              <a:t>    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교육기관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황소중장비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운전학원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당진 소재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-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대상자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원료이송자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ko-KR" altLang="en-US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포장업무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(8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명 이내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교육방법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집체교육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( 2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일간 총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주말 가능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비용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200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만원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인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만원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547" y="416308"/>
            <a:ext cx="1400370" cy="428685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6316757" y="4131794"/>
            <a:ext cx="3250624" cy="2337354"/>
            <a:chOff x="6316757" y="4131794"/>
            <a:chExt cx="3250624" cy="2337354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88321" y="6193072"/>
              <a:ext cx="1197747" cy="276076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16757" y="4131794"/>
              <a:ext cx="3250624" cy="2061278"/>
            </a:xfrm>
            <a:prstGeom prst="rect">
              <a:avLst/>
            </a:prstGeom>
          </p:spPr>
        </p:pic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2069" y="1317072"/>
            <a:ext cx="1627465" cy="222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5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 flipV="1">
            <a:off x="74936" y="831282"/>
            <a:ext cx="9745935" cy="15478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538189" y="1088110"/>
            <a:ext cx="8483731" cy="2743370"/>
            <a:chOff x="703686" y="853152"/>
            <a:chExt cx="10441515" cy="3081337"/>
          </a:xfrm>
        </p:grpSpPr>
        <p:sp>
          <p:nvSpPr>
            <p:cNvPr id="2" name="TextBox 1"/>
            <p:cNvSpPr txBox="1"/>
            <p:nvPr/>
          </p:nvSpPr>
          <p:spPr>
            <a:xfrm>
              <a:off x="763398" y="1175211"/>
              <a:ext cx="10381803" cy="2759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2172" indent="-232172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138" dirty="0" smtClean="0">
                  <a:latin typeface="맑은 고딕" panose="020B0503020000020004" pitchFamily="50" charset="-127"/>
                </a:rPr>
                <a:t>현 문제점</a:t>
              </a: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    -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2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공장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전호기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제품교체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(CHANGE)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時 현장에서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배합호퍼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내 배합물 양을 확인할 수 있는 시스템이 없음</a:t>
              </a:r>
              <a:endParaRPr lang="en-US" altLang="ko-KR" sz="1138" dirty="0" smtClean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    -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사무실 내부에서 확인할 수 있는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경광판넬이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설치되어 있으므로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, CHANGE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시에 사무실에서 확인 후에 밖으로 나가서</a:t>
              </a: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     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교체업무를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해야함</a:t>
              </a: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   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-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이로 인해서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상주인원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1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명이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계속있어야하며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,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이로 인해 포장업무등을 진행할 수 없음</a:t>
              </a: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138" dirty="0" smtClean="0">
                  <a:latin typeface="맑은 고딕" panose="020B0503020000020004" pitchFamily="50" charset="-127"/>
                </a:rPr>
                <a:t>개선사항</a:t>
              </a: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   - 2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공장 포장 현장에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레벨러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표시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경광등을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설치하여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포장업무를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하면서 시간이 되면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제품교체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(CHANGE)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를 할 수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있도록함</a:t>
              </a:r>
              <a:endParaRPr lang="en-US" altLang="ko-KR" sz="1138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   -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인원운영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효율성 증대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(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사무실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상주인원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1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명을 배치하지 않아도 됨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)</a:t>
              </a:r>
              <a:endParaRPr lang="en-US" altLang="ko-KR" sz="1138" dirty="0">
                <a:latin typeface="맑은 고딕" panose="020B0503020000020004" pitchFamily="50" charset="-127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03686" y="853152"/>
              <a:ext cx="5747447" cy="328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[ </a:t>
              </a:r>
              <a:r>
                <a:rPr lang="en-US" altLang="ko-KR" sz="1300" dirty="0" smtClean="0"/>
                <a:t>2</a:t>
              </a:r>
              <a:r>
                <a:rPr lang="ko-KR" altLang="en-US" sz="1300" dirty="0" smtClean="0"/>
                <a:t>공장 </a:t>
              </a:r>
              <a:r>
                <a:rPr lang="ko-KR" altLang="en-US" sz="1300" dirty="0" err="1" smtClean="0"/>
                <a:t>배합호퍼</a:t>
              </a:r>
              <a:r>
                <a:rPr lang="ko-KR" altLang="en-US" sz="1300" dirty="0" smtClean="0"/>
                <a:t> </a:t>
              </a:r>
              <a:r>
                <a:rPr lang="en-US" altLang="ko-KR" sz="1300" dirty="0" smtClean="0"/>
                <a:t>LOW </a:t>
              </a:r>
              <a:r>
                <a:rPr lang="ko-KR" altLang="en-US" sz="1300" dirty="0" err="1" smtClean="0"/>
                <a:t>레벨러</a:t>
              </a:r>
              <a:r>
                <a:rPr lang="ko-KR" altLang="en-US" sz="1300" dirty="0" smtClean="0"/>
                <a:t> 표시등 설치의 건 </a:t>
              </a:r>
              <a:r>
                <a:rPr lang="en-US" altLang="ko-KR" sz="1300" dirty="0" smtClean="0"/>
                <a:t>]</a:t>
              </a:r>
              <a:endParaRPr lang="ko-KR" altLang="en-US" sz="1300" dirty="0"/>
            </a:p>
          </p:txBody>
        </p:sp>
      </p:grpSp>
      <p:sp>
        <p:nvSpPr>
          <p:cNvPr id="9" name="제목 5"/>
          <p:cNvSpPr txBox="1">
            <a:spLocks/>
          </p:cNvSpPr>
          <p:nvPr/>
        </p:nvSpPr>
        <p:spPr>
          <a:xfrm>
            <a:off x="514144" y="382752"/>
            <a:ext cx="3282872" cy="429554"/>
          </a:xfrm>
          <a:prstGeom prst="rect">
            <a:avLst/>
          </a:prstGeom>
        </p:spPr>
        <p:txBody>
          <a:bodyPr vert="horz" lIns="74295" tIns="37148" rIns="74295" bIns="37148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공정관리팀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정민훈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차장</a:t>
            </a:r>
            <a:endParaRPr lang="ko-KR" altLang="en-US" sz="1625" b="1" dirty="0">
              <a:solidFill>
                <a:schemeClr val="tx1">
                  <a:lumMod val="85000"/>
                  <a:lumOff val="1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16" y="3791824"/>
            <a:ext cx="3230437" cy="26593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9564" y="4118215"/>
            <a:ext cx="2210412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100" dirty="0" smtClean="0"/>
              <a:t>표시방법</a:t>
            </a:r>
            <a:endParaRPr lang="en-US" altLang="ko-KR" sz="1100" dirty="0" smtClean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 </a:t>
            </a:r>
            <a:r>
              <a:rPr lang="en-US" altLang="ko-KR" sz="1100" dirty="0" smtClean="0"/>
              <a:t>       - 1</a:t>
            </a:r>
            <a:r>
              <a:rPr lang="ko-KR" altLang="en-US" sz="1100" dirty="0" smtClean="0"/>
              <a:t>차 표시 </a:t>
            </a:r>
            <a:r>
              <a:rPr lang="en-US" altLang="ko-KR" sz="1100" dirty="0" smtClean="0"/>
              <a:t>- </a:t>
            </a:r>
            <a:r>
              <a:rPr lang="ko-KR" altLang="en-US" sz="1100" dirty="0" smtClean="0"/>
              <a:t>빨간색 </a:t>
            </a:r>
            <a:r>
              <a:rPr lang="ko-KR" altLang="en-US" sz="1100" dirty="0" err="1" smtClean="0"/>
              <a:t>경광등</a:t>
            </a:r>
            <a:endParaRPr lang="en-US" altLang="ko-KR" sz="1100" dirty="0" smtClean="0"/>
          </a:p>
          <a:p>
            <a:pPr>
              <a:lnSpc>
                <a:spcPct val="150000"/>
              </a:lnSpc>
            </a:pPr>
            <a:r>
              <a:rPr lang="en-US" altLang="ko-KR" sz="1100" dirty="0" smtClean="0"/>
              <a:t>        - 2</a:t>
            </a:r>
            <a:r>
              <a:rPr lang="ko-KR" altLang="en-US" sz="1100" dirty="0" smtClean="0"/>
              <a:t>차 표시 </a:t>
            </a:r>
            <a:r>
              <a:rPr lang="en-US" altLang="ko-KR" sz="1100" dirty="0" smtClean="0"/>
              <a:t>- </a:t>
            </a:r>
            <a:r>
              <a:rPr lang="ko-KR" altLang="en-US" sz="1100" dirty="0" smtClean="0"/>
              <a:t>초록색 </a:t>
            </a:r>
            <a:r>
              <a:rPr lang="ko-KR" altLang="en-US" sz="1100" dirty="0" err="1" smtClean="0"/>
              <a:t>경광등</a:t>
            </a:r>
            <a:endParaRPr lang="en-US" altLang="ko-KR" sz="1100" dirty="0" smtClean="0"/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100" dirty="0" smtClean="0"/>
              <a:t>예상 설치비용 </a:t>
            </a:r>
            <a:r>
              <a:rPr lang="en-US" altLang="ko-KR" sz="1100" dirty="0" smtClean="0"/>
              <a:t>( </a:t>
            </a:r>
            <a:r>
              <a:rPr lang="ko-KR" altLang="en-US" sz="1100" dirty="0" smtClean="0"/>
              <a:t>약 </a:t>
            </a:r>
            <a:r>
              <a:rPr lang="en-US" altLang="ko-KR" sz="1100" dirty="0" smtClean="0"/>
              <a:t>350</a:t>
            </a:r>
            <a:r>
              <a:rPr lang="ko-KR" altLang="en-US" sz="1100" dirty="0" smtClean="0"/>
              <a:t>만원</a:t>
            </a:r>
            <a:r>
              <a:rPr lang="en-US" altLang="ko-KR" sz="11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 </a:t>
            </a:r>
            <a:r>
              <a:rPr lang="en-US" altLang="ko-KR" sz="1100" dirty="0" smtClean="0"/>
              <a:t>       - </a:t>
            </a:r>
            <a:r>
              <a:rPr lang="ko-KR" altLang="en-US" sz="1100" dirty="0" smtClean="0"/>
              <a:t>선로 설치비용 및 </a:t>
            </a:r>
            <a:r>
              <a:rPr lang="ko-KR" altLang="en-US" sz="1100" dirty="0" err="1" smtClean="0"/>
              <a:t>경광등</a:t>
            </a:r>
            <a:r>
              <a:rPr lang="en-US" altLang="ko-KR" sz="1100" dirty="0" smtClean="0"/>
              <a:t>  </a:t>
            </a:r>
            <a:endParaRPr lang="ko-KR" altLang="en-US" sz="1100" dirty="0"/>
          </a:p>
        </p:txBody>
      </p:sp>
      <p:sp>
        <p:nvSpPr>
          <p:cNvPr id="11" name="직사각형 10"/>
          <p:cNvSpPr/>
          <p:nvPr/>
        </p:nvSpPr>
        <p:spPr>
          <a:xfrm>
            <a:off x="2046914" y="4303552"/>
            <a:ext cx="1350627" cy="1476462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잉크 11"/>
              <p14:cNvContentPartPr/>
              <p14:nvPr/>
            </p14:nvContentPartPr>
            <p14:xfrm>
              <a:off x="5125657" y="4529536"/>
              <a:ext cx="478080" cy="720"/>
            </p14:xfrm>
          </p:contentPart>
        </mc:Choice>
        <mc:Fallback xmlns="">
          <p:pic>
            <p:nvPicPr>
              <p:cNvPr id="12" name="잉크 1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77813" y="4337296"/>
                <a:ext cx="573768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잉크 13"/>
              <p14:cNvContentPartPr/>
              <p14:nvPr/>
            </p14:nvContentPartPr>
            <p14:xfrm>
              <a:off x="5125657" y="4823656"/>
              <a:ext cx="478080" cy="360"/>
            </p14:xfrm>
          </p:contentPart>
        </mc:Choice>
        <mc:Fallback xmlns="">
          <p:pic>
            <p:nvPicPr>
              <p:cNvPr id="14" name="잉크 1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77813" y="4727536"/>
                <a:ext cx="573768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잉크 3"/>
              <p14:cNvContentPartPr/>
              <p14:nvPr/>
            </p14:nvContentPartPr>
            <p14:xfrm>
              <a:off x="5889577" y="5033358"/>
              <a:ext cx="746640" cy="360"/>
            </p14:xfrm>
          </p:contentPart>
        </mc:Choice>
        <mc:Fallback xmlns="">
          <p:pic>
            <p:nvPicPr>
              <p:cNvPr id="4" name="잉크 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41337" y="4937238"/>
                <a:ext cx="842760" cy="19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72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 flipV="1">
            <a:off x="74936" y="822893"/>
            <a:ext cx="9745935" cy="15478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571745" y="1079723"/>
            <a:ext cx="8483731" cy="3727648"/>
            <a:chOff x="703686" y="853152"/>
            <a:chExt cx="10441515" cy="4527507"/>
          </a:xfrm>
        </p:grpSpPr>
        <p:sp>
          <p:nvSpPr>
            <p:cNvPr id="2" name="TextBox 1"/>
            <p:cNvSpPr txBox="1"/>
            <p:nvPr/>
          </p:nvSpPr>
          <p:spPr>
            <a:xfrm>
              <a:off x="763398" y="1175211"/>
              <a:ext cx="10381803" cy="4205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 </a:t>
              </a:r>
              <a:r>
                <a:rPr lang="ko-KR" altLang="en-US" sz="1200" b="1" dirty="0" smtClean="0">
                  <a:latin typeface="+mj-ea"/>
                  <a:ea typeface="+mj-ea"/>
                </a:rPr>
                <a:t>문제발생 내용</a:t>
              </a:r>
              <a:endParaRPr lang="en-US" altLang="ko-KR" sz="1200" b="1" dirty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latin typeface="맑은 고딕" panose="020B0503020000020004" pitchFamily="50" charset="-127"/>
                </a:rPr>
                <a:t>     - 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#13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호기 노즐 히터 과열로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히터판넬이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녹아내림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(28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일 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01:30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분 경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)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맑은 고딕" panose="020B0503020000020004" pitchFamily="50" charset="-127"/>
                </a:rPr>
                <a:t>     </a:t>
              </a:r>
              <a:r>
                <a:rPr lang="en-US" altLang="ko-KR" sz="1200" dirty="0">
                  <a:latin typeface="맑은 고딕" panose="020B0503020000020004" pitchFamily="50" charset="-127"/>
                </a:rPr>
                <a:t>-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야간조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생산 조장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(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양낙철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직장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)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보전팀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야간 당직자에게 전화 및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상황전달을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위한 사진 전송함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맑은 고딕" panose="020B0503020000020004" pitchFamily="50" charset="-127"/>
                </a:rPr>
                <a:t>     -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보전팀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(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김응진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부장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)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노즐히터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전원 끄고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, 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작업하라고 유선상 전달하였으나 생산 조장과의 내용 전달이 안되어</a:t>
              </a:r>
              <a:endParaRPr lang="en-US" altLang="ko-KR" sz="1200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      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야간에 라인 정지됨</a:t>
              </a:r>
              <a:endParaRPr lang="en-US" altLang="ko-KR" sz="1200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맑은 고딕" panose="020B0503020000020004" pitchFamily="50" charset="-127"/>
                </a:rPr>
                <a:t>     - 29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일 오전 </a:t>
              </a:r>
              <a:r>
                <a:rPr lang="en-US" altLang="ko-KR" sz="1200" dirty="0" smtClean="0">
                  <a:latin typeface="맑은 고딕" panose="020B0503020000020004" pitchFamily="50" charset="-127"/>
                </a:rPr>
                <a:t>08:00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시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보전팀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출근하여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히터판넬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및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히터봉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교체 </a:t>
              </a:r>
              <a:r>
                <a:rPr lang="ko-KR" altLang="en-US" sz="1200" dirty="0" err="1" smtClean="0">
                  <a:latin typeface="맑은 고딕" panose="020B0503020000020004" pitchFamily="50" charset="-127"/>
                </a:rPr>
                <a:t>진행하였나</a:t>
              </a:r>
              <a:r>
                <a:rPr lang="ko-KR" altLang="en-US" sz="1200" dirty="0" smtClean="0">
                  <a:latin typeface="맑은 고딕" panose="020B0503020000020004" pitchFamily="50" charset="-127"/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  <a:latin typeface="맑은 고딕" panose="020B0503020000020004" pitchFamily="50" charset="-127"/>
                </a:rPr>
                <a:t>8</a:t>
              </a:r>
              <a:r>
                <a:rPr lang="ko-KR" altLang="en-US" sz="1200" dirty="0" smtClean="0">
                  <a:solidFill>
                    <a:srgbClr val="FF0000"/>
                  </a:solidFill>
                  <a:latin typeface="맑은 고딕" panose="020B0503020000020004" pitchFamily="50" charset="-127"/>
                </a:rPr>
                <a:t>시간 </a:t>
              </a:r>
              <a:r>
                <a:rPr lang="ko-KR" altLang="en-US" sz="1200" dirty="0" err="1" smtClean="0">
                  <a:solidFill>
                    <a:srgbClr val="FF0000"/>
                  </a:solidFill>
                  <a:latin typeface="맑은 고딕" panose="020B0503020000020004" pitchFamily="50" charset="-127"/>
                </a:rPr>
                <a:t>비가동됨</a:t>
              </a:r>
              <a:endPara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200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200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200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200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200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03686" y="853152"/>
              <a:ext cx="7143247" cy="414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/>
                <a:t>[ </a:t>
              </a:r>
              <a:r>
                <a:rPr lang="en-US" altLang="ko-KR" sz="1300" b="1" dirty="0" smtClean="0"/>
                <a:t>1</a:t>
              </a:r>
              <a:r>
                <a:rPr lang="ko-KR" altLang="en-US" sz="1300" b="1" dirty="0" smtClean="0"/>
                <a:t>월 </a:t>
              </a:r>
              <a:r>
                <a:rPr lang="en-US" altLang="ko-KR" sz="1300" b="1" dirty="0" smtClean="0"/>
                <a:t>28</a:t>
              </a:r>
              <a:r>
                <a:rPr lang="ko-KR" altLang="en-US" sz="1300" b="1" dirty="0" smtClean="0"/>
                <a:t>일 수요일 </a:t>
              </a:r>
              <a:r>
                <a:rPr lang="en-US" altLang="ko-KR" sz="1300" b="1" dirty="0"/>
                <a:t>- </a:t>
              </a:r>
              <a:r>
                <a:rPr lang="en-US" altLang="ko-KR" sz="1300" b="1" dirty="0" smtClean="0"/>
                <a:t>#13</a:t>
              </a:r>
              <a:r>
                <a:rPr lang="ko-KR" altLang="en-US" sz="1300" b="1" dirty="0" smtClean="0"/>
                <a:t>호기 노즐 히터 과열로 인한 </a:t>
              </a:r>
              <a:r>
                <a:rPr lang="ko-KR" altLang="en-US" sz="1300" b="1" dirty="0" err="1" smtClean="0"/>
                <a:t>비가동</a:t>
              </a:r>
              <a:r>
                <a:rPr lang="ko-KR" altLang="en-US" sz="1300" b="1" dirty="0" smtClean="0"/>
                <a:t>  </a:t>
              </a:r>
              <a:r>
                <a:rPr lang="en-US" altLang="ko-KR" sz="1300" b="1" dirty="0"/>
                <a:t>]</a:t>
              </a:r>
              <a:endParaRPr lang="ko-KR" altLang="en-US" sz="1300" b="1" dirty="0"/>
            </a:p>
          </p:txBody>
        </p:sp>
      </p:grpSp>
      <p:sp>
        <p:nvSpPr>
          <p:cNvPr id="9" name="제목 5"/>
          <p:cNvSpPr txBox="1">
            <a:spLocks/>
          </p:cNvSpPr>
          <p:nvPr/>
        </p:nvSpPr>
        <p:spPr>
          <a:xfrm>
            <a:off x="514144" y="374363"/>
            <a:ext cx="3282872" cy="429554"/>
          </a:xfrm>
          <a:prstGeom prst="rect">
            <a:avLst/>
          </a:prstGeom>
        </p:spPr>
        <p:txBody>
          <a:bodyPr vert="horz" lIns="74295" tIns="37148" rIns="74295" bIns="37148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공정관리팀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정민훈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차장</a:t>
            </a:r>
            <a:endParaRPr lang="ko-KR" altLang="en-US" sz="1625" b="1" dirty="0">
              <a:solidFill>
                <a:schemeClr val="tx1">
                  <a:lumMod val="85000"/>
                  <a:lumOff val="1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12" y="3112314"/>
            <a:ext cx="2706504" cy="36265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212" y="3282560"/>
            <a:ext cx="47607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sz="1200" b="1" dirty="0" smtClean="0">
                <a:latin typeface="+mn-ea"/>
              </a:rPr>
              <a:t>본 </a:t>
            </a:r>
            <a:r>
              <a:rPr lang="en-US" altLang="ko-KR" sz="1200" b="1" dirty="0" smtClean="0">
                <a:latin typeface="+mn-ea"/>
              </a:rPr>
              <a:t>Case </a:t>
            </a:r>
            <a:r>
              <a:rPr lang="ko-KR" altLang="en-US" sz="1200" b="1" dirty="0" smtClean="0">
                <a:latin typeface="+mn-ea"/>
              </a:rPr>
              <a:t>문제점 및 개선사항</a:t>
            </a:r>
            <a:endParaRPr lang="en-US" altLang="ko-KR" sz="12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  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보전팀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야간 당직의 어려움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장거리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출퇴근자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②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야간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설비문제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발생 해결을 위한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SOP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부재</a:t>
            </a:r>
            <a:endParaRPr lang="en-US" altLang="ko-KR" sz="12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해결방안</a:t>
            </a: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①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보전팀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주간 근무 後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야간당직에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대한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당직비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조정   </a:t>
            </a:r>
            <a:endParaRPr lang="en-US" altLang="ko-KR" sz="12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보상체계 개편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출근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건별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보상 등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②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생산팀과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보전팀의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문제발생 시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SOP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단톡방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개설</a:t>
            </a:r>
            <a:endParaRPr lang="en-US" altLang="ko-KR" sz="1200" dirty="0">
              <a:latin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잉크 10"/>
              <p14:cNvContentPartPr/>
              <p14:nvPr/>
            </p14:nvContentPartPr>
            <p14:xfrm>
              <a:off x="6123937" y="2894238"/>
              <a:ext cx="1132920" cy="25920"/>
            </p14:xfrm>
          </p:contentPart>
        </mc:Choice>
        <mc:Fallback xmlns="">
          <p:pic>
            <p:nvPicPr>
              <p:cNvPr id="11" name="잉크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6057" y="2798118"/>
                <a:ext cx="12286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잉크 11"/>
              <p14:cNvContentPartPr/>
              <p14:nvPr/>
            </p14:nvContentPartPr>
            <p14:xfrm>
              <a:off x="4782217" y="2332278"/>
              <a:ext cx="3732480" cy="51480"/>
            </p14:xfrm>
          </p:contentPart>
        </mc:Choice>
        <mc:Fallback xmlns="">
          <p:pic>
            <p:nvPicPr>
              <p:cNvPr id="12" name="잉크 1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3977" y="2236158"/>
                <a:ext cx="38289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잉크 14"/>
              <p14:cNvContentPartPr/>
              <p14:nvPr/>
            </p14:nvContentPartPr>
            <p14:xfrm>
              <a:off x="6862657" y="3783438"/>
              <a:ext cx="1031760" cy="360"/>
            </p14:xfrm>
          </p:contentPart>
        </mc:Choice>
        <mc:Fallback xmlns="">
          <p:pic>
            <p:nvPicPr>
              <p:cNvPr id="15" name="잉크 1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14417" y="3687318"/>
                <a:ext cx="11278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잉크 16"/>
              <p14:cNvContentPartPr/>
              <p14:nvPr/>
            </p14:nvContentPartPr>
            <p14:xfrm>
              <a:off x="7122217" y="4055958"/>
              <a:ext cx="604440" cy="12960"/>
            </p14:xfrm>
          </p:contentPart>
        </mc:Choice>
        <mc:Fallback xmlns="">
          <p:pic>
            <p:nvPicPr>
              <p:cNvPr id="17" name="잉크 1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74337" y="3959838"/>
                <a:ext cx="7002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잉크 17"/>
              <p14:cNvContentPartPr/>
              <p14:nvPr/>
            </p14:nvContentPartPr>
            <p14:xfrm>
              <a:off x="5268217" y="4846878"/>
              <a:ext cx="922680" cy="25200"/>
            </p14:xfrm>
          </p:contentPart>
        </mc:Choice>
        <mc:Fallback xmlns="">
          <p:pic>
            <p:nvPicPr>
              <p:cNvPr id="18" name="잉크 1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20337" y="4751118"/>
                <a:ext cx="10188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잉크 18"/>
              <p14:cNvContentPartPr/>
              <p14:nvPr/>
            </p14:nvContentPartPr>
            <p14:xfrm>
              <a:off x="7105297" y="5150358"/>
              <a:ext cx="545400" cy="36360"/>
            </p14:xfrm>
          </p:contentPart>
        </mc:Choice>
        <mc:Fallback xmlns="">
          <p:pic>
            <p:nvPicPr>
              <p:cNvPr id="19" name="잉크 1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57417" y="5054598"/>
                <a:ext cx="6415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잉크 19"/>
              <p14:cNvContentPartPr/>
              <p14:nvPr/>
            </p14:nvContentPartPr>
            <p14:xfrm>
              <a:off x="7843657" y="5142438"/>
              <a:ext cx="696240" cy="360"/>
            </p14:xfrm>
          </p:contentPart>
        </mc:Choice>
        <mc:Fallback xmlns="">
          <p:pic>
            <p:nvPicPr>
              <p:cNvPr id="20" name="잉크 1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95777" y="5046318"/>
                <a:ext cx="792360" cy="19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352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 flipV="1">
            <a:off x="74936" y="1150064"/>
            <a:ext cx="9745935" cy="15478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제목 5"/>
          <p:cNvSpPr txBox="1">
            <a:spLocks/>
          </p:cNvSpPr>
          <p:nvPr/>
        </p:nvSpPr>
        <p:spPr>
          <a:xfrm>
            <a:off x="90413" y="767868"/>
            <a:ext cx="5022764" cy="429554"/>
          </a:xfrm>
          <a:prstGeom prst="rect">
            <a:avLst/>
          </a:prstGeom>
        </p:spPr>
        <p:txBody>
          <a:bodyPr vert="horz" lIns="74295" tIns="37148" rIns="74295" bIns="37148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31" b="1">
                <a:solidFill>
                  <a:schemeClr val="tx1">
                    <a:lumMod val="85000"/>
                    <a:lumOff val="1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ko-KR" altLang="en-US" sz="1950" b="1" dirty="0">
              <a:solidFill>
                <a:schemeClr val="tx1">
                  <a:lumMod val="85000"/>
                  <a:lumOff val="1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571745" y="1406892"/>
            <a:ext cx="8483731" cy="1429868"/>
            <a:chOff x="703686" y="853152"/>
            <a:chExt cx="10441515" cy="1606020"/>
          </a:xfrm>
        </p:grpSpPr>
        <p:sp>
          <p:nvSpPr>
            <p:cNvPr id="2" name="TextBox 1"/>
            <p:cNvSpPr txBox="1"/>
            <p:nvPr/>
          </p:nvSpPr>
          <p:spPr>
            <a:xfrm>
              <a:off x="763398" y="1175211"/>
              <a:ext cx="10381803" cy="1283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2172" indent="-232172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138" dirty="0" smtClean="0">
                  <a:latin typeface="맑은 고딕" panose="020B0503020000020004" pitchFamily="50" charset="-127"/>
                </a:rPr>
                <a:t>사건개요</a:t>
              </a: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    - #12</a:t>
              </a:r>
              <a:r>
                <a:rPr lang="ko-KR" altLang="en-US" sz="1138" dirty="0">
                  <a:latin typeface="맑은 고딕" panose="020B0503020000020004" pitchFamily="50" charset="-127"/>
                </a:rPr>
                <a:t>호기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기어박스 오일 펌프 조인트 부분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누유가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발생함</a:t>
              </a: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    -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보전팀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(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박태식 부장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) 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내용 및 현장사진 전송하였으며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,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오일누유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점검 후 심하면 라인 정지 후 수리 예정이라고함</a:t>
              </a:r>
              <a:endParaRPr lang="en-US" altLang="ko-KR" sz="1138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   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-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보전팀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일일점검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時 설비 점검에 좀 더 </a:t>
              </a:r>
              <a:r>
                <a:rPr lang="ko-KR" altLang="en-US" sz="1138" dirty="0" err="1" smtClean="0">
                  <a:latin typeface="맑은 고딕" panose="020B0503020000020004" pitchFamily="50" charset="-127"/>
                </a:rPr>
                <a:t>신경써</a:t>
              </a:r>
              <a:r>
                <a:rPr lang="ko-KR" altLang="en-US" sz="1138" dirty="0" smtClean="0">
                  <a:latin typeface="맑은 고딕" panose="020B0503020000020004" pitchFamily="50" charset="-127"/>
                </a:rPr>
                <a:t> 줄 것을 요청함</a:t>
              </a:r>
              <a:endParaRPr lang="en-US" altLang="ko-KR" sz="1138" dirty="0">
                <a:latin typeface="맑은 고딕" panose="020B0503020000020004" pitchFamily="50" charset="-127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03686" y="853152"/>
              <a:ext cx="7785973" cy="328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[ </a:t>
              </a:r>
              <a:r>
                <a:rPr lang="en-US" altLang="ko-KR" sz="1300" dirty="0" smtClean="0"/>
                <a:t>12</a:t>
              </a:r>
              <a:r>
                <a:rPr lang="ko-KR" altLang="en-US" sz="1300" dirty="0" smtClean="0"/>
                <a:t>월 </a:t>
              </a:r>
              <a:r>
                <a:rPr lang="en-US" altLang="ko-KR" sz="1300" dirty="0" smtClean="0"/>
                <a:t>16</a:t>
              </a:r>
              <a:r>
                <a:rPr lang="ko-KR" altLang="en-US" sz="1300" dirty="0" smtClean="0"/>
                <a:t>일 화요일 </a:t>
              </a:r>
              <a:r>
                <a:rPr lang="en-US" altLang="ko-KR" sz="1300" dirty="0"/>
                <a:t>– #</a:t>
              </a:r>
              <a:r>
                <a:rPr lang="en-US" altLang="ko-KR" sz="1300" dirty="0" smtClean="0"/>
                <a:t>12 </a:t>
              </a:r>
              <a:r>
                <a:rPr lang="ko-KR" altLang="en-US" sz="1300" dirty="0" smtClean="0"/>
                <a:t>기어박스 오일 펌프 조인트 부분 </a:t>
              </a:r>
              <a:r>
                <a:rPr lang="ko-KR" altLang="en-US" sz="1300" dirty="0" err="1" smtClean="0"/>
                <a:t>누유</a:t>
              </a:r>
              <a:r>
                <a:rPr lang="ko-KR" altLang="en-US" sz="1300" dirty="0" smtClean="0"/>
                <a:t> 발생 </a:t>
              </a:r>
              <a:r>
                <a:rPr lang="en-US" altLang="ko-KR" sz="1300" dirty="0"/>
                <a:t>]</a:t>
              </a:r>
              <a:endParaRPr lang="ko-KR" altLang="en-US" sz="1300" dirty="0"/>
            </a:p>
          </p:txBody>
        </p:sp>
      </p:grpSp>
      <p:sp>
        <p:nvSpPr>
          <p:cNvPr id="9" name="제목 5"/>
          <p:cNvSpPr txBox="1">
            <a:spLocks/>
          </p:cNvSpPr>
          <p:nvPr/>
        </p:nvSpPr>
        <p:spPr>
          <a:xfrm>
            <a:off x="514144" y="701534"/>
            <a:ext cx="3282872" cy="429554"/>
          </a:xfrm>
          <a:prstGeom prst="rect">
            <a:avLst/>
          </a:prstGeom>
        </p:spPr>
        <p:txBody>
          <a:bodyPr vert="horz" lIns="74295" tIns="37148" rIns="74295" bIns="37148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공정관리팀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정민훈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차장</a:t>
            </a:r>
            <a:endParaRPr lang="ko-KR" altLang="en-US" sz="1625" b="1" dirty="0">
              <a:solidFill>
                <a:schemeClr val="tx1">
                  <a:lumMod val="85000"/>
                  <a:lumOff val="1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0569" y="2836760"/>
            <a:ext cx="2885638" cy="3847517"/>
            <a:chOff x="1090569" y="2836760"/>
            <a:chExt cx="2885638" cy="384751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569" y="2836760"/>
              <a:ext cx="2885638" cy="3847517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2248250" y="4454554"/>
              <a:ext cx="562062" cy="260059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396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 flipV="1">
            <a:off x="74936" y="789337"/>
            <a:ext cx="9745935" cy="15478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571744" y="953886"/>
            <a:ext cx="8483732" cy="5817160"/>
            <a:chOff x="703685" y="853152"/>
            <a:chExt cx="10441516" cy="6533802"/>
          </a:xfrm>
        </p:grpSpPr>
        <p:sp>
          <p:nvSpPr>
            <p:cNvPr id="2" name="TextBox 1"/>
            <p:cNvSpPr txBox="1"/>
            <p:nvPr/>
          </p:nvSpPr>
          <p:spPr>
            <a:xfrm>
              <a:off x="763398" y="1175211"/>
              <a:ext cx="10381803" cy="621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2172" indent="-232172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138" b="1" dirty="0" smtClean="0">
                  <a:latin typeface="맑은 고딕" panose="020B0503020000020004" pitchFamily="50" charset="-127"/>
                </a:rPr>
                <a:t>사건개요</a:t>
              </a:r>
              <a:endParaRPr lang="en-US" altLang="ko-KR" sz="1138" b="1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latin typeface="+mj-ea"/>
                  <a:ea typeface="+mj-ea"/>
                </a:rPr>
                <a:t>     - </a:t>
              </a:r>
              <a:r>
                <a:rPr lang="en-US" altLang="ko-KR" sz="1100" dirty="0" smtClean="0">
                  <a:latin typeface="+mj-ea"/>
                  <a:ea typeface="+mj-ea"/>
                </a:rPr>
                <a:t>#13</a:t>
              </a:r>
              <a:r>
                <a:rPr lang="ko-KR" altLang="en-US" sz="1100" dirty="0" smtClean="0">
                  <a:latin typeface="+mj-ea"/>
                  <a:ea typeface="+mj-ea"/>
                </a:rPr>
                <a:t>호기 </a:t>
              </a:r>
              <a:r>
                <a:rPr lang="en-US" altLang="ko-KR" sz="1100" dirty="0" smtClean="0">
                  <a:latin typeface="+mj-ea"/>
                  <a:ea typeface="+mj-ea"/>
                </a:rPr>
                <a:t>GRADE CHANGE </a:t>
              </a:r>
              <a:r>
                <a:rPr lang="ko-KR" altLang="en-US" sz="1100" dirty="0" smtClean="0">
                  <a:latin typeface="+mj-ea"/>
                  <a:ea typeface="+mj-ea"/>
                </a:rPr>
                <a:t>時 진동 및 소음이 심해져</a:t>
              </a:r>
              <a:r>
                <a:rPr lang="en-US" altLang="ko-KR" sz="1100" dirty="0" smtClean="0">
                  <a:latin typeface="+mj-ea"/>
                  <a:ea typeface="+mj-ea"/>
                </a:rPr>
                <a:t>, </a:t>
              </a:r>
              <a:r>
                <a:rPr lang="ko-KR" altLang="en-US" sz="1100" dirty="0" smtClean="0">
                  <a:latin typeface="+mj-ea"/>
                  <a:ea typeface="+mj-ea"/>
                </a:rPr>
                <a:t>보전</a:t>
              </a:r>
              <a:r>
                <a:rPr lang="en-US" altLang="ko-KR" sz="1100" dirty="0" smtClean="0">
                  <a:latin typeface="+mj-ea"/>
                  <a:ea typeface="+mj-ea"/>
                </a:rPr>
                <a:t>(</a:t>
              </a:r>
              <a:r>
                <a:rPr lang="ko-KR" altLang="en-US" sz="1100" dirty="0" smtClean="0">
                  <a:latin typeface="+mj-ea"/>
                  <a:ea typeface="+mj-ea"/>
                </a:rPr>
                <a:t>박태식 부장</a:t>
              </a:r>
              <a:r>
                <a:rPr lang="en-US" altLang="ko-KR" sz="1100" dirty="0" smtClean="0">
                  <a:latin typeface="+mj-ea"/>
                  <a:ea typeface="+mj-ea"/>
                </a:rPr>
                <a:t>)</a:t>
              </a:r>
              <a:r>
                <a:rPr lang="ko-KR" altLang="en-US" sz="1100" dirty="0" smtClean="0">
                  <a:latin typeface="+mj-ea"/>
                  <a:ea typeface="+mj-ea"/>
                </a:rPr>
                <a:t>에 점검 요청함 </a:t>
              </a:r>
              <a:r>
                <a:rPr lang="en-US" altLang="ko-KR" sz="1100" dirty="0" smtClean="0">
                  <a:latin typeface="+mj-ea"/>
                  <a:ea typeface="+mj-ea"/>
                </a:rPr>
                <a:t>(</a:t>
              </a:r>
              <a:r>
                <a:rPr lang="ko-KR" altLang="en-US" sz="1100" dirty="0" smtClean="0">
                  <a:latin typeface="+mj-ea"/>
                  <a:ea typeface="+mj-ea"/>
                </a:rPr>
                <a:t>오후 </a:t>
              </a:r>
              <a:r>
                <a:rPr lang="en-US" altLang="ko-KR" sz="1100" dirty="0" smtClean="0">
                  <a:latin typeface="+mj-ea"/>
                  <a:ea typeface="+mj-ea"/>
                </a:rPr>
                <a:t>14:00</a:t>
              </a:r>
              <a:r>
                <a:rPr lang="ko-KR" altLang="en-US" sz="1100" dirty="0" smtClean="0">
                  <a:latin typeface="+mj-ea"/>
                  <a:ea typeface="+mj-ea"/>
                </a:rPr>
                <a:t>시</a:t>
              </a:r>
              <a:r>
                <a:rPr lang="en-US" altLang="ko-KR" sz="1100" dirty="0" smtClean="0">
                  <a:latin typeface="+mj-ea"/>
                  <a:ea typeface="+mj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dirty="0" smtClean="0">
                  <a:latin typeface="+mj-ea"/>
                  <a:ea typeface="+mj-ea"/>
                </a:rPr>
                <a:t>     - </a:t>
              </a:r>
              <a:r>
                <a:rPr lang="ko-KR" altLang="en-US" sz="1100" dirty="0" smtClean="0">
                  <a:latin typeface="+mj-ea"/>
                  <a:ea typeface="+mj-ea"/>
                </a:rPr>
                <a:t>점검결과 </a:t>
              </a:r>
              <a:r>
                <a:rPr lang="ko-KR" altLang="en-US" sz="1100" dirty="0" err="1" smtClean="0">
                  <a:latin typeface="+mj-ea"/>
                  <a:ea typeface="+mj-ea"/>
                </a:rPr>
                <a:t>스크류</a:t>
              </a:r>
              <a:r>
                <a:rPr lang="ko-KR" altLang="en-US" sz="1100" dirty="0" smtClean="0">
                  <a:latin typeface="+mj-ea"/>
                  <a:ea typeface="+mj-ea"/>
                </a:rPr>
                <a:t> </a:t>
              </a:r>
              <a:r>
                <a:rPr lang="en-US" altLang="ko-KR" sz="1100" dirty="0" smtClean="0">
                  <a:latin typeface="+mj-ea"/>
                  <a:ea typeface="+mj-ea"/>
                </a:rPr>
                <a:t>SHAFT</a:t>
              </a:r>
              <a:r>
                <a:rPr lang="ko-KR" altLang="en-US" sz="1100" dirty="0" smtClean="0">
                  <a:latin typeface="+mj-ea"/>
                  <a:ea typeface="+mj-ea"/>
                </a:rPr>
                <a:t>가 파손되었으며</a:t>
              </a:r>
              <a:r>
                <a:rPr lang="en-US" altLang="ko-KR" sz="1100" dirty="0" smtClean="0">
                  <a:latin typeface="+mj-ea"/>
                  <a:ea typeface="+mj-ea"/>
                </a:rPr>
                <a:t>, </a:t>
              </a:r>
              <a:r>
                <a:rPr lang="ko-KR" altLang="en-US" sz="1100" dirty="0" smtClean="0">
                  <a:latin typeface="+mj-ea"/>
                  <a:ea typeface="+mj-ea"/>
                </a:rPr>
                <a:t>지난 </a:t>
              </a:r>
              <a:r>
                <a:rPr lang="en-US" altLang="ko-KR" sz="1100" dirty="0" smtClean="0">
                  <a:latin typeface="+mj-ea"/>
                  <a:ea typeface="+mj-ea"/>
                </a:rPr>
                <a:t>9</a:t>
              </a:r>
              <a:r>
                <a:rPr lang="ko-KR" altLang="en-US" sz="1100" dirty="0" smtClean="0">
                  <a:latin typeface="+mj-ea"/>
                  <a:ea typeface="+mj-ea"/>
                </a:rPr>
                <a:t>월에도 동일한 증상으로 </a:t>
              </a:r>
              <a:r>
                <a:rPr lang="en-US" altLang="ko-KR" sz="1100" dirty="0" smtClean="0">
                  <a:latin typeface="+mj-ea"/>
                  <a:ea typeface="+mj-ea"/>
                </a:rPr>
                <a:t>SHAFT</a:t>
              </a:r>
              <a:r>
                <a:rPr lang="ko-KR" altLang="en-US" sz="1100" dirty="0" smtClean="0">
                  <a:latin typeface="+mj-ea"/>
                  <a:ea typeface="+mj-ea"/>
                </a:rPr>
                <a:t>가 파손됨 </a:t>
              </a:r>
              <a:r>
                <a:rPr lang="en-US" altLang="ko-KR" sz="1100" dirty="0" smtClean="0">
                  <a:latin typeface="+mj-ea"/>
                  <a:ea typeface="+mj-ea"/>
                </a:rPr>
                <a:t>(’25</a:t>
              </a:r>
              <a:r>
                <a:rPr lang="ko-KR" altLang="en-US" sz="1100" dirty="0" smtClean="0">
                  <a:latin typeface="+mj-ea"/>
                  <a:ea typeface="+mj-ea"/>
                </a:rPr>
                <a:t>년 </a:t>
              </a:r>
              <a:r>
                <a:rPr lang="en-US" altLang="ko-KR" sz="1100" dirty="0" smtClean="0">
                  <a:latin typeface="+mj-ea"/>
                  <a:ea typeface="+mj-ea"/>
                </a:rPr>
                <a:t>9</a:t>
              </a:r>
              <a:r>
                <a:rPr lang="ko-KR" altLang="en-US" sz="1100" dirty="0" smtClean="0">
                  <a:latin typeface="+mj-ea"/>
                  <a:ea typeface="+mj-ea"/>
                </a:rPr>
                <a:t>월</a:t>
              </a:r>
              <a:r>
                <a:rPr lang="en-US" altLang="ko-KR" sz="1100" dirty="0" smtClean="0">
                  <a:latin typeface="+mj-ea"/>
                  <a:ea typeface="+mj-ea"/>
                </a:rPr>
                <a:t>)</a:t>
              </a:r>
              <a:r>
                <a:rPr lang="ko-KR" altLang="en-US" sz="1100" dirty="0" smtClean="0">
                  <a:latin typeface="+mj-ea"/>
                  <a:ea typeface="+mj-ea"/>
                </a:rPr>
                <a:t> </a:t>
              </a:r>
              <a:endParaRPr lang="en-US" altLang="ko-KR" sz="1100" dirty="0" smtClean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latin typeface="+mj-ea"/>
                  <a:ea typeface="+mj-ea"/>
                </a:rPr>
                <a:t> </a:t>
              </a:r>
              <a:r>
                <a:rPr lang="en-US" altLang="ko-KR" sz="1100" dirty="0" smtClean="0">
                  <a:latin typeface="+mj-ea"/>
                  <a:ea typeface="+mj-ea"/>
                </a:rPr>
                <a:t>    - </a:t>
              </a:r>
              <a:r>
                <a:rPr lang="ko-KR" altLang="en-US" sz="1100" dirty="0" smtClean="0">
                  <a:latin typeface="+mj-ea"/>
                  <a:ea typeface="+mj-ea"/>
                </a:rPr>
                <a:t>또한 </a:t>
              </a:r>
              <a:r>
                <a:rPr lang="en-US" altLang="ko-KR" sz="1100" dirty="0" smtClean="0">
                  <a:latin typeface="+mj-ea"/>
                  <a:ea typeface="+mj-ea"/>
                </a:rPr>
                <a:t>11</a:t>
              </a:r>
              <a:r>
                <a:rPr lang="ko-KR" altLang="en-US" sz="1100" dirty="0" smtClean="0">
                  <a:latin typeface="+mj-ea"/>
                  <a:ea typeface="+mj-ea"/>
                </a:rPr>
                <a:t>월에는 </a:t>
              </a:r>
              <a:r>
                <a:rPr lang="ko-KR" altLang="en-US" sz="1100" dirty="0" err="1" smtClean="0">
                  <a:latin typeface="+mj-ea"/>
                  <a:ea typeface="+mj-ea"/>
                </a:rPr>
                <a:t>메인모터와</a:t>
              </a:r>
              <a:r>
                <a:rPr lang="ko-KR" altLang="en-US" sz="1100" dirty="0" smtClean="0">
                  <a:latin typeface="+mj-ea"/>
                  <a:ea typeface="+mj-ea"/>
                </a:rPr>
                <a:t> 기어박스 연결 안전핀 파손으로 </a:t>
              </a:r>
              <a:r>
                <a:rPr lang="ko-KR" altLang="en-US" sz="1100" dirty="0" err="1" smtClean="0">
                  <a:latin typeface="+mj-ea"/>
                  <a:ea typeface="+mj-ea"/>
                </a:rPr>
                <a:t>수평작업</a:t>
              </a:r>
              <a:r>
                <a:rPr lang="ko-KR" altLang="en-US" sz="1100" dirty="0" smtClean="0">
                  <a:latin typeface="+mj-ea"/>
                  <a:ea typeface="+mj-ea"/>
                </a:rPr>
                <a:t> 실시함</a:t>
              </a:r>
              <a:endParaRPr lang="en-US" altLang="ko-KR" sz="1100" dirty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latin typeface="+mj-ea"/>
                  <a:ea typeface="+mj-ea"/>
                </a:rPr>
                <a:t>     - </a:t>
              </a:r>
              <a:r>
                <a:rPr lang="ko-KR" altLang="en-US" sz="1100" dirty="0" smtClean="0">
                  <a:latin typeface="+mj-ea"/>
                  <a:ea typeface="+mj-ea"/>
                </a:rPr>
                <a:t>상기와 같이 </a:t>
              </a:r>
              <a:r>
                <a:rPr lang="en-US" altLang="ko-KR" sz="1100" dirty="0" smtClean="0">
                  <a:latin typeface="+mj-ea"/>
                  <a:ea typeface="+mj-ea"/>
                </a:rPr>
                <a:t>9</a:t>
              </a:r>
              <a:r>
                <a:rPr lang="ko-KR" altLang="en-US" sz="1100" dirty="0" smtClean="0">
                  <a:latin typeface="+mj-ea"/>
                  <a:ea typeface="+mj-ea"/>
                </a:rPr>
                <a:t>월</a:t>
              </a:r>
              <a:r>
                <a:rPr lang="en-US" altLang="ko-KR" sz="1100" dirty="0" smtClean="0">
                  <a:latin typeface="+mj-ea"/>
                  <a:ea typeface="+mj-ea"/>
                </a:rPr>
                <a:t>, 11</a:t>
              </a:r>
              <a:r>
                <a:rPr lang="ko-KR" altLang="en-US" sz="1100" dirty="0" smtClean="0">
                  <a:latin typeface="+mj-ea"/>
                  <a:ea typeface="+mj-ea"/>
                </a:rPr>
                <a:t>월 두차례에 걸쳐서 파손되었으며</a:t>
              </a:r>
              <a:r>
                <a:rPr lang="en-US" altLang="ko-KR" sz="1100" dirty="0" smtClean="0">
                  <a:latin typeface="+mj-ea"/>
                  <a:ea typeface="+mj-ea"/>
                </a:rPr>
                <a:t>, </a:t>
              </a:r>
              <a:r>
                <a:rPr lang="ko-KR" altLang="en-US" sz="1100" dirty="0" smtClean="0">
                  <a:latin typeface="+mj-ea"/>
                  <a:ea typeface="+mj-ea"/>
                </a:rPr>
                <a:t>동일 문제발생으로 </a:t>
              </a:r>
              <a:r>
                <a:rPr lang="ko-KR" altLang="en-US" sz="1100" dirty="0" err="1" smtClean="0">
                  <a:latin typeface="+mj-ea"/>
                  <a:ea typeface="+mj-ea"/>
                </a:rPr>
                <a:t>외부업체</a:t>
              </a:r>
              <a:r>
                <a:rPr lang="ko-KR" altLang="en-US" sz="1100" dirty="0" smtClean="0">
                  <a:latin typeface="+mj-ea"/>
                  <a:ea typeface="+mj-ea"/>
                </a:rPr>
                <a:t> 확인 결과</a:t>
              </a:r>
              <a:r>
                <a:rPr lang="en-US" altLang="ko-KR" sz="1100" dirty="0" smtClean="0">
                  <a:latin typeface="+mj-ea"/>
                  <a:ea typeface="+mj-ea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38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38" dirty="0" smtClean="0">
                  <a:latin typeface="맑은 고딕" panose="020B0503020000020004" pitchFamily="50" charset="-127"/>
                </a:rPr>
                <a:t>      </a:t>
              </a:r>
              <a:r>
                <a:rPr lang="ko-KR" altLang="en-US" sz="1138" b="1" dirty="0" smtClean="0">
                  <a:solidFill>
                    <a:srgbClr val="FF0000"/>
                  </a:solidFill>
                  <a:latin typeface="맑은 고딕" panose="020B0503020000020004" pitchFamily="50" charset="-127"/>
                </a:rPr>
                <a:t>기어박스 </a:t>
              </a:r>
              <a:r>
                <a:rPr lang="en-US" altLang="ko-KR" sz="1138" b="1" dirty="0" smtClean="0">
                  <a:solidFill>
                    <a:srgbClr val="FF0000"/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1138" b="1" dirty="0" smtClean="0">
                  <a:solidFill>
                    <a:srgbClr val="FF0000"/>
                  </a:solidFill>
                  <a:latin typeface="맑은 고딕" panose="020B0503020000020004" pitchFamily="50" charset="-127"/>
                </a:rPr>
                <a:t>단 기어 파손됨</a:t>
              </a:r>
              <a:r>
                <a:rPr lang="en-US" altLang="ko-KR" sz="1138" b="1" dirty="0" smtClean="0">
                  <a:solidFill>
                    <a:srgbClr val="FF0000"/>
                  </a:solidFill>
                  <a:latin typeface="맑은 고딕" panose="020B0503020000020004" pitchFamily="50" charset="-127"/>
                </a:rPr>
                <a:t>. </a:t>
              </a:r>
              <a:r>
                <a:rPr lang="ko-KR" altLang="en-US" sz="1138" b="1" dirty="0" smtClean="0">
                  <a:latin typeface="맑은 고딕" panose="020B0503020000020004" pitchFamily="50" charset="-127"/>
                </a:rPr>
                <a:t>원인은 </a:t>
              </a:r>
              <a:r>
                <a:rPr lang="en-US" altLang="ko-KR" sz="1138" b="1" dirty="0" smtClean="0">
                  <a:latin typeface="맑은 고딕" panose="020B0503020000020004" pitchFamily="50" charset="-127"/>
                </a:rPr>
                <a:t>1</a:t>
              </a:r>
              <a:r>
                <a:rPr lang="ko-KR" altLang="en-US" sz="1138" b="1" dirty="0" smtClean="0">
                  <a:latin typeface="맑은 고딕" panose="020B0503020000020004" pitchFamily="50" charset="-127"/>
                </a:rPr>
                <a:t>번 </a:t>
              </a:r>
              <a:r>
                <a:rPr lang="ko-KR" altLang="en-US" sz="1138" b="1" dirty="0" err="1" smtClean="0">
                  <a:latin typeface="맑은 고딕" panose="020B0503020000020004" pitchFamily="50" charset="-127"/>
                </a:rPr>
                <a:t>바렐</a:t>
              </a:r>
              <a:r>
                <a:rPr lang="ko-KR" altLang="en-US" sz="1138" b="1" dirty="0" smtClean="0">
                  <a:latin typeface="맑은 고딕" panose="020B0503020000020004" pitchFamily="50" charset="-127"/>
                </a:rPr>
                <a:t> </a:t>
              </a:r>
              <a:r>
                <a:rPr lang="ko-KR" altLang="en-US" sz="1138" b="1" dirty="0" err="1" smtClean="0">
                  <a:latin typeface="맑은 고딕" panose="020B0503020000020004" pitchFamily="50" charset="-127"/>
                </a:rPr>
                <a:t>메인투입</a:t>
              </a:r>
              <a:r>
                <a:rPr lang="ko-KR" altLang="en-US" sz="1138" b="1" dirty="0" smtClean="0">
                  <a:latin typeface="맑은 고딕" panose="020B0503020000020004" pitchFamily="50" charset="-127"/>
                </a:rPr>
                <a:t> 배합물 분진이 역진행하면서 기어박스 내부로 들어가면서 틀어짐</a:t>
              </a:r>
              <a:endParaRPr lang="en-US" altLang="ko-KR" sz="1138" b="1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 smtClean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38" b="1" dirty="0" smtClean="0"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140" b="1" dirty="0" smtClean="0">
                  <a:latin typeface="+mj-ea"/>
                  <a:ea typeface="+mj-ea"/>
                </a:rPr>
                <a:t>  예상 </a:t>
              </a:r>
              <a:r>
                <a:rPr lang="ko-KR" altLang="en-US" sz="1140" b="1" dirty="0" err="1">
                  <a:latin typeface="+mj-ea"/>
                  <a:ea typeface="+mj-ea"/>
                </a:rPr>
                <a:t>수리내역</a:t>
              </a:r>
              <a:r>
                <a:rPr lang="ko-KR" altLang="en-US" sz="1140" b="1" dirty="0">
                  <a:latin typeface="+mj-ea"/>
                  <a:ea typeface="+mj-ea"/>
                </a:rPr>
                <a:t> 및 </a:t>
              </a:r>
              <a:r>
                <a:rPr lang="ko-KR" altLang="en-US" sz="1140" b="1" dirty="0" smtClean="0">
                  <a:latin typeface="+mj-ea"/>
                  <a:ea typeface="+mj-ea"/>
                </a:rPr>
                <a:t>비용</a:t>
              </a:r>
              <a:endParaRPr lang="en-US" altLang="ko-KR" sz="1140" b="1" dirty="0" smtClean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 smtClean="0">
                  <a:latin typeface="+mj-ea"/>
                  <a:ea typeface="+mj-ea"/>
                </a:rPr>
                <a:t>       - </a:t>
              </a:r>
              <a:r>
                <a:rPr lang="ko-KR" altLang="en-US" sz="1100" dirty="0" err="1" smtClean="0">
                  <a:latin typeface="+mj-ea"/>
                  <a:ea typeface="+mj-ea"/>
                </a:rPr>
                <a:t>수리내역</a:t>
              </a:r>
              <a:r>
                <a:rPr lang="ko-KR" altLang="en-US" sz="1100" dirty="0" smtClean="0">
                  <a:latin typeface="+mj-ea"/>
                  <a:ea typeface="+mj-ea"/>
                </a:rPr>
                <a:t> </a:t>
              </a:r>
              <a:r>
                <a:rPr lang="en-US" altLang="ko-KR" sz="1100" dirty="0" smtClean="0">
                  <a:latin typeface="+mj-ea"/>
                  <a:ea typeface="+mj-ea"/>
                </a:rPr>
                <a:t>: </a:t>
              </a:r>
              <a:r>
                <a:rPr lang="ko-KR" altLang="en-US" sz="1100" dirty="0" smtClean="0">
                  <a:latin typeface="+mj-ea"/>
                  <a:ea typeface="+mj-ea"/>
                </a:rPr>
                <a:t>기어박스 </a:t>
              </a:r>
              <a:r>
                <a:rPr lang="en-US" altLang="ko-KR" sz="1100" dirty="0">
                  <a:latin typeface="+mj-ea"/>
                  <a:ea typeface="+mj-ea"/>
                </a:rPr>
                <a:t>1</a:t>
              </a:r>
              <a:r>
                <a:rPr lang="ko-KR" altLang="en-US" sz="1100" dirty="0">
                  <a:latin typeface="+mj-ea"/>
                  <a:ea typeface="+mj-ea"/>
                </a:rPr>
                <a:t>단 기어</a:t>
              </a:r>
              <a:r>
                <a:rPr lang="en-US" altLang="ko-KR" sz="1100" dirty="0">
                  <a:latin typeface="+mj-ea"/>
                  <a:ea typeface="+mj-ea"/>
                </a:rPr>
                <a:t>, </a:t>
              </a:r>
              <a:r>
                <a:rPr lang="ko-KR" altLang="en-US" sz="1100" dirty="0">
                  <a:latin typeface="+mj-ea"/>
                  <a:ea typeface="+mj-ea"/>
                </a:rPr>
                <a:t> 베어링 </a:t>
              </a:r>
              <a:r>
                <a:rPr lang="ko-KR" altLang="en-US" sz="1100" dirty="0" smtClean="0">
                  <a:latin typeface="+mj-ea"/>
                  <a:ea typeface="+mj-ea"/>
                </a:rPr>
                <a:t>등</a:t>
              </a:r>
              <a:r>
                <a:rPr lang="en-US" altLang="ko-KR" sz="1100" dirty="0" smtClean="0">
                  <a:latin typeface="+mj-ea"/>
                  <a:ea typeface="+mj-ea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latin typeface="+mj-ea"/>
                  <a:ea typeface="+mj-ea"/>
                </a:rPr>
                <a:t> </a:t>
              </a:r>
              <a:r>
                <a:rPr lang="en-US" altLang="ko-KR" sz="1100" dirty="0" smtClean="0">
                  <a:latin typeface="+mj-ea"/>
                  <a:ea typeface="+mj-ea"/>
                </a:rPr>
                <a:t>      - </a:t>
              </a:r>
              <a:r>
                <a:rPr lang="ko-KR" altLang="en-US" sz="1100" dirty="0" smtClean="0">
                  <a:latin typeface="+mj-ea"/>
                  <a:ea typeface="+mj-ea"/>
                </a:rPr>
                <a:t>기간 </a:t>
              </a:r>
              <a:r>
                <a:rPr lang="en-US" altLang="ko-KR" sz="1100" dirty="0">
                  <a:latin typeface="+mj-ea"/>
                  <a:ea typeface="+mj-ea"/>
                </a:rPr>
                <a:t>: 18</a:t>
              </a:r>
              <a:r>
                <a:rPr lang="ko-KR" altLang="en-US" sz="1100" dirty="0">
                  <a:latin typeface="+mj-ea"/>
                  <a:ea typeface="+mj-ea"/>
                </a:rPr>
                <a:t>일 </a:t>
              </a:r>
              <a:r>
                <a:rPr lang="en-US" altLang="ko-KR" sz="1100" dirty="0">
                  <a:latin typeface="+mj-ea"/>
                  <a:ea typeface="+mj-ea"/>
                </a:rPr>
                <a:t>~ 23</a:t>
              </a:r>
              <a:r>
                <a:rPr lang="ko-KR" altLang="en-US" sz="1100" dirty="0">
                  <a:latin typeface="+mj-ea"/>
                  <a:ea typeface="+mj-ea"/>
                </a:rPr>
                <a:t>일 </a:t>
              </a:r>
              <a:r>
                <a:rPr lang="en-US" altLang="ko-KR" sz="1100" dirty="0">
                  <a:latin typeface="+mj-ea"/>
                  <a:ea typeface="+mj-ea"/>
                </a:rPr>
                <a:t>(</a:t>
              </a:r>
              <a:r>
                <a:rPr lang="ko-KR" altLang="en-US" sz="1100" dirty="0">
                  <a:latin typeface="+mj-ea"/>
                  <a:ea typeface="+mj-ea"/>
                </a:rPr>
                <a:t>약 </a:t>
              </a:r>
              <a:r>
                <a:rPr lang="en-US" altLang="ko-KR" sz="1100" dirty="0">
                  <a:latin typeface="+mj-ea"/>
                  <a:ea typeface="+mj-ea"/>
                </a:rPr>
                <a:t>5</a:t>
              </a:r>
              <a:r>
                <a:rPr lang="ko-KR" altLang="en-US" sz="1100" dirty="0">
                  <a:latin typeface="+mj-ea"/>
                  <a:ea typeface="+mj-ea"/>
                </a:rPr>
                <a:t>일</a:t>
              </a:r>
              <a:r>
                <a:rPr lang="en-US" altLang="ko-KR" sz="1100" dirty="0">
                  <a:latin typeface="+mj-ea"/>
                  <a:ea typeface="+mj-ea"/>
                </a:rPr>
                <a:t>)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dirty="0" smtClean="0">
                  <a:latin typeface="+mj-ea"/>
                  <a:ea typeface="+mj-ea"/>
                </a:rPr>
                <a:t>       - </a:t>
              </a:r>
              <a:r>
                <a:rPr lang="ko-KR" altLang="en-US" sz="1100" dirty="0" smtClean="0">
                  <a:latin typeface="+mj-ea"/>
                  <a:ea typeface="+mj-ea"/>
                </a:rPr>
                <a:t>예상비용 </a:t>
              </a:r>
              <a:r>
                <a:rPr lang="en-US" altLang="ko-KR" sz="1100" dirty="0">
                  <a:latin typeface="+mj-ea"/>
                  <a:ea typeface="+mj-ea"/>
                </a:rPr>
                <a:t>: 800 ~ 900</a:t>
              </a:r>
              <a:r>
                <a:rPr lang="ko-KR" altLang="en-US" sz="1100" dirty="0" smtClean="0">
                  <a:latin typeface="+mj-ea"/>
                  <a:ea typeface="+mj-ea"/>
                </a:rPr>
                <a:t>만원</a:t>
              </a:r>
              <a:endParaRPr lang="en-US" altLang="ko-KR" sz="1100" dirty="0" smtClean="0"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endParaRPr lang="en-US" altLang="ko-KR" sz="800" dirty="0">
                <a:latin typeface="+mj-ea"/>
                <a:ea typeface="+mj-ea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100" b="1" dirty="0">
                  <a:latin typeface="+mj-ea"/>
                </a:rPr>
                <a:t> </a:t>
              </a:r>
              <a:r>
                <a:rPr lang="ko-KR" altLang="en-US" sz="1100" b="1" dirty="0" smtClean="0">
                  <a:latin typeface="+mj-ea"/>
                </a:rPr>
                <a:t> </a:t>
              </a:r>
              <a:r>
                <a:rPr lang="ko-KR" altLang="en-US" sz="1100" b="1" dirty="0" err="1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비가동에</a:t>
              </a:r>
              <a:r>
                <a:rPr lang="ko-KR" altLang="en-US" sz="1100" b="1" dirty="0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 의한 생산 감소량은</a:t>
              </a:r>
              <a:r>
                <a:rPr lang="en-US" altLang="ko-KR" sz="1100" b="1" dirty="0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100" b="1" dirty="0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약 </a:t>
              </a:r>
              <a:r>
                <a:rPr lang="en-US" altLang="ko-KR" sz="1100" b="1" dirty="0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128</a:t>
              </a:r>
              <a:r>
                <a:rPr lang="ko-KR" altLang="en-US" sz="1100" b="1" dirty="0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톤이며</a:t>
              </a:r>
              <a:r>
                <a:rPr lang="en-US" altLang="ko-KR" sz="1100" b="1" dirty="0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100" b="1" dirty="0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현재 충분한 </a:t>
              </a:r>
              <a:r>
                <a:rPr lang="ko-KR" altLang="en-US" sz="1100" b="1" dirty="0" err="1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제품재고</a:t>
              </a:r>
              <a:r>
                <a:rPr lang="ko-KR" altLang="en-US" sz="1100" b="1" dirty="0" smtClean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 확보로 미납의 문제 발생은 없음</a:t>
              </a:r>
              <a:endParaRPr lang="ko-KR" altLang="en-US" sz="1100" b="1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03685" y="853152"/>
              <a:ext cx="7628518" cy="328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[ </a:t>
              </a:r>
              <a:r>
                <a:rPr lang="en-US" altLang="ko-KR" sz="1300" dirty="0" smtClean="0"/>
                <a:t>12</a:t>
              </a:r>
              <a:r>
                <a:rPr lang="ko-KR" altLang="en-US" sz="1300" dirty="0" smtClean="0"/>
                <a:t>월 </a:t>
              </a:r>
              <a:r>
                <a:rPr lang="en-US" altLang="ko-KR" sz="1300" dirty="0" smtClean="0"/>
                <a:t>18</a:t>
              </a:r>
              <a:r>
                <a:rPr lang="ko-KR" altLang="en-US" sz="1300" dirty="0" smtClean="0"/>
                <a:t>일 </a:t>
              </a:r>
              <a:r>
                <a:rPr lang="ko-KR" altLang="en-US" sz="1300" dirty="0"/>
                <a:t>목</a:t>
              </a:r>
              <a:r>
                <a:rPr lang="ko-KR" altLang="en-US" sz="1300" dirty="0" smtClean="0"/>
                <a:t>요일  </a:t>
              </a:r>
              <a:r>
                <a:rPr lang="en-US" altLang="ko-KR" sz="1300" dirty="0" smtClean="0"/>
                <a:t>–  #13</a:t>
              </a:r>
              <a:r>
                <a:rPr lang="ko-KR" altLang="en-US" sz="1300" dirty="0" smtClean="0"/>
                <a:t>호기 기어박스 </a:t>
              </a:r>
              <a:r>
                <a:rPr lang="en-US" altLang="ko-KR" sz="1300" dirty="0" smtClean="0"/>
                <a:t>1</a:t>
              </a:r>
              <a:r>
                <a:rPr lang="ko-KR" altLang="en-US" sz="1300" dirty="0" smtClean="0"/>
                <a:t>단 기어 파손으로 인한 </a:t>
              </a:r>
              <a:r>
                <a:rPr lang="ko-KR" altLang="en-US" sz="1300" b="1" dirty="0" err="1" smtClean="0">
                  <a:solidFill>
                    <a:srgbClr val="FF0000"/>
                  </a:solidFill>
                </a:rPr>
                <a:t>외부반출</a:t>
              </a:r>
              <a:r>
                <a:rPr lang="ko-KR" altLang="en-US" sz="1300" b="1" dirty="0" smtClean="0">
                  <a:solidFill>
                    <a:srgbClr val="FF0000"/>
                  </a:solidFill>
                </a:rPr>
                <a:t> 수리 </a:t>
              </a:r>
              <a:r>
                <a:rPr lang="en-US" altLang="ko-KR" sz="1300" dirty="0" smtClean="0"/>
                <a:t>]</a:t>
              </a:r>
              <a:endParaRPr lang="ko-KR" altLang="en-US" sz="1300" dirty="0"/>
            </a:p>
          </p:txBody>
        </p:sp>
      </p:grpSp>
      <p:sp>
        <p:nvSpPr>
          <p:cNvPr id="9" name="제목 5"/>
          <p:cNvSpPr txBox="1">
            <a:spLocks/>
          </p:cNvSpPr>
          <p:nvPr/>
        </p:nvSpPr>
        <p:spPr>
          <a:xfrm>
            <a:off x="497699" y="356028"/>
            <a:ext cx="3282872" cy="429554"/>
          </a:xfrm>
          <a:prstGeom prst="rect">
            <a:avLst/>
          </a:prstGeom>
        </p:spPr>
        <p:txBody>
          <a:bodyPr vert="horz" lIns="74295" tIns="37148" rIns="74295" bIns="37148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공정관리팀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25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정민훈</a:t>
            </a:r>
            <a:r>
              <a:rPr lang="ko-KR" altLang="en-US" sz="1625" dirty="0">
                <a:solidFill>
                  <a:prstClr val="black"/>
                </a:solidFill>
                <a:latin typeface="맑은 고딕" panose="020B0503020000020004" pitchFamily="50" charset="-127"/>
              </a:rPr>
              <a:t> 차장</a:t>
            </a:r>
            <a:endParaRPr lang="ko-KR" altLang="en-US" sz="1625" b="1" dirty="0">
              <a:solidFill>
                <a:schemeClr val="tx1">
                  <a:lumMod val="85000"/>
                  <a:lumOff val="1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1081939" y="2860645"/>
            <a:ext cx="1630134" cy="2268000"/>
            <a:chOff x="1115495" y="3380763"/>
            <a:chExt cx="2085242" cy="30960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495" y="3380763"/>
              <a:ext cx="2085242" cy="3096000"/>
            </a:xfrm>
            <a:prstGeom prst="rect">
              <a:avLst/>
            </a:prstGeom>
          </p:spPr>
        </p:pic>
        <p:sp>
          <p:nvSpPr>
            <p:cNvPr id="10" name="아래쪽 화살표 9"/>
            <p:cNvSpPr/>
            <p:nvPr/>
          </p:nvSpPr>
          <p:spPr>
            <a:xfrm>
              <a:off x="1409350" y="3607266"/>
              <a:ext cx="176169" cy="234892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949727" y="2860645"/>
            <a:ext cx="1815219" cy="2268000"/>
            <a:chOff x="3729904" y="3380763"/>
            <a:chExt cx="2322000" cy="309600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9904" y="3380763"/>
              <a:ext cx="2322000" cy="3096000"/>
            </a:xfrm>
            <a:prstGeom prst="rect">
              <a:avLst/>
            </a:prstGeom>
          </p:spPr>
        </p:pic>
        <p:sp>
          <p:nvSpPr>
            <p:cNvPr id="14" name="아래쪽 화살표 13"/>
            <p:cNvSpPr/>
            <p:nvPr/>
          </p:nvSpPr>
          <p:spPr>
            <a:xfrm>
              <a:off x="4749783" y="4271394"/>
              <a:ext cx="176169" cy="234892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9" name="그림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394" y="2860645"/>
            <a:ext cx="3024000" cy="2268000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6123963" y="3313651"/>
            <a:ext cx="1023457" cy="117445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32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12708</TotalTime>
  <Words>860</Words>
  <Application>Microsoft Office PowerPoint</Application>
  <PresentationFormat>A4 용지(210x297mm)</PresentationFormat>
  <Paragraphs>119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맑은 고딕</vt:lpstr>
      <vt:lpstr>휴먼모음T</vt:lpstr>
      <vt:lpstr>Arial</vt:lpstr>
      <vt:lpstr>Calibri</vt:lpstr>
      <vt:lpstr>Calibri Light</vt:lpstr>
      <vt:lpstr>Wingdings</vt:lpstr>
      <vt:lpstr>Office Theme</vt:lpstr>
      <vt:lpstr>일일업무일지_정민훈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</cp:lastModifiedBy>
  <cp:revision>658</cp:revision>
  <cp:lastPrinted>2026-02-12T10:10:42Z</cp:lastPrinted>
  <dcterms:created xsi:type="dcterms:W3CDTF">2023-12-12T01:16:56Z</dcterms:created>
  <dcterms:modified xsi:type="dcterms:W3CDTF">2026-02-12T10:10:44Z</dcterms:modified>
</cp:coreProperties>
</file>