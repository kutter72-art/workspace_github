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2"/>
  </p:notesMasterIdLst>
  <p:handoutMasterIdLst>
    <p:handoutMasterId r:id="rId13"/>
  </p:handoutMasterIdLst>
  <p:sldIdLst>
    <p:sldId id="576" r:id="rId9"/>
    <p:sldId id="577" r:id="rId10"/>
    <p:sldId id="578" r:id="rId11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32406" y="837696"/>
            <a:ext cx="8344050" cy="5763718"/>
            <a:chOff x="323528" y="908720"/>
            <a:chExt cx="6724362" cy="5763718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55357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[1]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#2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호기 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MAIN AC 400KW 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모터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파손수리의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건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67170" y="1224793"/>
              <a:ext cx="6480720" cy="5447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b="1" dirty="0" smtClean="0">
                  <a:latin typeface="+mn-ea"/>
                  <a:ea typeface="+mn-ea"/>
                </a:rPr>
                <a:t>1. </a:t>
              </a:r>
              <a:r>
                <a:rPr lang="ko-KR" altLang="ko-KR" sz="1100" b="1" dirty="0" smtClean="0">
                  <a:latin typeface="+mn-ea"/>
                  <a:ea typeface="+mn-ea"/>
                </a:rPr>
                <a:t>사고 </a:t>
              </a:r>
              <a:r>
                <a:rPr lang="ko-KR" altLang="ko-KR" sz="1100" b="1" dirty="0">
                  <a:latin typeface="+mn-ea"/>
                  <a:ea typeface="+mn-ea"/>
                </a:rPr>
                <a:t>내역</a:t>
              </a:r>
            </a:p>
            <a:p>
              <a:pPr lvl="0">
                <a:lnSpc>
                  <a:spcPct val="150000"/>
                </a:lnSpc>
              </a:pPr>
              <a:r>
                <a:rPr lang="en-US" altLang="ko-KR" sz="1100" dirty="0" smtClean="0">
                  <a:latin typeface="+mn-ea"/>
                  <a:ea typeface="+mn-ea"/>
                </a:rPr>
                <a:t>    - </a:t>
              </a:r>
              <a:r>
                <a:rPr lang="ko-KR" altLang="en-US" sz="1100" dirty="0" smtClean="0">
                  <a:latin typeface="+mn-ea"/>
                  <a:ea typeface="+mn-ea"/>
                </a:rPr>
                <a:t>발생일 </a:t>
              </a:r>
              <a:r>
                <a:rPr lang="en-US" altLang="ko-KR" sz="1100" dirty="0" smtClean="0">
                  <a:latin typeface="+mn-ea"/>
                  <a:ea typeface="+mn-ea"/>
                </a:rPr>
                <a:t>: 2</a:t>
              </a:r>
              <a:r>
                <a:rPr lang="ko-KR" altLang="en-US" sz="1100" dirty="0" smtClean="0">
                  <a:latin typeface="+mn-ea"/>
                  <a:ea typeface="+mn-ea"/>
                </a:rPr>
                <a:t>월 </a:t>
              </a:r>
              <a:r>
                <a:rPr lang="en-US" altLang="ko-KR" sz="1100" dirty="0" smtClean="0">
                  <a:latin typeface="+mn-ea"/>
                  <a:ea typeface="+mn-ea"/>
                </a:rPr>
                <a:t>5</a:t>
              </a:r>
              <a:r>
                <a:rPr lang="ko-KR" altLang="en-US" sz="1100" dirty="0" smtClean="0">
                  <a:latin typeface="+mn-ea"/>
                  <a:ea typeface="+mn-ea"/>
                </a:rPr>
                <a:t>일</a:t>
              </a:r>
              <a:r>
                <a:rPr lang="en-US" altLang="ko-KR" sz="1100" dirty="0" smtClean="0">
                  <a:latin typeface="+mn-ea"/>
                  <a:ea typeface="+mn-ea"/>
                </a:rPr>
                <a:t>(</a:t>
              </a:r>
              <a:r>
                <a:rPr lang="ko-KR" altLang="en-US" sz="1100" dirty="0" smtClean="0">
                  <a:latin typeface="+mn-ea"/>
                  <a:ea typeface="+mn-ea"/>
                </a:rPr>
                <a:t>목</a:t>
              </a:r>
              <a:r>
                <a:rPr lang="en-US" altLang="ko-KR" sz="1100" dirty="0" smtClean="0">
                  <a:latin typeface="+mn-ea"/>
                  <a:ea typeface="+mn-ea"/>
                </a:rPr>
                <a:t>) 11:00</a:t>
              </a:r>
              <a:r>
                <a:rPr lang="ko-KR" altLang="en-US" sz="1100" dirty="0" smtClean="0">
                  <a:latin typeface="+mn-ea"/>
                  <a:ea typeface="+mn-ea"/>
                </a:rPr>
                <a:t>분 경 </a:t>
              </a:r>
              <a:r>
                <a:rPr lang="en-US" altLang="ko-KR" sz="1100" dirty="0" smtClean="0">
                  <a:latin typeface="+mn-ea"/>
                  <a:ea typeface="+mn-ea"/>
                </a:rPr>
                <a:t>(SD805SS-3249M </a:t>
              </a:r>
              <a:r>
                <a:rPr lang="ko-KR" altLang="en-US" sz="1100" dirty="0" smtClean="0">
                  <a:latin typeface="+mn-ea"/>
                  <a:ea typeface="+mn-ea"/>
                </a:rPr>
                <a:t>생산 중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</a:p>
            <a:p>
              <a:pPr lvl="0">
                <a:lnSpc>
                  <a:spcPct val="150000"/>
                </a:lnSpc>
              </a:pPr>
              <a:r>
                <a:rPr lang="en-US" altLang="ko-KR" sz="1100" dirty="0" smtClean="0">
                  <a:latin typeface="+mn-ea"/>
                  <a:ea typeface="+mn-ea"/>
                </a:rPr>
                <a:t>    - </a:t>
              </a:r>
              <a:r>
                <a:rPr lang="ko-KR" altLang="ko-KR" sz="1100" dirty="0" smtClean="0">
                  <a:latin typeface="+mn-ea"/>
                  <a:ea typeface="+mn-ea"/>
                </a:rPr>
                <a:t>대상 </a:t>
              </a:r>
              <a:r>
                <a:rPr lang="ko-KR" altLang="ko-KR" sz="1100" dirty="0">
                  <a:latin typeface="+mn-ea"/>
                  <a:ea typeface="+mn-ea"/>
                </a:rPr>
                <a:t>설비 </a:t>
              </a:r>
              <a:r>
                <a:rPr lang="en-US" altLang="ko-KR" sz="1100" dirty="0">
                  <a:latin typeface="+mn-ea"/>
                  <a:ea typeface="+mn-ea"/>
                </a:rPr>
                <a:t>: 2</a:t>
              </a:r>
              <a:r>
                <a:rPr lang="ko-KR" altLang="ko-KR" sz="1100" dirty="0">
                  <a:latin typeface="+mn-ea"/>
                  <a:ea typeface="+mn-ea"/>
                </a:rPr>
                <a:t>호기 메인 모터</a:t>
              </a:r>
              <a:r>
                <a:rPr lang="en-US" altLang="ko-KR" sz="1100" dirty="0">
                  <a:latin typeface="+mn-ea"/>
                  <a:ea typeface="+mn-ea"/>
                </a:rPr>
                <a:t> (AC 400kW)</a:t>
              </a:r>
              <a:endParaRPr lang="ko-KR" altLang="ko-KR" sz="1100" dirty="0">
                <a:latin typeface="+mn-ea"/>
                <a:ea typeface="+mn-ea"/>
              </a:endParaRPr>
            </a:p>
            <a:p>
              <a:pPr lvl="0">
                <a:lnSpc>
                  <a:spcPct val="150000"/>
                </a:lnSpc>
              </a:pPr>
              <a:r>
                <a:rPr lang="en-US" altLang="ko-KR" sz="1100" dirty="0" smtClean="0">
                  <a:latin typeface="+mn-ea"/>
                  <a:ea typeface="+mn-ea"/>
                </a:rPr>
                <a:t>    - </a:t>
              </a:r>
              <a:r>
                <a:rPr lang="ko-KR" altLang="ko-KR" sz="1100" dirty="0" smtClean="0">
                  <a:latin typeface="+mn-ea"/>
                  <a:ea typeface="+mn-ea"/>
                </a:rPr>
                <a:t>발생 </a:t>
              </a:r>
              <a:r>
                <a:rPr lang="ko-KR" altLang="ko-KR" sz="1100" dirty="0">
                  <a:latin typeface="+mn-ea"/>
                  <a:ea typeface="+mn-ea"/>
                </a:rPr>
                <a:t>현상 </a:t>
              </a:r>
              <a:r>
                <a:rPr lang="en-US" altLang="ko-KR" sz="1100" dirty="0">
                  <a:latin typeface="+mn-ea"/>
                  <a:ea typeface="+mn-ea"/>
                </a:rPr>
                <a:t>: </a:t>
              </a:r>
              <a:r>
                <a:rPr lang="ko-KR" altLang="ko-KR" sz="1100" dirty="0">
                  <a:latin typeface="+mn-ea"/>
                  <a:ea typeface="+mn-ea"/>
                </a:rPr>
                <a:t>가동 중 과부하</a:t>
              </a:r>
              <a:r>
                <a:rPr lang="en-US" altLang="ko-KR" sz="1100" dirty="0">
                  <a:latin typeface="+mn-ea"/>
                  <a:ea typeface="+mn-ea"/>
                </a:rPr>
                <a:t>(Overload) </a:t>
              </a:r>
              <a:r>
                <a:rPr lang="ko-KR" altLang="ko-KR" sz="1100" dirty="0" err="1">
                  <a:latin typeface="+mn-ea"/>
                  <a:ea typeface="+mn-ea"/>
                </a:rPr>
                <a:t>트립</a:t>
              </a:r>
              <a:r>
                <a:rPr lang="ko-KR" altLang="ko-KR" sz="1100" dirty="0">
                  <a:latin typeface="+mn-ea"/>
                  <a:ea typeface="+mn-ea"/>
                </a:rPr>
                <a:t> 발생으로 인한 내부 베어링 손상에 의한 소손</a:t>
              </a:r>
            </a:p>
            <a:p>
              <a:pPr lvl="0">
                <a:lnSpc>
                  <a:spcPct val="150000"/>
                </a:lnSpc>
              </a:pPr>
              <a:r>
                <a:rPr lang="en-US" altLang="ko-KR" sz="1100" dirty="0" smtClean="0">
                  <a:latin typeface="+mn-ea"/>
                  <a:ea typeface="+mn-ea"/>
                </a:rPr>
                <a:t>    - </a:t>
              </a:r>
              <a:r>
                <a:rPr lang="ko-KR" altLang="ko-KR" sz="1100" dirty="0" smtClean="0">
                  <a:latin typeface="+mn-ea"/>
                  <a:ea typeface="+mn-ea"/>
                </a:rPr>
                <a:t>사전점검 내용</a:t>
              </a:r>
              <a:r>
                <a:rPr lang="en-US" altLang="ko-KR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>
                  <a:latin typeface="+mn-ea"/>
                  <a:ea typeface="+mn-ea"/>
                </a:rPr>
                <a:t>: </a:t>
              </a:r>
              <a:r>
                <a:rPr lang="ko-KR" altLang="ko-KR" sz="1100" dirty="0">
                  <a:latin typeface="+mn-ea"/>
                  <a:ea typeface="+mn-ea"/>
                </a:rPr>
                <a:t>진동 및 소음은 사전점검 시 확인하였으며</a:t>
              </a:r>
              <a:r>
                <a:rPr lang="en-US" altLang="ko-KR" sz="1100" dirty="0">
                  <a:latin typeface="+mn-ea"/>
                  <a:ea typeface="+mn-ea"/>
                </a:rPr>
                <a:t>, </a:t>
              </a:r>
              <a:r>
                <a:rPr lang="ko-KR" altLang="ko-KR" sz="1100" dirty="0">
                  <a:latin typeface="+mn-ea"/>
                  <a:ea typeface="+mn-ea"/>
                </a:rPr>
                <a:t>회의결과 계속 사용키로 결정함</a:t>
              </a:r>
              <a:r>
                <a:rPr lang="en-US" altLang="ko-KR" sz="1100" dirty="0" smtClean="0">
                  <a:latin typeface="+mn-ea"/>
                  <a:ea typeface="+mn-ea"/>
                </a:rPr>
                <a:t>(’25</a:t>
              </a:r>
              <a:r>
                <a:rPr lang="ko-KR" altLang="en-US" sz="1100" dirty="0" smtClean="0">
                  <a:latin typeface="+mn-ea"/>
                  <a:ea typeface="+mn-ea"/>
                </a:rPr>
                <a:t>년 </a:t>
              </a:r>
              <a:r>
                <a:rPr lang="en-US" altLang="ko-KR" sz="1100" dirty="0" smtClean="0">
                  <a:latin typeface="+mn-ea"/>
                  <a:ea typeface="+mn-ea"/>
                </a:rPr>
                <a:t>12</a:t>
              </a:r>
              <a:r>
                <a:rPr lang="ko-KR" altLang="ko-KR" sz="1100" dirty="0">
                  <a:latin typeface="+mn-ea"/>
                  <a:ea typeface="+mn-ea"/>
                </a:rPr>
                <a:t>월</a:t>
              </a:r>
              <a:r>
                <a:rPr lang="en-US" altLang="ko-KR" sz="1100" dirty="0" smtClean="0">
                  <a:latin typeface="+mn-ea"/>
                  <a:ea typeface="+mn-ea"/>
                </a:rPr>
                <a:t>)</a:t>
              </a:r>
              <a:endParaRPr lang="en-US" altLang="ko-KR" sz="1100" b="1" dirty="0" smtClean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 smtClean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원인 분석</a:t>
              </a:r>
            </a:p>
            <a:p>
              <a:pPr lvl="0">
                <a:lnSpc>
                  <a:spcPct val="150000"/>
                </a:lnSpc>
              </a:pPr>
              <a:r>
                <a: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</a:t>
              </a:r>
              <a:r>
                <a:rPr lang="ko-KR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베어링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파손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부하측 베어링의 장기 사용에 따른 피로 누적으로 파손 발생</a:t>
              </a:r>
            </a:p>
            <a:p>
              <a:pPr lvl="0">
                <a:lnSpc>
                  <a:spcPct val="150000"/>
                </a:lnSpc>
              </a:pPr>
              <a:r>
                <a: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- 2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 피해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소손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: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베어링 파손으로 인한 </a:t>
              </a:r>
              <a:r>
                <a:rPr lang="ko-KR" altLang="ko-KR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회전자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ko-KR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편심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및 마찰열 발생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→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권선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(Coil)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절연 파괴 및 소손 유발</a:t>
              </a:r>
            </a:p>
            <a:p>
              <a:pPr lvl="0">
                <a:lnSpc>
                  <a:spcPct val="150000"/>
                </a:lnSpc>
              </a:pPr>
              <a:r>
                <a: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- </a:t>
              </a:r>
              <a:r>
                <a:rPr lang="ko-KR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내역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고장 즉시 </a:t>
              </a:r>
              <a:r>
                <a:rPr lang="ko-KR" altLang="ko-KR" sz="11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예비모터</a:t>
              </a:r>
              <a:r>
                <a:rPr lang="ko-KR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교체</a:t>
              </a:r>
              <a:r>
                <a:rPr lang="ko-KR" altLang="en-US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r>
                <a:rPr lang="ko-KR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라인 복구 </a:t>
              </a:r>
              <a:r>
                <a:rPr lang="ko-KR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후</a:t>
              </a:r>
              <a:r>
                <a: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ko-KR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고장품은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외부 </a:t>
              </a:r>
              <a:r>
                <a:rPr lang="ko-KR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전문업체</a:t>
              </a:r>
              <a:r>
                <a: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(</a:t>
              </a:r>
              <a:r>
                <a:rPr lang="ko-KR" altLang="ko-KR" sz="11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수신중전기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반출하여 </a:t>
              </a:r>
              <a:r>
                <a:rPr lang="ko-KR" altLang="ko-KR" sz="11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정밀수리</a:t>
              </a:r>
              <a:r>
                <a:rPr lang="en-US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ko-KR" sz="11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예정</a:t>
              </a:r>
              <a:endParaRPr lang="ko-KR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b="1" dirty="0" smtClean="0">
                  <a:latin typeface="+mn-ea"/>
                  <a:ea typeface="+mn-ea"/>
                </a:rPr>
                <a:t>3. </a:t>
              </a:r>
              <a:r>
                <a:rPr lang="ko-KR" altLang="en-US" sz="1100" b="1" dirty="0" smtClean="0">
                  <a:latin typeface="+mn-ea"/>
                  <a:ea typeface="+mn-ea"/>
                </a:rPr>
                <a:t>수리 </a:t>
              </a:r>
              <a:r>
                <a:rPr lang="ko-KR" altLang="en-US" sz="1100" b="1" dirty="0" err="1" smtClean="0">
                  <a:latin typeface="+mn-ea"/>
                  <a:ea typeface="+mn-ea"/>
                </a:rPr>
                <a:t>상세내역</a:t>
              </a:r>
              <a:endParaRPr lang="en-US" altLang="ko-KR" sz="1100" b="1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 smtClean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</a:pPr>
              <a:endParaRPr lang="en-US" altLang="ko-KR" sz="1100" b="1" dirty="0">
                <a:latin typeface="+mn-ea"/>
                <a:ea typeface="+mn-ea"/>
              </a:endParaRPr>
            </a:p>
            <a:p>
              <a:pPr lvl="0">
                <a:lnSpc>
                  <a:spcPct val="150000"/>
                </a:lnSpc>
              </a:pPr>
              <a:r>
                <a:rPr lang="en-US" altLang="ko-KR" sz="1100" b="1" dirty="0" smtClean="0">
                  <a:latin typeface="+mn-ea"/>
                  <a:ea typeface="+mn-ea"/>
                </a:rPr>
                <a:t>▶ </a:t>
              </a:r>
              <a:r>
                <a:rPr lang="ko-KR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 수리 </a:t>
              </a:r>
              <a:r>
                <a:rPr lang="ko-KR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비용</a:t>
              </a:r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:</a:t>
              </a:r>
              <a:r>
                <a:rPr lang="en-US" altLang="ko-KR" sz="12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15,400,000</a:t>
              </a:r>
              <a:r>
                <a:rPr lang="ko-KR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(VAT </a:t>
              </a:r>
              <a:r>
                <a:rPr lang="ko-KR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r>
                <a:rPr lang="en-US" altLang="ko-KR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ko-KR" sz="12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네고</a:t>
              </a:r>
              <a:r>
                <a:rPr lang="en-US" altLang="ko-KR" sz="12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15,000,000</a:t>
              </a:r>
              <a:r>
                <a:rPr lang="ko-KR" altLang="ko-KR" sz="12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</a:t>
              </a:r>
              <a:endParaRPr lang="ko-KR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3733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</a:t>
            </a:r>
            <a:r>
              <a:rPr lang="ko-KR" altLang="ko-KR" sz="1600" b="1" dirty="0">
                <a:latin typeface="+mn-ea"/>
                <a:ea typeface="+mn-ea"/>
              </a:rPr>
              <a:t>메인 모터</a:t>
            </a:r>
            <a:r>
              <a:rPr lang="en-US" altLang="ko-KR" sz="1600" b="1" dirty="0">
                <a:latin typeface="+mn-ea"/>
                <a:ea typeface="+mn-ea"/>
              </a:rPr>
              <a:t>(AC 400kW) </a:t>
            </a:r>
            <a:r>
              <a:rPr lang="ko-KR" altLang="ko-KR" sz="1600" b="1" dirty="0">
                <a:latin typeface="+mn-ea"/>
                <a:ea typeface="+mn-ea"/>
              </a:rPr>
              <a:t>고장 수리 및 </a:t>
            </a:r>
            <a:r>
              <a:rPr lang="ko-KR" altLang="ko-KR" sz="1600" b="1" dirty="0" err="1">
                <a:latin typeface="+mn-ea"/>
                <a:ea typeface="+mn-ea"/>
              </a:rPr>
              <a:t>예비품</a:t>
            </a:r>
            <a:r>
              <a:rPr lang="ko-KR" altLang="ko-KR" sz="1600" b="1" dirty="0">
                <a:latin typeface="+mn-ea"/>
                <a:ea typeface="+mn-ea"/>
              </a:rPr>
              <a:t> </a:t>
            </a:r>
            <a:r>
              <a:rPr lang="ko-KR" altLang="ko-KR" sz="1600" b="1" dirty="0" smtClean="0">
                <a:latin typeface="+mn-ea"/>
                <a:ea typeface="+mn-ea"/>
              </a:rPr>
              <a:t>현황</a:t>
            </a:r>
            <a:r>
              <a:rPr lang="ko-KR" altLang="en-US" sz="1600" b="1" dirty="0" smtClean="0"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06415"/>
              </p:ext>
            </p:extLst>
          </p:nvPr>
        </p:nvGraphicFramePr>
        <p:xfrm>
          <a:off x="899592" y="4229234"/>
          <a:ext cx="7200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50833662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4103627154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05175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구분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상세 내용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비고</a:t>
                      </a:r>
                      <a:endParaRPr lang="ko-KR" sz="1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3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코일 </a:t>
                      </a:r>
                      <a:r>
                        <a:rPr lang="ko-KR" sz="1100" b="1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재권선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소손된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구 권선 제거 및 신규 권선 작업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(Rewinding)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성능 복원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기계 가공</a:t>
                      </a:r>
                      <a:endParaRPr lang="ko-KR" sz="110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베어링 손상으로 마모된 </a:t>
                      </a: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하우징부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육성 및 정밀 가공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치수 복원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53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소모품 교체</a:t>
                      </a:r>
                      <a:endParaRPr lang="ko-KR" sz="110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부하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/</a:t>
                      </a: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반부하측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정밀 베어링 신규 교체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-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13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정밀 밸런싱</a:t>
                      </a:r>
                      <a:endParaRPr lang="ko-KR" sz="110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회전자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다이내믹 </a:t>
                      </a: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밸런싱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및 </a:t>
                      </a: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무부하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시험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진동 억제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33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11560" y="692696"/>
            <a:ext cx="6264696" cy="664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25"/>
              </a:spcBef>
              <a:spcAft>
                <a:spcPts val="600"/>
              </a:spcAft>
            </a:pPr>
            <a:r>
              <a:rPr lang="en-US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4. </a:t>
            </a:r>
            <a:r>
              <a:rPr lang="ko-KR" altLang="ko-KR" sz="1200" b="1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예비품</a:t>
            </a:r>
            <a:r>
              <a:rPr lang="ko-KR" altLang="ko-KR" sz="12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활용으로 </a:t>
            </a:r>
            <a:r>
              <a:rPr lang="ko-KR" altLang="ko-KR" sz="1200" b="1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비가동</a:t>
            </a:r>
            <a:r>
              <a:rPr lang="ko-KR" altLang="ko-KR" sz="12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시간 및 </a:t>
            </a:r>
            <a:r>
              <a:rPr lang="ko-KR" altLang="ko-KR" sz="1200" b="1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손실감소</a:t>
            </a:r>
            <a:r>
              <a:rPr lang="ko-KR" altLang="ko-KR" sz="12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효과</a:t>
            </a: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r>
              <a:rPr lang="en-US" altLang="ko-KR" sz="1100" b="1" dirty="0" smtClean="0">
                <a:solidFill>
                  <a:srgbClr val="1F1F1F"/>
                </a:solidFill>
                <a:latin typeface="+mn-ea"/>
                <a:ea typeface="+mn-ea"/>
              </a:rPr>
              <a:t>    - </a:t>
            </a:r>
            <a:r>
              <a:rPr lang="ko-KR" altLang="ko-KR" sz="1100" dirty="0" smtClean="0">
                <a:latin typeface="+mn-ea"/>
                <a:ea typeface="+mn-ea"/>
              </a:rPr>
              <a:t>금번 </a:t>
            </a:r>
            <a:r>
              <a:rPr lang="ko-KR" altLang="ko-KR" sz="1100" dirty="0">
                <a:latin typeface="+mn-ea"/>
                <a:ea typeface="+mn-ea"/>
              </a:rPr>
              <a:t>사고 발생 시</a:t>
            </a:r>
            <a:r>
              <a:rPr lang="en-US" altLang="ko-KR" sz="1100" dirty="0">
                <a:latin typeface="+mn-ea"/>
                <a:ea typeface="+mn-ea"/>
              </a:rPr>
              <a:t>, </a:t>
            </a:r>
            <a:r>
              <a:rPr lang="ko-KR" altLang="ko-KR" sz="1100" dirty="0">
                <a:latin typeface="+mn-ea"/>
                <a:ea typeface="+mn-ea"/>
              </a:rPr>
              <a:t>사전 확보된 예비 모터를 활용하여 </a:t>
            </a:r>
            <a:r>
              <a:rPr lang="ko-KR" altLang="ko-KR" sz="1100" dirty="0" err="1">
                <a:latin typeface="+mn-ea"/>
                <a:ea typeface="+mn-ea"/>
              </a:rPr>
              <a:t>비가동</a:t>
            </a:r>
            <a:r>
              <a:rPr lang="ko-KR" altLang="ko-KR" sz="1100" dirty="0">
                <a:latin typeface="+mn-ea"/>
                <a:ea typeface="+mn-ea"/>
              </a:rPr>
              <a:t> 시간을 </a:t>
            </a:r>
            <a:r>
              <a:rPr lang="ko-KR" altLang="ko-KR" sz="1100" dirty="0" smtClean="0">
                <a:latin typeface="+mn-ea"/>
                <a:ea typeface="+mn-ea"/>
              </a:rPr>
              <a:t>단축함</a:t>
            </a:r>
            <a:endParaRPr lang="ko-KR" altLang="ko-KR" sz="1100" dirty="0"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216713"/>
              </p:ext>
            </p:extLst>
          </p:nvPr>
        </p:nvGraphicFramePr>
        <p:xfrm>
          <a:off x="1034730" y="1367402"/>
          <a:ext cx="7632848" cy="1042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265">
                  <a:extLst>
                    <a:ext uri="{9D8B030D-6E8A-4147-A177-3AD203B41FA5}">
                      <a16:colId xmlns:a16="http://schemas.microsoft.com/office/drawing/2014/main" val="2690477182"/>
                    </a:ext>
                  </a:extLst>
                </a:gridCol>
                <a:gridCol w="2338135">
                  <a:extLst>
                    <a:ext uri="{9D8B030D-6E8A-4147-A177-3AD203B41FA5}">
                      <a16:colId xmlns:a16="http://schemas.microsoft.com/office/drawing/2014/main" val="1911106268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130579487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573648985"/>
                    </a:ext>
                  </a:extLst>
                </a:gridCol>
              </a:tblGrid>
              <a:tr h="323544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구분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예비품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</a:t>
                      </a:r>
                      <a:r>
                        <a:rPr lang="ko-KR" sz="11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미확보</a:t>
                      </a:r>
                      <a:r>
                        <a:rPr lang="en-US" altLang="ko-KR" sz="11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(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추정 수리 대기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)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예비품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</a:t>
                      </a:r>
                      <a:r>
                        <a:rPr lang="ko-KR" sz="11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활용</a:t>
                      </a:r>
                      <a:r>
                        <a:rPr lang="en-US" altLang="ko-KR" sz="11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</a:t>
                      </a:r>
                      <a:r>
                        <a:rPr lang="en-US" sz="11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(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즉시 교체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)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개선 효과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96781"/>
                  </a:ext>
                </a:extLst>
              </a:tr>
              <a:tr h="349601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소요 시간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약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3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일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~ 5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일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약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6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시간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~ 8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시간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최대 </a:t>
                      </a:r>
                      <a:r>
                        <a:rPr lang="ko-KR" sz="11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약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4</a:t>
                      </a:r>
                      <a:r>
                        <a:rPr lang="ko-KR" sz="11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일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(90</a:t>
                      </a:r>
                      <a:r>
                        <a:rPr lang="ko-KR" sz="11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시간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) 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단축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574600"/>
                  </a:ext>
                </a:extLst>
              </a:tr>
              <a:tr h="349601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주요 공정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탈거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→ </a:t>
                      </a:r>
                      <a:r>
                        <a:rPr lang="ko-KR" sz="110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입고수리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</a:t>
                      </a:r>
                      <a:r>
                        <a:rPr lang="en-US" sz="110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→ 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재설치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탈거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 → </a:t>
                      </a:r>
                      <a:r>
                        <a:rPr lang="ko-KR" sz="1100" b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예비품 즉시 설치</a:t>
                      </a:r>
                      <a:endParaRPr lang="ko-KR" sz="110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  <a:cs typeface="Google Sans"/>
                        </a:rPr>
                        <a:t>가동 중단 최소화</a:t>
                      </a:r>
                      <a:endParaRPr lang="ko-KR" sz="1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371917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773332" y="2385376"/>
            <a:ext cx="6174932" cy="1715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  <a:spcAft>
                <a:spcPts val="600"/>
              </a:spcAft>
            </a:pPr>
            <a:r>
              <a:rPr lang="en-US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4.1 </a:t>
            </a:r>
            <a:r>
              <a:rPr lang="ko-KR" altLang="ko-KR" sz="1200" b="1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비가동</a:t>
            </a:r>
            <a:r>
              <a:rPr lang="ko-KR" altLang="ko-KR" sz="12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ko-KR" sz="1200" b="1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손실량</a:t>
            </a:r>
            <a:r>
              <a:rPr lang="ko-KR" altLang="ko-KR" sz="12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산출</a:t>
            </a:r>
            <a:endParaRPr lang="ko-KR" altLang="ko-KR" sz="1200" b="1" dirty="0">
              <a:latin typeface="+mn-ea"/>
              <a:ea typeface="+mn-ea"/>
            </a:endParaRPr>
          </a:p>
          <a:p>
            <a:pPr lv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altLang="ko-KR" sz="11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   - </a:t>
            </a:r>
            <a:r>
              <a:rPr lang="ko-KR" altLang="ko-KR" sz="11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기준 </a:t>
            </a:r>
            <a:r>
              <a:rPr lang="ko-KR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생산량</a:t>
            </a:r>
            <a:r>
              <a:rPr lang="en-US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: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시간당 약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700KG (24</a:t>
            </a:r>
            <a:r>
              <a:rPr lang="ko-KR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시간 연속 가동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)</a:t>
            </a:r>
            <a:endParaRPr lang="ko-KR" altLang="ko-KR" sz="1100" dirty="0">
              <a:latin typeface="+mn-ea"/>
              <a:ea typeface="+mn-ea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altLang="ko-KR" sz="11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   - </a:t>
            </a:r>
            <a:r>
              <a:rPr lang="ko-KR" altLang="ko-KR" sz="11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손실 </a:t>
            </a:r>
            <a:r>
              <a:rPr lang="ko-KR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방어 계산</a:t>
            </a:r>
            <a:r>
              <a:rPr lang="en-US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: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endParaRPr lang="ko-KR" altLang="ko-KR" sz="1100" dirty="0">
              <a:latin typeface="+mn-ea"/>
              <a:ea typeface="+mn-ea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  <a:spcAft>
                <a:spcPts val="0"/>
              </a:spcAft>
              <a:buClr>
                <a:srgbClr val="1F1F1F"/>
              </a:buClr>
            </a:pPr>
            <a:r>
              <a:rPr lang="en-US" altLang="ko-KR" sz="11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   - </a:t>
            </a:r>
            <a:r>
              <a:rPr lang="ko-KR" altLang="ko-KR" sz="11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예비품</a:t>
            </a:r>
            <a:r>
              <a:rPr lang="ko-KR" altLang="ko-KR" sz="11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미확보 시 예상 손실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(4</a:t>
            </a:r>
            <a:r>
              <a:rPr lang="ko-KR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일 기준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): 700kg/</a:t>
            </a:r>
            <a:r>
              <a:rPr lang="en-US" altLang="ko-KR" sz="1100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hr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X 24</a:t>
            </a:r>
            <a:r>
              <a:rPr lang="ko-KR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시간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X 4</a:t>
            </a:r>
            <a:r>
              <a:rPr lang="ko-KR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일 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= 67,200kg</a:t>
            </a:r>
            <a:endParaRPr lang="ko-KR" altLang="ko-KR" sz="1100" dirty="0">
              <a:latin typeface="+mn-ea"/>
              <a:ea typeface="+mn-ea"/>
              <a:cs typeface="Google Sans"/>
            </a:endParaRPr>
          </a:p>
          <a:p>
            <a:pPr lvl="0">
              <a:lnSpc>
                <a:spcPct val="150000"/>
              </a:lnSpc>
              <a:spcAft>
                <a:spcPts val="0"/>
              </a:spcAft>
              <a:buClr>
                <a:srgbClr val="1F1F1F"/>
              </a:buClr>
            </a:pPr>
            <a:r>
              <a:rPr lang="en-US" altLang="ko-KR" sz="11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   - </a:t>
            </a:r>
            <a:r>
              <a:rPr lang="ko-KR" altLang="ko-KR" sz="1100" b="1" dirty="0" err="1" smtClean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예비품</a:t>
            </a:r>
            <a:r>
              <a:rPr lang="ko-KR" altLang="ko-KR" sz="1100" b="1" dirty="0" smtClean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ko-KR" sz="11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활용 시 실제 손실</a:t>
            </a:r>
            <a:r>
              <a:rPr lang="en-US" altLang="ko-KR" sz="11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(7</a:t>
            </a:r>
            <a:r>
              <a:rPr lang="ko-KR" altLang="ko-KR" sz="11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시간 기준</a:t>
            </a:r>
            <a:r>
              <a:rPr lang="en-US" altLang="ko-KR" sz="11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): 700kg/</a:t>
            </a:r>
            <a:r>
              <a:rPr lang="en-US" altLang="ko-KR" sz="1100" b="1" dirty="0" err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hr</a:t>
            </a:r>
            <a:r>
              <a:rPr lang="en-US" altLang="ko-KR" sz="11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 X 7</a:t>
            </a:r>
            <a:r>
              <a:rPr lang="ko-KR" altLang="ko-KR" sz="11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시간 </a:t>
            </a:r>
            <a:r>
              <a:rPr lang="en-US" altLang="ko-KR" sz="1100" b="1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Google Sans"/>
              </a:rPr>
              <a:t>= 4,900kg </a:t>
            </a:r>
            <a:endParaRPr lang="ko-KR" altLang="ko-KR" sz="1100" b="1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Google Sans"/>
            </a:endParaRPr>
          </a:p>
          <a:p>
            <a:pPr lvl="0"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SzPts val="1100"/>
            </a:pPr>
            <a:r>
              <a:rPr lang="en-US" altLang="ko-KR" sz="11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   - </a:t>
            </a:r>
            <a:r>
              <a:rPr lang="ko-KR" altLang="ko-KR" sz="11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성과 </a:t>
            </a:r>
            <a:r>
              <a:rPr lang="ko-KR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요약</a:t>
            </a:r>
            <a:r>
              <a:rPr lang="en-US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:</a:t>
            </a:r>
            <a:r>
              <a:rPr lang="en-US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ko-KR" sz="1100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예비품</a:t>
            </a:r>
            <a:r>
              <a:rPr lang="ko-KR" altLang="ko-KR" sz="11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운영을 통해 </a:t>
            </a:r>
            <a:r>
              <a:rPr lang="ko-KR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약</a:t>
            </a:r>
            <a:r>
              <a:rPr lang="en-US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62,300KG (62.3</a:t>
            </a:r>
            <a:r>
              <a:rPr lang="ko-KR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톤</a:t>
            </a:r>
            <a:r>
              <a:rPr lang="en-US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)</a:t>
            </a:r>
            <a:r>
              <a:rPr lang="ko-KR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의 생산량 </a:t>
            </a:r>
            <a:r>
              <a:rPr lang="ko-KR" altLang="ko-KR" sz="1100" b="1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손실감소</a:t>
            </a:r>
            <a:r>
              <a:rPr lang="ko-KR" altLang="ko-KR" sz="1100" b="1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방지함</a:t>
            </a:r>
            <a:endParaRPr lang="ko-KR" altLang="ko-KR" sz="1100" u="none" strike="noStrike" dirty="0">
              <a:effectLst/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10576" y="4068194"/>
            <a:ext cx="6174932" cy="590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5. </a:t>
            </a:r>
            <a:r>
              <a:rPr lang="ko-KR" altLang="ko-KR" sz="1200" b="1" dirty="0" err="1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예비품</a:t>
            </a:r>
            <a:r>
              <a:rPr lang="ko-KR" altLang="ko-KR" sz="1200" b="1" dirty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 </a:t>
            </a:r>
            <a:r>
              <a:rPr lang="ko-KR" altLang="ko-KR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현황</a:t>
            </a:r>
            <a:r>
              <a:rPr lang="en-US" altLang="ko-KR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 </a:t>
            </a:r>
            <a:r>
              <a:rPr lang="ko-KR" altLang="en-US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및 결론</a:t>
            </a:r>
            <a:endParaRPr lang="ko-KR" altLang="ko-KR" sz="1200" b="1" dirty="0">
              <a:latin typeface="+mn-lt"/>
            </a:endParaRP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- </a:t>
            </a:r>
            <a:r>
              <a:rPr lang="ko-KR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설비의 </a:t>
            </a:r>
            <a:r>
              <a:rPr lang="ko-KR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안정적 가동을 위해 아래와 같이 주요 </a:t>
            </a:r>
            <a:r>
              <a:rPr lang="ko-KR" altLang="ko-KR" sz="1200" dirty="0" err="1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예비품을</a:t>
            </a:r>
            <a:r>
              <a:rPr lang="ko-KR" altLang="ko-KR" sz="1200" dirty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관리하고 있음</a:t>
            </a:r>
            <a:endParaRPr lang="ko-KR" altLang="ko-KR" sz="1200" dirty="0">
              <a:effectLst/>
              <a:latin typeface="+mn-ea"/>
              <a:ea typeface="+mn-ea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619205"/>
              </p:ext>
            </p:extLst>
          </p:nvPr>
        </p:nvGraphicFramePr>
        <p:xfrm>
          <a:off x="971600" y="4640114"/>
          <a:ext cx="7277745" cy="1074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549">
                  <a:extLst>
                    <a:ext uri="{9D8B030D-6E8A-4147-A177-3AD203B41FA5}">
                      <a16:colId xmlns:a16="http://schemas.microsoft.com/office/drawing/2014/main" val="2393987936"/>
                    </a:ext>
                  </a:extLst>
                </a:gridCol>
                <a:gridCol w="1455549">
                  <a:extLst>
                    <a:ext uri="{9D8B030D-6E8A-4147-A177-3AD203B41FA5}">
                      <a16:colId xmlns:a16="http://schemas.microsoft.com/office/drawing/2014/main" val="890625405"/>
                    </a:ext>
                  </a:extLst>
                </a:gridCol>
                <a:gridCol w="1455549">
                  <a:extLst>
                    <a:ext uri="{9D8B030D-6E8A-4147-A177-3AD203B41FA5}">
                      <a16:colId xmlns:a16="http://schemas.microsoft.com/office/drawing/2014/main" val="1995810037"/>
                    </a:ext>
                  </a:extLst>
                </a:gridCol>
                <a:gridCol w="1455549">
                  <a:extLst>
                    <a:ext uri="{9D8B030D-6E8A-4147-A177-3AD203B41FA5}">
                      <a16:colId xmlns:a16="http://schemas.microsoft.com/office/drawing/2014/main" val="2138473235"/>
                    </a:ext>
                  </a:extLst>
                </a:gridCol>
                <a:gridCol w="1455549">
                  <a:extLst>
                    <a:ext uri="{9D8B030D-6E8A-4147-A177-3AD203B41FA5}">
                      <a16:colId xmlns:a16="http://schemas.microsoft.com/office/drawing/2014/main" val="1821535754"/>
                    </a:ext>
                  </a:extLst>
                </a:gridCol>
              </a:tblGrid>
              <a:tr h="343882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품명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사양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수량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사용호기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1100" b="1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신품가격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(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예상</a:t>
                      </a: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)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66865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92mm </a:t>
                      </a:r>
                      <a:r>
                        <a:rPr lang="ko-KR" sz="1100" b="1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메인 모터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AC 400kW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1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#2,7,8,13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약 </a:t>
                      </a:r>
                      <a:r>
                        <a:rPr lang="en-US" sz="1100" dirty="0" smtClean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41,,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000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천원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93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92mm</a:t>
                      </a:r>
                      <a:r>
                        <a:rPr lang="ko-KR" sz="1100" b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메인 모터</a:t>
                      </a:r>
                      <a:endParaRPr lang="ko-KR" sz="110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DC 262kW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1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ogle Sans"/>
                        </a:rPr>
                        <a:t>#3,4,6,9,11,12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약 </a:t>
                      </a: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40,000</a:t>
                      </a:r>
                      <a:r>
                        <a:rPr lang="ko-KR" sz="1100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Google Sans"/>
                        </a:rPr>
                        <a:t>천원</a:t>
                      </a:r>
                      <a:endParaRPr lang="ko-KR" sz="1100" dirty="0"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14300" marR="114300" marT="76200" marB="7620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485923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885788" y="5698092"/>
            <a:ext cx="7511514" cy="28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lang="ko-KR" altLang="ko-KR" sz="1100" dirty="0">
                <a:latin typeface="+mn-ea"/>
                <a:ea typeface="+mn-ea"/>
              </a:rPr>
              <a:t>▶ </a:t>
            </a:r>
            <a:r>
              <a:rPr lang="en-US" altLang="ko-KR" sz="1100" dirty="0">
                <a:latin typeface="+mn-ea"/>
                <a:ea typeface="+mn-ea"/>
              </a:rPr>
              <a:t>75mm </a:t>
            </a:r>
            <a:r>
              <a:rPr lang="ko-KR" altLang="ko-KR" sz="1100" dirty="0">
                <a:latin typeface="+mn-ea"/>
                <a:ea typeface="+mn-ea"/>
              </a:rPr>
              <a:t>호기는</a:t>
            </a:r>
            <a:r>
              <a:rPr lang="en-US" altLang="ko-KR" sz="1100" dirty="0">
                <a:latin typeface="+mn-ea"/>
                <a:ea typeface="+mn-ea"/>
              </a:rPr>
              <a:t> D/C 262Kw</a:t>
            </a:r>
            <a:r>
              <a:rPr lang="ko-KR" altLang="ko-KR" sz="1100" dirty="0">
                <a:latin typeface="+mn-ea"/>
                <a:ea typeface="+mn-ea"/>
              </a:rPr>
              <a:t>를 공용 사용가능 </a:t>
            </a:r>
            <a:r>
              <a:rPr lang="en-US" altLang="ko-KR" sz="1100" dirty="0">
                <a:latin typeface="+mn-ea"/>
                <a:ea typeface="+mn-ea"/>
              </a:rPr>
              <a:t>(</a:t>
            </a:r>
            <a:r>
              <a:rPr lang="ko-KR" altLang="ko-KR" sz="1100" dirty="0">
                <a:latin typeface="+mn-ea"/>
                <a:ea typeface="+mn-ea"/>
              </a:rPr>
              <a:t>모터와 기어박스 연결 </a:t>
            </a:r>
            <a:r>
              <a:rPr lang="ko-KR" altLang="ko-KR" sz="1100" dirty="0" err="1">
                <a:latin typeface="+mn-ea"/>
                <a:ea typeface="+mn-ea"/>
              </a:rPr>
              <a:t>리데나</a:t>
            </a:r>
            <a:r>
              <a:rPr lang="ko-KR" altLang="ko-KR" sz="1100" dirty="0">
                <a:latin typeface="+mn-ea"/>
                <a:ea typeface="+mn-ea"/>
              </a:rPr>
              <a:t> 개조</a:t>
            </a:r>
            <a:r>
              <a:rPr lang="en-US" altLang="ko-KR" sz="1100" dirty="0">
                <a:latin typeface="+mn-ea"/>
                <a:ea typeface="+mn-ea"/>
              </a:rPr>
              <a:t>)</a:t>
            </a:r>
            <a:endParaRPr lang="ko-KR" altLang="ko-KR" sz="1100" dirty="0">
              <a:effectLst/>
              <a:latin typeface="+mn-ea"/>
              <a:ea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11560" y="6015940"/>
            <a:ext cx="7920880" cy="590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6. </a:t>
            </a:r>
            <a:r>
              <a:rPr lang="ko-KR" altLang="en-US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결 론</a:t>
            </a:r>
            <a:endParaRPr lang="ko-KR" altLang="ko-KR" sz="1200" b="1" dirty="0">
              <a:latin typeface="+mn-lt"/>
            </a:endParaRPr>
          </a:p>
          <a:p>
            <a:pPr>
              <a:lnSpc>
                <a:spcPct val="114000"/>
              </a:lnSpc>
              <a:spcAft>
                <a:spcPts val="1200"/>
              </a:spcAft>
            </a:pP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-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예비품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수리 후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준비상태로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유지하는 것이 문제발생 시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비가동으로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인한 생산량 감소보다 효과적임 </a:t>
            </a:r>
            <a:endParaRPr lang="ko-KR" altLang="ko-KR" sz="1200" dirty="0"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11560" y="692696"/>
            <a:ext cx="6264696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25"/>
              </a:spcBef>
              <a:spcAft>
                <a:spcPts val="600"/>
              </a:spcAft>
            </a:pPr>
            <a:r>
              <a:rPr lang="en-US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※ </a:t>
            </a:r>
            <a:r>
              <a:rPr lang="ko-KR" altLang="en-US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첨부</a:t>
            </a:r>
            <a:r>
              <a:rPr lang="en-US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1</a:t>
            </a:r>
            <a:r>
              <a:rPr lang="ko-KR" altLang="en-US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– </a:t>
            </a:r>
            <a:r>
              <a:rPr lang="ko-KR" altLang="en-US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파손 모터 </a:t>
            </a:r>
            <a:r>
              <a:rPr lang="ko-KR" altLang="en-US" sz="1200" b="1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수리견적서</a:t>
            </a:r>
            <a:r>
              <a:rPr lang="ko-KR" altLang="en-US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및 </a:t>
            </a:r>
            <a:r>
              <a:rPr lang="ko-KR" altLang="en-US" sz="1200" b="1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사진대지</a:t>
            </a:r>
            <a:endParaRPr lang="en-US" altLang="ko-KR" sz="1200" b="1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endParaRPr lang="en-US" altLang="ko-KR" sz="1200" b="1" dirty="0" smtClean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  <a:p>
            <a:pPr>
              <a:spcBef>
                <a:spcPts val="1125"/>
              </a:spcBef>
              <a:spcAft>
                <a:spcPts val="600"/>
              </a:spcAft>
            </a:pPr>
            <a:r>
              <a:rPr lang="ko-KR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※</a:t>
            </a:r>
            <a:r>
              <a:rPr lang="en-US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첨부</a:t>
            </a:r>
            <a:r>
              <a:rPr lang="en-US" altLang="ko-KR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2 - </a:t>
            </a:r>
            <a:r>
              <a:rPr lang="ko-KR" altLang="en-US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신규 </a:t>
            </a:r>
            <a:r>
              <a:rPr lang="ko-KR" altLang="en-US" sz="1200" b="1" dirty="0" err="1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제작구매</a:t>
            </a:r>
            <a:r>
              <a:rPr lang="ko-KR" altLang="en-US" sz="1200" b="1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시 견적서</a:t>
            </a:r>
            <a:endParaRPr lang="en-US" altLang="ko-KR" sz="1200" b="1" dirty="0">
              <a:solidFill>
                <a:srgbClr val="1F1F1F"/>
              </a:solidFill>
              <a:latin typeface="+mn-ea"/>
              <a:ea typeface="+mn-ea"/>
              <a:cs typeface="Google San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917599"/>
            <a:ext cx="3643135" cy="223224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800" y="923764"/>
            <a:ext cx="3632631" cy="410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6124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35727</TotalTime>
  <Words>505</Words>
  <Application>Microsoft Office PowerPoint</Application>
  <PresentationFormat>화면 슬라이드 쇼(4:3)</PresentationFormat>
  <Paragraphs>97</Paragraphs>
  <Slides>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3</vt:i4>
      </vt:variant>
      <vt:variant>
        <vt:lpstr>재구성한 쇼</vt:lpstr>
      </vt:variant>
      <vt:variant>
        <vt:i4>1</vt:i4>
      </vt:variant>
    </vt:vector>
  </HeadingPairs>
  <TitlesOfParts>
    <vt:vector size="18" baseType="lpstr">
      <vt:lpstr>Google Sans</vt:lpstr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1673</cp:revision>
  <cp:lastPrinted>2026-03-03T23:42:12Z</cp:lastPrinted>
  <dcterms:created xsi:type="dcterms:W3CDTF">2006-12-21T02:27:07Z</dcterms:created>
  <dcterms:modified xsi:type="dcterms:W3CDTF">2026-03-17T08:42:37Z</dcterms:modified>
</cp:coreProperties>
</file>