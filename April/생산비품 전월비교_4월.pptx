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생산비품 구매 현황 분석 (2월 → 3월)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4E0"/>
                </a:solidFill>
              </a:rPr>
              <a:t>2025년 3월 기준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" y="80467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2월 합계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9692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1,116,000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원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0128" y="80467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3월 합계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9692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472,500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2618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원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777240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81928" y="80467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전월 대비 증감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63640" y="9692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▼ 643,500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2618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원 (−57.7%)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8600" y="157276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항목별 증감 분석표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645920"/>
            <a:ext cx="3200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1645920"/>
            <a:ext cx="3200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1645920"/>
            <a:ext cx="21031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품명 (Item)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51760" y="1645920"/>
            <a:ext cx="6858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164592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규격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37560" y="1645920"/>
            <a:ext cx="7772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1645920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2월 수량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0" y="1645920"/>
            <a:ext cx="7772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1645920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3월 수량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92040" y="1645920"/>
            <a:ext cx="7772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645920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단가 (₩)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69280" y="1645920"/>
            <a:ext cx="7315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1645920"/>
            <a:ext cx="731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증감액 (₩)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0" y="1645920"/>
            <a:ext cx="6858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164592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증감률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1920240"/>
            <a:ext cx="3200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1920240"/>
            <a:ext cx="3200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8640" y="1920240"/>
            <a:ext cx="210312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1920240"/>
            <a:ext cx="21031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투명고압호스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651760" y="1920240"/>
            <a:ext cx="6858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51760" y="1920240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75×50M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37560" y="1920240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1920240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114800" y="1920240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0" y="1920240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-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92040" y="1920240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1920240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340,000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669280" y="1920240"/>
            <a:ext cx="73152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0" y="1920240"/>
            <a:ext cx="7315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-340,000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00800" y="1920240"/>
            <a:ext cx="6858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1920240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단종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28600" y="2116836"/>
            <a:ext cx="3200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2116836"/>
            <a:ext cx="3200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2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48640" y="2116836"/>
            <a:ext cx="210312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2116836"/>
            <a:ext cx="21031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화이트보드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651760" y="2116836"/>
            <a:ext cx="68580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51760" y="2116836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900×1200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337560" y="2116836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37560" y="2116836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6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114800" y="2116836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0" y="2116836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-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892040" y="2116836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92040" y="2116836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49,000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669280" y="2116836"/>
            <a:ext cx="73152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0" y="2116836"/>
            <a:ext cx="7315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-294,000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400800" y="2116836"/>
            <a:ext cx="68580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0" y="2116836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단종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28600" y="2313432"/>
            <a:ext cx="3200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8600" y="2313432"/>
            <a:ext cx="3200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3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48640" y="2313432"/>
            <a:ext cx="210312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2313432"/>
            <a:ext cx="21031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청통용기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651760" y="2313432"/>
            <a:ext cx="6858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651760" y="2313432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55L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337560" y="2313432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37560" y="2313432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20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114800" y="2313432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0" y="2313432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-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892040" y="2313432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92040" y="2313432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12,000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5669280" y="2313432"/>
            <a:ext cx="73152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69280" y="2313432"/>
            <a:ext cx="7315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-240,000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400800" y="2313432"/>
            <a:ext cx="6858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00800" y="2313432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단종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228600" y="2510028"/>
            <a:ext cx="3200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28600" y="2510028"/>
            <a:ext cx="3200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4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48640" y="2510028"/>
            <a:ext cx="210312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48640" y="2510028"/>
            <a:ext cx="21031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비닐봉투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651760" y="2510028"/>
            <a:ext cx="68580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651760" y="2510028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80×105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337560" y="2510028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337560" y="2510028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4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114800" y="2510028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114800" y="2510028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-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892040" y="2510028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92040" y="2510028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13,000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669280" y="2510028"/>
            <a:ext cx="73152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669280" y="2510028"/>
            <a:ext cx="7315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-52,000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6400800" y="2510028"/>
            <a:ext cx="68580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00800" y="2510028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단종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228600" y="2706624"/>
            <a:ext cx="3200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28600" y="2706624"/>
            <a:ext cx="3200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5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548640" y="2706624"/>
            <a:ext cx="210312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48640" y="2706624"/>
            <a:ext cx="21031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메모홀더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2651760" y="2706624"/>
            <a:ext cx="6858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651760" y="2706624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AMH-20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3337560" y="2706624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337560" y="2706624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40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4114800" y="2706624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114800" y="2706624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-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4892040" y="2706624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892040" y="2706624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1,300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5669280" y="2706624"/>
            <a:ext cx="73152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2706624"/>
            <a:ext cx="7315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-52,000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6400800" y="2706624"/>
            <a:ext cx="6858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400800" y="2706624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단종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228600" y="2903220"/>
            <a:ext cx="3200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28600" y="2903220"/>
            <a:ext cx="3200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6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548640" y="2903220"/>
            <a:ext cx="210312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48640" y="2903220"/>
            <a:ext cx="21031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스텐플채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2651760" y="2903220"/>
            <a:ext cx="68580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651760" y="2903220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500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3337560" y="2903220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337560" y="2903220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4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114800" y="2903220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114800" y="2903220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-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4892040" y="2903220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892040" y="2903220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13,000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5669280" y="2903220"/>
            <a:ext cx="73152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669280" y="2903220"/>
            <a:ext cx="7315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-52,000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6400800" y="2903220"/>
            <a:ext cx="68580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400800" y="2903220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단종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228600" y="3099816"/>
            <a:ext cx="3200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28600" y="3099816"/>
            <a:ext cx="3200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7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548640" y="3099816"/>
            <a:ext cx="210312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48640" y="3099816"/>
            <a:ext cx="21031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테프론판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2651760" y="3099816"/>
            <a:ext cx="6858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651760" y="3099816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300×300×1T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3337560" y="3099816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337560" y="3099816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4114800" y="3099816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114800" y="3099816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-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4892040" y="3099816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892040" y="3099816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32,000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5669280" y="3099816"/>
            <a:ext cx="73152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669280" y="3099816"/>
            <a:ext cx="7315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-32,000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6400800" y="3099816"/>
            <a:ext cx="6858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400800" y="3099816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단종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228600" y="3296412"/>
            <a:ext cx="3200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228600" y="3296412"/>
            <a:ext cx="3200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8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548640" y="3296412"/>
            <a:ext cx="210312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548640" y="3296412"/>
            <a:ext cx="21031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고무망치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2651760" y="3296412"/>
            <a:ext cx="68580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2651760" y="3296412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EA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3337560" y="3296412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3337560" y="3296412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3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4114800" y="3296412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114800" y="3296412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-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4892040" y="3296412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892040" y="3296412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9,000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5669280" y="3296412"/>
            <a:ext cx="73152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5669280" y="3296412"/>
            <a:ext cx="7315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-27,000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6400800" y="3296412"/>
            <a:ext cx="68580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6400800" y="3296412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단종</a:t>
            </a:r>
            <a:endParaRPr lang="en-US" sz="800" dirty="0"/>
          </a:p>
        </p:txBody>
      </p:sp>
      <p:sp>
        <p:nvSpPr>
          <p:cNvPr id="162" name="Shape 160"/>
          <p:cNvSpPr/>
          <p:nvPr/>
        </p:nvSpPr>
        <p:spPr>
          <a:xfrm>
            <a:off x="228600" y="3493008"/>
            <a:ext cx="3200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228600" y="3493008"/>
            <a:ext cx="3200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9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548640" y="3493008"/>
            <a:ext cx="210312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548640" y="3493008"/>
            <a:ext cx="21031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테프론봉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2651760" y="3493008"/>
            <a:ext cx="6858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2651760" y="3493008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6mm×1M</a:t>
            </a:r>
            <a:endParaRPr lang="en-US" sz="800" dirty="0"/>
          </a:p>
        </p:txBody>
      </p:sp>
      <p:sp>
        <p:nvSpPr>
          <p:cNvPr id="168" name="Shape 166"/>
          <p:cNvSpPr/>
          <p:nvPr/>
        </p:nvSpPr>
        <p:spPr>
          <a:xfrm>
            <a:off x="3337560" y="3493008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3337560" y="3493008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2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4114800" y="3493008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4114800" y="3493008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</a:t>
            </a:r>
            <a:endParaRPr lang="en-US" sz="800" dirty="0"/>
          </a:p>
        </p:txBody>
      </p:sp>
      <p:sp>
        <p:nvSpPr>
          <p:cNvPr id="172" name="Shape 170"/>
          <p:cNvSpPr/>
          <p:nvPr/>
        </p:nvSpPr>
        <p:spPr>
          <a:xfrm>
            <a:off x="4892040" y="3493008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892040" y="3493008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11,750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>
            <a:off x="5669280" y="3493008"/>
            <a:ext cx="73152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5669280" y="3493008"/>
            <a:ext cx="7315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-11,750</a:t>
            </a:r>
            <a:endParaRPr lang="en-US" sz="800" dirty="0"/>
          </a:p>
        </p:txBody>
      </p:sp>
      <p:sp>
        <p:nvSpPr>
          <p:cNvPr id="176" name="Shape 174"/>
          <p:cNvSpPr/>
          <p:nvPr/>
        </p:nvSpPr>
        <p:spPr>
          <a:xfrm>
            <a:off x="6400800" y="3493008"/>
            <a:ext cx="6858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6400800" y="3493008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-50.0%</a:t>
            </a:r>
            <a:endParaRPr lang="en-US" sz="800" dirty="0"/>
          </a:p>
        </p:txBody>
      </p:sp>
      <p:sp>
        <p:nvSpPr>
          <p:cNvPr id="178" name="Shape 176"/>
          <p:cNvSpPr/>
          <p:nvPr/>
        </p:nvSpPr>
        <p:spPr>
          <a:xfrm>
            <a:off x="228600" y="3689604"/>
            <a:ext cx="3200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228600" y="3689604"/>
            <a:ext cx="3200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10</a:t>
            </a:r>
            <a:endParaRPr lang="en-US" sz="800" dirty="0"/>
          </a:p>
        </p:txBody>
      </p:sp>
      <p:sp>
        <p:nvSpPr>
          <p:cNvPr id="180" name="Shape 178"/>
          <p:cNvSpPr/>
          <p:nvPr/>
        </p:nvSpPr>
        <p:spPr>
          <a:xfrm>
            <a:off x="548640" y="3689604"/>
            <a:ext cx="210312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548640" y="3689604"/>
            <a:ext cx="21031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배송비</a:t>
            </a:r>
            <a:endParaRPr lang="en-US" sz="800" dirty="0"/>
          </a:p>
        </p:txBody>
      </p:sp>
      <p:sp>
        <p:nvSpPr>
          <p:cNvPr id="182" name="Shape 180"/>
          <p:cNvSpPr/>
          <p:nvPr/>
        </p:nvSpPr>
        <p:spPr>
          <a:xfrm>
            <a:off x="2651760" y="3689604"/>
            <a:ext cx="68580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651760" y="3689604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-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3337560" y="3689604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3337560" y="3689604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4114800" y="3689604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4114800" y="3689604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4892040" y="3689604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4892040" y="3689604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3,000</a:t>
            </a:r>
            <a:endParaRPr lang="en-US" sz="800" dirty="0"/>
          </a:p>
        </p:txBody>
      </p:sp>
      <p:sp>
        <p:nvSpPr>
          <p:cNvPr id="190" name="Shape 188"/>
          <p:cNvSpPr/>
          <p:nvPr/>
        </p:nvSpPr>
        <p:spPr>
          <a:xfrm>
            <a:off x="5669280" y="3689604"/>
            <a:ext cx="73152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5669280" y="3689604"/>
            <a:ext cx="7315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±0</a:t>
            </a:r>
            <a:endParaRPr lang="en-US" sz="800" dirty="0"/>
          </a:p>
        </p:txBody>
      </p:sp>
      <p:sp>
        <p:nvSpPr>
          <p:cNvPr id="192" name="Shape 190"/>
          <p:cNvSpPr/>
          <p:nvPr/>
        </p:nvSpPr>
        <p:spPr>
          <a:xfrm>
            <a:off x="6400800" y="3689604"/>
            <a:ext cx="68580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400800" y="3689604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±0%</a:t>
            </a:r>
            <a:endParaRPr lang="en-US" sz="800" dirty="0"/>
          </a:p>
        </p:txBody>
      </p:sp>
      <p:sp>
        <p:nvSpPr>
          <p:cNvPr id="194" name="Shape 192"/>
          <p:cNvSpPr/>
          <p:nvPr/>
        </p:nvSpPr>
        <p:spPr>
          <a:xfrm>
            <a:off x="228600" y="3886200"/>
            <a:ext cx="3200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228600" y="3886200"/>
            <a:ext cx="3200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11</a:t>
            </a:r>
            <a:endParaRPr lang="en-US" sz="800" dirty="0"/>
          </a:p>
        </p:txBody>
      </p:sp>
      <p:sp>
        <p:nvSpPr>
          <p:cNvPr id="196" name="Shape 194"/>
          <p:cNvSpPr/>
          <p:nvPr/>
        </p:nvSpPr>
        <p:spPr>
          <a:xfrm>
            <a:off x="548640" y="3886200"/>
            <a:ext cx="210312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548640" y="3886200"/>
            <a:ext cx="21031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청력보호구</a:t>
            </a:r>
            <a:endParaRPr lang="en-US" sz="800" dirty="0"/>
          </a:p>
        </p:txBody>
      </p:sp>
      <p:sp>
        <p:nvSpPr>
          <p:cNvPr id="198" name="Shape 196"/>
          <p:cNvSpPr/>
          <p:nvPr/>
        </p:nvSpPr>
        <p:spPr>
          <a:xfrm>
            <a:off x="2651760" y="3886200"/>
            <a:ext cx="6858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2651760" y="3886200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H9A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3337560" y="3886200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3337560" y="3886200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-</a:t>
            </a:r>
            <a:endParaRPr lang="en-US" sz="800" dirty="0"/>
          </a:p>
        </p:txBody>
      </p:sp>
      <p:sp>
        <p:nvSpPr>
          <p:cNvPr id="202" name="Shape 200"/>
          <p:cNvSpPr/>
          <p:nvPr/>
        </p:nvSpPr>
        <p:spPr>
          <a:xfrm>
            <a:off x="4114800" y="3886200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114800" y="3886200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10</a:t>
            </a:r>
            <a:endParaRPr lang="en-US" sz="800" dirty="0"/>
          </a:p>
        </p:txBody>
      </p:sp>
      <p:sp>
        <p:nvSpPr>
          <p:cNvPr id="204" name="Shape 202"/>
          <p:cNvSpPr/>
          <p:nvPr/>
        </p:nvSpPr>
        <p:spPr>
          <a:xfrm>
            <a:off x="4892040" y="3886200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4892040" y="3886200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29,000</a:t>
            </a:r>
            <a:endParaRPr lang="en-US" sz="800" dirty="0"/>
          </a:p>
        </p:txBody>
      </p:sp>
      <p:sp>
        <p:nvSpPr>
          <p:cNvPr id="206" name="Shape 204"/>
          <p:cNvSpPr/>
          <p:nvPr/>
        </p:nvSpPr>
        <p:spPr>
          <a:xfrm>
            <a:off x="5669280" y="3886200"/>
            <a:ext cx="73152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5669280" y="3886200"/>
            <a:ext cx="7315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6B3A"/>
                </a:solidFill>
              </a:rPr>
              <a:t>+290,000</a:t>
            </a:r>
            <a:endParaRPr lang="en-US" sz="800" dirty="0"/>
          </a:p>
        </p:txBody>
      </p:sp>
      <p:sp>
        <p:nvSpPr>
          <p:cNvPr id="208" name="Shape 206"/>
          <p:cNvSpPr/>
          <p:nvPr/>
        </p:nvSpPr>
        <p:spPr>
          <a:xfrm>
            <a:off x="6400800" y="3886200"/>
            <a:ext cx="6858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6400800" y="3886200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6B3A"/>
                </a:solidFill>
              </a:rPr>
              <a:t>신규</a:t>
            </a:r>
            <a:endParaRPr lang="en-US" sz="800" dirty="0"/>
          </a:p>
        </p:txBody>
      </p:sp>
      <p:sp>
        <p:nvSpPr>
          <p:cNvPr id="210" name="Shape 208"/>
          <p:cNvSpPr/>
          <p:nvPr/>
        </p:nvSpPr>
        <p:spPr>
          <a:xfrm>
            <a:off x="228600" y="4082796"/>
            <a:ext cx="3200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228600" y="4082796"/>
            <a:ext cx="3200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12</a:t>
            </a:r>
            <a:endParaRPr lang="en-US" sz="800" dirty="0"/>
          </a:p>
        </p:txBody>
      </p:sp>
      <p:sp>
        <p:nvSpPr>
          <p:cNvPr id="212" name="Shape 210"/>
          <p:cNvSpPr/>
          <p:nvPr/>
        </p:nvSpPr>
        <p:spPr>
          <a:xfrm>
            <a:off x="548640" y="4082796"/>
            <a:ext cx="210312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548640" y="4082796"/>
            <a:ext cx="21031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사무용의자</a:t>
            </a:r>
            <a:endParaRPr lang="en-US" sz="800" dirty="0"/>
          </a:p>
        </p:txBody>
      </p:sp>
      <p:sp>
        <p:nvSpPr>
          <p:cNvPr id="214" name="Shape 212"/>
          <p:cNvSpPr/>
          <p:nvPr/>
        </p:nvSpPr>
        <p:spPr>
          <a:xfrm>
            <a:off x="2651760" y="4082796"/>
            <a:ext cx="68580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2651760" y="4082796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EA</a:t>
            </a:r>
            <a:endParaRPr lang="en-US" sz="800" dirty="0"/>
          </a:p>
        </p:txBody>
      </p:sp>
      <p:sp>
        <p:nvSpPr>
          <p:cNvPr id="216" name="Shape 214"/>
          <p:cNvSpPr/>
          <p:nvPr/>
        </p:nvSpPr>
        <p:spPr>
          <a:xfrm>
            <a:off x="3337560" y="4082796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3337560" y="4082796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-</a:t>
            </a:r>
            <a:endParaRPr lang="en-US" sz="800" dirty="0"/>
          </a:p>
        </p:txBody>
      </p:sp>
      <p:sp>
        <p:nvSpPr>
          <p:cNvPr id="218" name="Shape 216"/>
          <p:cNvSpPr/>
          <p:nvPr/>
        </p:nvSpPr>
        <p:spPr>
          <a:xfrm>
            <a:off x="4114800" y="4082796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4114800" y="4082796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</a:t>
            </a:r>
            <a:endParaRPr lang="en-US" sz="800" dirty="0"/>
          </a:p>
        </p:txBody>
      </p:sp>
      <p:sp>
        <p:nvSpPr>
          <p:cNvPr id="220" name="Shape 218"/>
          <p:cNvSpPr/>
          <p:nvPr/>
        </p:nvSpPr>
        <p:spPr>
          <a:xfrm>
            <a:off x="4892040" y="4082796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4892040" y="4082796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120,000</a:t>
            </a:r>
            <a:endParaRPr lang="en-US" sz="800" dirty="0"/>
          </a:p>
        </p:txBody>
      </p:sp>
      <p:sp>
        <p:nvSpPr>
          <p:cNvPr id="222" name="Shape 220"/>
          <p:cNvSpPr/>
          <p:nvPr/>
        </p:nvSpPr>
        <p:spPr>
          <a:xfrm>
            <a:off x="5669280" y="4082796"/>
            <a:ext cx="73152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5669280" y="4082796"/>
            <a:ext cx="7315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6B3A"/>
                </a:solidFill>
              </a:rPr>
              <a:t>+120,000</a:t>
            </a:r>
            <a:endParaRPr lang="en-US" sz="800" dirty="0"/>
          </a:p>
        </p:txBody>
      </p:sp>
      <p:sp>
        <p:nvSpPr>
          <p:cNvPr id="224" name="Shape 222"/>
          <p:cNvSpPr/>
          <p:nvPr/>
        </p:nvSpPr>
        <p:spPr>
          <a:xfrm>
            <a:off x="6400800" y="4082796"/>
            <a:ext cx="68580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6400800" y="4082796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6B3A"/>
                </a:solidFill>
              </a:rPr>
              <a:t>신규</a:t>
            </a:r>
            <a:endParaRPr lang="en-US" sz="800" dirty="0"/>
          </a:p>
        </p:txBody>
      </p:sp>
      <p:sp>
        <p:nvSpPr>
          <p:cNvPr id="226" name="Shape 224"/>
          <p:cNvSpPr/>
          <p:nvPr/>
        </p:nvSpPr>
        <p:spPr>
          <a:xfrm>
            <a:off x="228600" y="4279392"/>
            <a:ext cx="3200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228600" y="4279392"/>
            <a:ext cx="3200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13</a:t>
            </a:r>
            <a:endParaRPr lang="en-US" sz="800" dirty="0"/>
          </a:p>
        </p:txBody>
      </p:sp>
      <p:sp>
        <p:nvSpPr>
          <p:cNvPr id="228" name="Shape 226"/>
          <p:cNvSpPr/>
          <p:nvPr/>
        </p:nvSpPr>
        <p:spPr>
          <a:xfrm>
            <a:off x="548640" y="4279392"/>
            <a:ext cx="210312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548640" y="4279392"/>
            <a:ext cx="21031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보루</a:t>
            </a:r>
            <a:endParaRPr lang="en-US" sz="800" dirty="0"/>
          </a:p>
        </p:txBody>
      </p:sp>
      <p:sp>
        <p:nvSpPr>
          <p:cNvPr id="230" name="Shape 228"/>
          <p:cNvSpPr/>
          <p:nvPr/>
        </p:nvSpPr>
        <p:spPr>
          <a:xfrm>
            <a:off x="2651760" y="4279392"/>
            <a:ext cx="6858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2651760" y="4279392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5kg</a:t>
            </a:r>
            <a:endParaRPr lang="en-US" sz="800" dirty="0"/>
          </a:p>
        </p:txBody>
      </p:sp>
      <p:sp>
        <p:nvSpPr>
          <p:cNvPr id="232" name="Shape 230"/>
          <p:cNvSpPr/>
          <p:nvPr/>
        </p:nvSpPr>
        <p:spPr>
          <a:xfrm>
            <a:off x="3337560" y="4279392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3337560" y="4279392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-</a:t>
            </a:r>
            <a:endParaRPr lang="en-US" sz="800" dirty="0"/>
          </a:p>
        </p:txBody>
      </p:sp>
      <p:sp>
        <p:nvSpPr>
          <p:cNvPr id="234" name="Shape 232"/>
          <p:cNvSpPr/>
          <p:nvPr/>
        </p:nvSpPr>
        <p:spPr>
          <a:xfrm>
            <a:off x="4114800" y="4279392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4114800" y="4279392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5</a:t>
            </a:r>
            <a:endParaRPr lang="en-US" sz="800" dirty="0"/>
          </a:p>
        </p:txBody>
      </p:sp>
      <p:sp>
        <p:nvSpPr>
          <p:cNvPr id="236" name="Shape 234"/>
          <p:cNvSpPr/>
          <p:nvPr/>
        </p:nvSpPr>
        <p:spPr>
          <a:xfrm>
            <a:off x="4892040" y="4279392"/>
            <a:ext cx="77724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4892040" y="4279392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6,000</a:t>
            </a:r>
            <a:endParaRPr lang="en-US" sz="800" dirty="0"/>
          </a:p>
        </p:txBody>
      </p:sp>
      <p:sp>
        <p:nvSpPr>
          <p:cNvPr id="238" name="Shape 236"/>
          <p:cNvSpPr/>
          <p:nvPr/>
        </p:nvSpPr>
        <p:spPr>
          <a:xfrm>
            <a:off x="5669280" y="4279392"/>
            <a:ext cx="73152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5669280" y="4279392"/>
            <a:ext cx="7315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6B3A"/>
                </a:solidFill>
              </a:rPr>
              <a:t>+30,000</a:t>
            </a:r>
            <a:endParaRPr lang="en-US" sz="800" dirty="0"/>
          </a:p>
        </p:txBody>
      </p:sp>
      <p:sp>
        <p:nvSpPr>
          <p:cNvPr id="240" name="Shape 238"/>
          <p:cNvSpPr/>
          <p:nvPr/>
        </p:nvSpPr>
        <p:spPr>
          <a:xfrm>
            <a:off x="6400800" y="4279392"/>
            <a:ext cx="6858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6400800" y="4279392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6B3A"/>
                </a:solidFill>
              </a:rPr>
              <a:t>신규</a:t>
            </a:r>
            <a:endParaRPr lang="en-US" sz="800" dirty="0"/>
          </a:p>
        </p:txBody>
      </p:sp>
      <p:sp>
        <p:nvSpPr>
          <p:cNvPr id="242" name="Shape 240"/>
          <p:cNvSpPr/>
          <p:nvPr/>
        </p:nvSpPr>
        <p:spPr>
          <a:xfrm>
            <a:off x="228600" y="4475988"/>
            <a:ext cx="3200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228600" y="4475988"/>
            <a:ext cx="3200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14</a:t>
            </a:r>
            <a:endParaRPr lang="en-US" sz="800" dirty="0"/>
          </a:p>
        </p:txBody>
      </p:sp>
      <p:sp>
        <p:nvSpPr>
          <p:cNvPr id="244" name="Shape 242"/>
          <p:cNvSpPr/>
          <p:nvPr/>
        </p:nvSpPr>
        <p:spPr>
          <a:xfrm>
            <a:off x="548640" y="4475988"/>
            <a:ext cx="210312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548640" y="4475988"/>
            <a:ext cx="21031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빗자루</a:t>
            </a:r>
            <a:endParaRPr lang="en-US" sz="800" dirty="0"/>
          </a:p>
        </p:txBody>
      </p:sp>
      <p:sp>
        <p:nvSpPr>
          <p:cNvPr id="246" name="Shape 244"/>
          <p:cNvSpPr/>
          <p:nvPr/>
        </p:nvSpPr>
        <p:spPr>
          <a:xfrm>
            <a:off x="2651760" y="4475988"/>
            <a:ext cx="68580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2651760" y="4475988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대</a:t>
            </a:r>
            <a:endParaRPr lang="en-US" sz="800" dirty="0"/>
          </a:p>
        </p:txBody>
      </p:sp>
      <p:sp>
        <p:nvSpPr>
          <p:cNvPr id="248" name="Shape 246"/>
          <p:cNvSpPr/>
          <p:nvPr/>
        </p:nvSpPr>
        <p:spPr>
          <a:xfrm>
            <a:off x="3337560" y="4475988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3337560" y="4475988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-</a:t>
            </a:r>
            <a:endParaRPr lang="en-US" sz="800" dirty="0"/>
          </a:p>
        </p:txBody>
      </p:sp>
      <p:sp>
        <p:nvSpPr>
          <p:cNvPr id="250" name="Shape 248"/>
          <p:cNvSpPr/>
          <p:nvPr/>
        </p:nvSpPr>
        <p:spPr>
          <a:xfrm>
            <a:off x="4114800" y="4475988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4114800" y="4475988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10</a:t>
            </a:r>
            <a:endParaRPr lang="en-US" sz="800" dirty="0"/>
          </a:p>
        </p:txBody>
      </p:sp>
      <p:sp>
        <p:nvSpPr>
          <p:cNvPr id="252" name="Shape 250"/>
          <p:cNvSpPr/>
          <p:nvPr/>
        </p:nvSpPr>
        <p:spPr>
          <a:xfrm>
            <a:off x="4892040" y="4475988"/>
            <a:ext cx="77724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4892040" y="4475988"/>
            <a:ext cx="77724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2,000</a:t>
            </a:r>
            <a:endParaRPr lang="en-US" sz="800" dirty="0"/>
          </a:p>
        </p:txBody>
      </p:sp>
      <p:sp>
        <p:nvSpPr>
          <p:cNvPr id="254" name="Shape 252"/>
          <p:cNvSpPr/>
          <p:nvPr/>
        </p:nvSpPr>
        <p:spPr>
          <a:xfrm>
            <a:off x="5669280" y="4475988"/>
            <a:ext cx="73152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5669280" y="4475988"/>
            <a:ext cx="73152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6B3A"/>
                </a:solidFill>
              </a:rPr>
              <a:t>+20,000</a:t>
            </a:r>
            <a:endParaRPr lang="en-US" sz="800" dirty="0"/>
          </a:p>
        </p:txBody>
      </p:sp>
      <p:sp>
        <p:nvSpPr>
          <p:cNvPr id="256" name="Shape 254"/>
          <p:cNvSpPr/>
          <p:nvPr/>
        </p:nvSpPr>
        <p:spPr>
          <a:xfrm>
            <a:off x="6400800" y="4475988"/>
            <a:ext cx="685800" cy="196596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6400800" y="4475988"/>
            <a:ext cx="685800" cy="19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6B3A"/>
                </a:solidFill>
              </a:rPr>
              <a:t>신규</a:t>
            </a:r>
            <a:endParaRPr lang="en-US" sz="800" dirty="0"/>
          </a:p>
        </p:txBody>
      </p:sp>
      <p:sp>
        <p:nvSpPr>
          <p:cNvPr id="258" name="Shape 256"/>
          <p:cNvSpPr/>
          <p:nvPr/>
        </p:nvSpPr>
        <p:spPr>
          <a:xfrm>
            <a:off x="228600" y="1645920"/>
            <a:ext cx="8686800" cy="3026664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228600" y="4773168"/>
            <a:ext cx="146304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411480" y="475488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감소/단종</a:t>
            </a:r>
            <a:endParaRPr lang="en-US" sz="800" dirty="0"/>
          </a:p>
        </p:txBody>
      </p:sp>
      <p:sp>
        <p:nvSpPr>
          <p:cNvPr id="261" name="Shape 259"/>
          <p:cNvSpPr/>
          <p:nvPr/>
        </p:nvSpPr>
        <p:spPr>
          <a:xfrm>
            <a:off x="2240280" y="4773168"/>
            <a:ext cx="146304" cy="11887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2423160" y="475488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신규 구매</a:t>
            </a:r>
            <a:endParaRPr lang="en-US" sz="800" dirty="0"/>
          </a:p>
        </p:txBody>
      </p:sp>
      <p:sp>
        <p:nvSpPr>
          <p:cNvPr id="263" name="Shape 261"/>
          <p:cNvSpPr/>
          <p:nvPr/>
        </p:nvSpPr>
        <p:spPr>
          <a:xfrm>
            <a:off x="4251960" y="4773168"/>
            <a:ext cx="146304" cy="1188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4434840" y="475488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유지/변동없음</a:t>
            </a:r>
            <a:endParaRPr lang="en-US" sz="800" dirty="0"/>
          </a:p>
        </p:txBody>
      </p:sp>
      <p:sp>
        <p:nvSpPr>
          <p:cNvPr id="265" name="Shape 263"/>
          <p:cNvSpPr/>
          <p:nvPr/>
        </p:nvSpPr>
        <p:spPr>
          <a:xfrm>
            <a:off x="4114800" y="4700016"/>
            <a:ext cx="480060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4206240" y="4700016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E3A5F"/>
                </a:solidFill>
              </a:rPr>
              <a:t>▶ 분석: </a:t>
            </a:r>
            <a:pPr indent="0" marL="0">
              <a:buNone/>
            </a:pPr>
            <a:r>
              <a:rPr lang="en-US" sz="780" dirty="0">
                <a:solidFill>
                  <a:srgbClr val="374151"/>
                </a:solidFill>
              </a:rPr>
              <a:t>2월은 설비정비 목적 대량 구매(10품목), 3월은 안전·사무용품 소규모 전환(6품목) → </a:t>
            </a:r>
            <a:pPr indent="0" marL="0">
              <a:buNone/>
            </a:pPr>
            <a:r>
              <a:rPr lang="en-US" sz="780" b="1" dirty="0">
                <a:solidFill>
                  <a:srgbClr val="C0392B"/>
                </a:solidFill>
              </a:rPr>
              <a:t>총액 ▼57.7% 절감 (−643,500원)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2026-04-24T02:11:30Z</dcterms:created>
  <dcterms:modified xsi:type="dcterms:W3CDTF">2026-04-24T02:11:30Z</dcterms:modified>
</cp:coreProperties>
</file>