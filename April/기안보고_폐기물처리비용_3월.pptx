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8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00CC"/>
    <a:srgbClr val="789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787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260648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‘26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폐기물 처리비 내역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13" name="Rectangle 5"/>
          <p:cNvSpPr/>
          <p:nvPr/>
        </p:nvSpPr>
        <p:spPr>
          <a:xfrm>
            <a:off x="540000" y="755834"/>
            <a:ext cx="792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400" y="696433"/>
            <a:ext cx="2757472" cy="199207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최근</a:t>
            </a:r>
            <a:r>
              <a:rPr sz="1200" b="1" i="0" dirty="0">
                <a:solidFill>
                  <a:srgbClr val="1F3864"/>
                </a:solidFill>
                <a:latin typeface="+mn-ea"/>
                <a:ea typeface="+mn-ea"/>
              </a:rPr>
              <a:t> 3개월 </a:t>
            </a:r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폐기물</a:t>
            </a:r>
            <a:r>
              <a:rPr sz="1200" b="1" i="0" dirty="0">
                <a:solidFill>
                  <a:srgbClr val="1F3864"/>
                </a:solidFill>
                <a:latin typeface="+mn-ea"/>
                <a:ea typeface="+mn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처리비용</a:t>
            </a:r>
            <a:r>
              <a:rPr sz="1200" b="1" i="0" dirty="0">
                <a:solidFill>
                  <a:srgbClr val="1F3864"/>
                </a:solidFill>
                <a:latin typeface="+mn-ea"/>
                <a:ea typeface="+mn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집계</a:t>
            </a:r>
            <a:r>
              <a:rPr sz="1200" b="1" i="0" dirty="0">
                <a:solidFill>
                  <a:srgbClr val="1F3864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093950"/>
              </p:ext>
            </p:extLst>
          </p:nvPr>
        </p:nvGraphicFramePr>
        <p:xfrm>
          <a:off x="540000" y="971999"/>
          <a:ext cx="8130730" cy="3064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489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/>
                        </a:rPr>
                        <a:t>항  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배출주기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/>
                        </a:rPr>
                        <a:t>1</a:t>
                      </a:r>
                      <a:r>
                        <a:rPr sz="1050" b="1" dirty="0" smtClean="0">
                          <a:solidFill>
                            <a:schemeClr val="tx1"/>
                          </a:solidFill>
                          <a:latin typeface="맑은 고딕"/>
                        </a:rPr>
                        <a:t>월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/>
                        </a:rPr>
                        <a:t>2</a:t>
                      </a:r>
                      <a:r>
                        <a:rPr sz="1050" b="1" dirty="0" smtClean="0">
                          <a:solidFill>
                            <a:schemeClr val="tx1"/>
                          </a:solidFill>
                          <a:latin typeface="맑은 고딕"/>
                        </a:rPr>
                        <a:t>월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/>
                        </a:rPr>
                        <a:t>3</a:t>
                      </a:r>
                      <a:r>
                        <a:rPr sz="1050" b="1" dirty="0" smtClean="0">
                          <a:solidFill>
                            <a:schemeClr val="tx1"/>
                          </a:solidFill>
                          <a:latin typeface="맑은 고딕"/>
                        </a:rPr>
                        <a:t>월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 smtClean="0">
                          <a:solidFill>
                            <a:schemeClr val="tx1"/>
                          </a:solidFill>
                          <a:latin typeface="맑은 고딕"/>
                        </a:rPr>
                        <a:t>전월대비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/>
                        </a:rPr>
                        <a:t>증감원인</a:t>
                      </a:r>
                      <a:endParaRPr sz="1050" b="1" dirty="0">
                        <a:solidFill>
                          <a:schemeClr val="tx1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일반쓰레기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수시</a:t>
                      </a:r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6,520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5,911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7,627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55AA"/>
                          </a:solidFill>
                          <a:latin typeface="맑은 고딕"/>
                        </a:rPr>
                        <a:t>▲1,716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3월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처리량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증가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(33,160kg, </a:t>
                      </a:r>
                      <a:r>
                        <a:rPr sz="1050" b="1" dirty="0">
                          <a:solidFill>
                            <a:srgbClr val="0066FF"/>
                          </a:solidFill>
                          <a:latin typeface="맑은 고딕"/>
                        </a:rPr>
                        <a:t>+29%)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889"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폐유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공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드럼</a:t>
                      </a:r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필요시 구매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그밖의 폐유(액상)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수시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1,696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563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1,760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0055AA"/>
                          </a:solidFill>
                          <a:latin typeface="맑은 고딕"/>
                        </a:rPr>
                        <a:t>▲1,197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3월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처리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재개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(</a:t>
                      </a:r>
                      <a:r>
                        <a:rPr sz="105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5,500</a:t>
                      </a:r>
                      <a:r>
                        <a:rPr lang="en-US" sz="1050" b="0" baseline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05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kg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폐기 펠렛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870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1월 외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미발생</a:t>
                      </a:r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분진(매립)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5,392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2,328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5,208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55AA"/>
                          </a:solidFill>
                          <a:latin typeface="맑은 고딕"/>
                        </a:rPr>
                        <a:t>▲2,880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3월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증가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(13,020kg, +123%)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분진(재활용)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약 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1,183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1,501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1,833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55AA"/>
                          </a:solidFill>
                          <a:latin typeface="맑은 고딕"/>
                        </a:rPr>
                        <a:t>▲332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월별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지속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증가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추세</a:t>
                      </a:r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폐목재(원)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약 6개월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CC0000"/>
                          </a:solidFill>
                          <a:latin typeface="맑은 고딕"/>
                        </a:rPr>
                        <a:t>▼500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2월 </a:t>
                      </a:r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정기처리</a:t>
                      </a:r>
                      <a:r>
                        <a:rPr sz="1050" b="0" dirty="0">
                          <a:solidFill>
                            <a:srgbClr val="1F1F1F"/>
                          </a:solidFill>
                          <a:latin typeface="맑은 고딕"/>
                        </a:rPr>
                        <a:t>(9,230kg)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오수처리시설관리(원)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1개월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 err="1">
                          <a:solidFill>
                            <a:srgbClr val="1F1F1F"/>
                          </a:solidFill>
                          <a:latin typeface="맑은 고딕"/>
                        </a:rPr>
                        <a:t>고정비</a:t>
                      </a:r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F1F1F"/>
                          </a:solidFill>
                          <a:latin typeface="맑은 고딕"/>
                        </a:rPr>
                        <a:t>비 용 합 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15,961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11,103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16,728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0055AA"/>
                          </a:solidFill>
                          <a:latin typeface="맑은 고딕"/>
                        </a:rPr>
                        <a:t>▲5,625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24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재활용 BAG 매각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1F1F"/>
                          </a:solidFill>
                          <a:latin typeface="맑은 고딕"/>
                        </a:rPr>
                        <a:t>수시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15,930</a:t>
                      </a:r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13,900</a:t>
                      </a:r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18,830</a:t>
                      </a:r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 smtClean="0">
                          <a:solidFill>
                            <a:srgbClr val="0055AA"/>
                          </a:solidFill>
                          <a:latin typeface="+mn-lt"/>
                        </a:rPr>
                        <a:t>▲</a:t>
                      </a:r>
                      <a:r>
                        <a:rPr lang="en-US" altLang="ko-KR" sz="1050" b="1" dirty="0" smtClean="0">
                          <a:solidFill>
                            <a:srgbClr val="0055AA"/>
                          </a:solidFill>
                          <a:latin typeface="+mn-lt"/>
                        </a:rPr>
                        <a:t>4,930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1F1F1F"/>
                          </a:solidFill>
                          <a:latin typeface="맑은 고딕"/>
                        </a:rPr>
                        <a:t>합         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15,961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11,103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1F1F1F"/>
                          </a:solidFill>
                          <a:latin typeface="맑은 고딕"/>
                        </a:rPr>
                        <a:t>16,728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dirty="0">
                          <a:solidFill>
                            <a:srgbClr val="0055AA"/>
                          </a:solidFill>
                          <a:latin typeface="맑은 고딕"/>
                        </a:rPr>
                        <a:t>▲5,625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Rectangle 8"/>
          <p:cNvSpPr/>
          <p:nvPr/>
        </p:nvSpPr>
        <p:spPr>
          <a:xfrm>
            <a:off x="540000" y="4208480"/>
            <a:ext cx="792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400" y="4149080"/>
            <a:ext cx="6357600" cy="198000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+mn-ea"/>
                <a:ea typeface="+mn-ea"/>
              </a:rPr>
              <a:t>월별 생산량 및 톤당 처리비용 비교</a:t>
            </a:r>
          </a:p>
        </p:txBody>
      </p:sp>
      <p:graphicFrame>
        <p:nvGraphicFramePr>
          <p:cNvPr id="18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906704"/>
              </p:ext>
            </p:extLst>
          </p:nvPr>
        </p:nvGraphicFramePr>
        <p:xfrm>
          <a:off x="540000" y="4455774"/>
          <a:ext cx="6480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근무일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24일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21일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1F1F1F"/>
                          </a:solidFill>
                          <a:latin typeface="맑은 고딕"/>
                        </a:rPr>
                        <a:t>26일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총 생산량 (ton)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7,1</a:t>
                      </a:r>
                      <a:r>
                        <a:rPr lang="en-US" sz="11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40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6,1</a:t>
                      </a:r>
                      <a:r>
                        <a:rPr lang="en-US" sz="11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80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7,21</a:t>
                      </a:r>
                      <a:r>
                        <a:rPr lang="en-US" sz="1100" b="0" dirty="0" smtClean="0">
                          <a:solidFill>
                            <a:srgbClr val="1F1F1F"/>
                          </a:solidFill>
                          <a:latin typeface="맑은 고딕"/>
                        </a:rPr>
                        <a:t>6</a:t>
                      </a:r>
                      <a:endParaRPr sz="1100" b="0" dirty="0">
                        <a:solidFill>
                          <a:srgbClr val="1F1F1F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맑은 고딕"/>
                        </a:rPr>
                        <a:t>톤당 처리비용 (원/ton)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1F1F"/>
                          </a:solidFill>
                          <a:latin typeface="맑은 고딕"/>
                        </a:rPr>
                        <a:t>2,236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맑은 고딕"/>
                        </a:rPr>
                        <a:t>1,797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dirty="0">
                          <a:solidFill>
                            <a:srgbClr val="0055AA"/>
                          </a:solidFill>
                          <a:latin typeface="맑은 고딕"/>
                        </a:rPr>
                        <a:t>2,318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Rectangle 11"/>
          <p:cNvSpPr/>
          <p:nvPr/>
        </p:nvSpPr>
        <p:spPr>
          <a:xfrm>
            <a:off x="540000" y="5633002"/>
            <a:ext cx="79200" cy="79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2400" y="5573602"/>
            <a:ext cx="6357600" cy="198000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전월</a:t>
            </a:r>
            <a:r>
              <a:rPr sz="1200" b="1" i="0" dirty="0">
                <a:solidFill>
                  <a:srgbClr val="1F3864"/>
                </a:solidFill>
                <a:latin typeface="+mn-ea"/>
                <a:ea typeface="+mn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대비</a:t>
            </a:r>
            <a:r>
              <a:rPr sz="1200" b="1" i="0" dirty="0">
                <a:solidFill>
                  <a:srgbClr val="1F3864"/>
                </a:solidFill>
                <a:latin typeface="+mn-ea"/>
                <a:ea typeface="+mn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증감</a:t>
            </a:r>
            <a:r>
              <a:rPr sz="1200" b="1" i="0" dirty="0">
                <a:solidFill>
                  <a:srgbClr val="1F3864"/>
                </a:solidFill>
                <a:latin typeface="+mn-ea"/>
                <a:ea typeface="+mn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주요</a:t>
            </a:r>
            <a:r>
              <a:rPr sz="1200" b="1" i="0" dirty="0">
                <a:solidFill>
                  <a:srgbClr val="1F3864"/>
                </a:solidFill>
                <a:latin typeface="+mn-ea"/>
                <a:ea typeface="+mn-ea"/>
              </a:rPr>
              <a:t> </a:t>
            </a:r>
            <a:r>
              <a:rPr sz="1200" b="1" i="0" dirty="0" err="1">
                <a:solidFill>
                  <a:srgbClr val="1F3864"/>
                </a:solidFill>
                <a:latin typeface="+mn-ea"/>
                <a:ea typeface="+mn-ea"/>
              </a:rPr>
              <a:t>사유</a:t>
            </a:r>
            <a:endParaRPr sz="1200" b="1" i="0" dirty="0">
              <a:solidFill>
                <a:srgbClr val="1F3864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8000" y="5877272"/>
            <a:ext cx="9252592" cy="337706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• 3월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비용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증가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(▲5,624,700원): </a:t>
            </a:r>
            <a:r>
              <a:rPr sz="1050" b="1" i="0" dirty="0" err="1">
                <a:solidFill>
                  <a:srgbClr val="FF0000"/>
                </a:solidFill>
                <a:latin typeface="+mn-ea"/>
                <a:ea typeface="+mn-ea"/>
              </a:rPr>
              <a:t>분진</a:t>
            </a:r>
            <a:r>
              <a:rPr sz="1050" b="1" i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FF0000"/>
                </a:solidFill>
                <a:latin typeface="+mn-ea"/>
                <a:ea typeface="+mn-ea"/>
              </a:rPr>
              <a:t>매립</a:t>
            </a:r>
            <a:r>
              <a:rPr sz="1050" b="1" i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FF0000"/>
                </a:solidFill>
                <a:latin typeface="+mn-ea"/>
                <a:ea typeface="+mn-ea"/>
              </a:rPr>
              <a:t>급증</a:t>
            </a:r>
            <a:r>
              <a:rPr sz="1050" b="1" i="0" dirty="0">
                <a:solidFill>
                  <a:srgbClr val="FF0000"/>
                </a:solidFill>
                <a:latin typeface="+mn-ea"/>
                <a:ea typeface="+mn-ea"/>
              </a:rPr>
              <a:t>(2,328→5,208천원, +124%)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,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일반쓰레기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증가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(5,911→7,627천원, +29%), </a:t>
            </a:r>
            <a:endParaRPr lang="en-US" sz="1050" b="0" i="0" dirty="0" smtClean="0">
              <a:solidFill>
                <a:srgbClr val="1F1F1F"/>
              </a:solidFill>
              <a:latin typeface="+mn-ea"/>
              <a:ea typeface="+mn-ea"/>
            </a:endParaRPr>
          </a:p>
          <a:p>
            <a:pPr algn="l"/>
            <a:r>
              <a:rPr lang="en-US" sz="1050" dirty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lang="en-US" sz="1050" dirty="0" smtClean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sz="1050" b="0" i="0" dirty="0" err="1" smtClean="0">
                <a:solidFill>
                  <a:srgbClr val="1F1F1F"/>
                </a:solidFill>
                <a:latin typeface="+mn-ea"/>
                <a:ea typeface="+mn-ea"/>
              </a:rPr>
              <a:t>그밖의</a:t>
            </a:r>
            <a:r>
              <a:rPr sz="1050" b="0" i="0" dirty="0" smtClean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폐유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재발생</a:t>
            </a:r>
            <a:endParaRPr sz="1050" b="0" i="0" dirty="0">
              <a:solidFill>
                <a:srgbClr val="1F1F1F"/>
              </a:solidFill>
              <a:latin typeface="+mn-ea"/>
              <a:ea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8000" y="6277213"/>
            <a:ext cx="7812432" cy="176123"/>
          </a:xfrm>
          <a:prstGeom prst="rect">
            <a:avLst/>
          </a:prstGeom>
          <a:noFill/>
        </p:spPr>
        <p:txBody>
          <a:bodyPr wrap="square" lIns="18000" tIns="7200" rIns="18000" bIns="7200">
            <a:spAutoFit/>
          </a:bodyPr>
          <a:lstStyle/>
          <a:p>
            <a:pPr algn="l"/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• 3월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폐목재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처리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없음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(2월 500천원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발생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 후 </a:t>
            </a:r>
            <a:r>
              <a:rPr sz="1050" b="0" i="0" dirty="0" err="1">
                <a:solidFill>
                  <a:srgbClr val="1F1F1F"/>
                </a:solidFill>
                <a:latin typeface="+mn-ea"/>
                <a:ea typeface="+mn-ea"/>
              </a:rPr>
              <a:t>소멸</a:t>
            </a:r>
            <a:r>
              <a:rPr sz="1050" b="0" i="0" dirty="0">
                <a:solidFill>
                  <a:srgbClr val="1F1F1F"/>
                </a:solidFill>
                <a:latin typeface="+mn-ea"/>
                <a:ea typeface="+mn-ea"/>
              </a:rPr>
              <a:t>) — </a:t>
            </a:r>
            <a:r>
              <a:rPr sz="1050" b="1" i="0" dirty="0" err="1">
                <a:solidFill>
                  <a:srgbClr val="0066FF"/>
                </a:solidFill>
                <a:latin typeface="+mn-ea"/>
                <a:ea typeface="+mn-ea"/>
              </a:rPr>
              <a:t>분진</a:t>
            </a:r>
            <a:r>
              <a:rPr sz="1050" b="1" i="0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0066FF"/>
                </a:solidFill>
                <a:latin typeface="+mn-ea"/>
                <a:ea typeface="+mn-ea"/>
              </a:rPr>
              <a:t>처리비가</a:t>
            </a:r>
            <a:r>
              <a:rPr sz="1050" b="1" i="0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0066FF"/>
                </a:solidFill>
                <a:latin typeface="+mn-ea"/>
                <a:ea typeface="+mn-ea"/>
              </a:rPr>
              <a:t>전체</a:t>
            </a:r>
            <a:r>
              <a:rPr sz="1050" b="1" i="0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0066FF"/>
                </a:solidFill>
                <a:latin typeface="+mn-ea"/>
                <a:ea typeface="+mn-ea"/>
              </a:rPr>
              <a:t>증가분의</a:t>
            </a:r>
            <a:r>
              <a:rPr sz="1050" b="1" i="0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sz="1050" b="1" i="0" dirty="0" err="1">
                <a:solidFill>
                  <a:srgbClr val="0066FF"/>
                </a:solidFill>
                <a:latin typeface="+mn-ea"/>
                <a:ea typeface="+mn-ea"/>
              </a:rPr>
              <a:t>주요</a:t>
            </a:r>
            <a:r>
              <a:rPr sz="1050" b="1" i="0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sz="1050" b="1" i="0" dirty="0" err="1" smtClean="0">
                <a:solidFill>
                  <a:srgbClr val="0066FF"/>
                </a:solidFill>
                <a:latin typeface="+mn-ea"/>
                <a:ea typeface="+mn-ea"/>
              </a:rPr>
              <a:t>원인</a:t>
            </a:r>
            <a:r>
              <a:rPr lang="en-US" sz="1050" b="1" i="0" dirty="0" smtClean="0">
                <a:solidFill>
                  <a:srgbClr val="0066FF"/>
                </a:solidFill>
                <a:latin typeface="+mn-ea"/>
                <a:ea typeface="+mn-ea"/>
              </a:rPr>
              <a:t>/ 2</a:t>
            </a:r>
            <a:r>
              <a:rPr lang="ko-KR" altLang="en-US" sz="1050" b="1" i="0" dirty="0" smtClean="0">
                <a:solidFill>
                  <a:srgbClr val="0066FF"/>
                </a:solidFill>
                <a:latin typeface="+mn-ea"/>
                <a:ea typeface="+mn-ea"/>
              </a:rPr>
              <a:t>월 </a:t>
            </a:r>
            <a:r>
              <a:rPr lang="ko-KR" altLang="en-US" sz="1050" b="1" i="0" dirty="0" err="1" smtClean="0">
                <a:solidFill>
                  <a:srgbClr val="0066FF"/>
                </a:solidFill>
                <a:latin typeface="+mn-ea"/>
                <a:ea typeface="+mn-ea"/>
              </a:rPr>
              <a:t>분진처리</a:t>
            </a:r>
            <a:r>
              <a:rPr lang="ko-KR" altLang="en-US" sz="1050" b="1" i="0" dirty="0" smtClean="0">
                <a:solidFill>
                  <a:srgbClr val="0066FF"/>
                </a:solidFill>
                <a:latin typeface="+mn-ea"/>
                <a:ea typeface="+mn-ea"/>
              </a:rPr>
              <a:t> 지연처리 원인</a:t>
            </a:r>
            <a:endParaRPr sz="1050" b="1" i="0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96336" y="734507"/>
            <a:ext cx="9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  <a:ea typeface="+mn-ea"/>
              </a:rPr>
              <a:t>(</a:t>
            </a:r>
            <a:r>
              <a:rPr lang="ko-KR" altLang="en-US" sz="1000" dirty="0" smtClean="0">
                <a:latin typeface="+mn-ea"/>
                <a:ea typeface="+mn-ea"/>
              </a:rPr>
              <a:t>단위 </a:t>
            </a:r>
            <a:r>
              <a:rPr lang="en-US" altLang="ko-KR" sz="1000" dirty="0" smtClean="0">
                <a:latin typeface="+mn-ea"/>
                <a:ea typeface="+mn-ea"/>
              </a:rPr>
              <a:t>: </a:t>
            </a:r>
            <a:r>
              <a:rPr lang="ko-KR" altLang="en-US" sz="1000" dirty="0" smtClean="0">
                <a:latin typeface="+mn-ea"/>
                <a:ea typeface="+mn-ea"/>
              </a:rPr>
              <a:t>천원</a:t>
            </a:r>
            <a:r>
              <a:rPr lang="en-US" altLang="ko-KR" sz="1000" dirty="0" smtClean="0">
                <a:latin typeface="+mn-ea"/>
                <a:ea typeface="+mn-ea"/>
              </a:rPr>
              <a:t>)</a:t>
            </a:r>
            <a:endParaRPr lang="ko-KR" altLang="en-US" sz="1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2932185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35766</TotalTime>
  <Words>295</Words>
  <Application>Microsoft Office PowerPoint</Application>
  <PresentationFormat>화면 슬라이드 쇼(4:3)</PresentationFormat>
  <Paragraphs>104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1675</cp:revision>
  <cp:lastPrinted>2026-03-05T07:40:04Z</cp:lastPrinted>
  <dcterms:created xsi:type="dcterms:W3CDTF">2006-12-21T02:27:07Z</dcterms:created>
  <dcterms:modified xsi:type="dcterms:W3CDTF">2026-05-06T20:38:13Z</dcterms:modified>
</cp:coreProperties>
</file>