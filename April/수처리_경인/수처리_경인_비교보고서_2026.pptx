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3월 (원)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C230(살균제)</c:v>
                  </c:pt>
                  <c:pt idx="1">
                    <c:v>C1350(스케일방지제)</c:v>
                  </c:pt>
                  <c:pt idx="2">
                    <c:v>수질분석비</c:v>
                  </c:pt>
                  <c:pt idx="3">
                    <c:v>경비</c:v>
                  </c:pt>
                  <c:pt idx="4">
                    <c:v>기업이윤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525000</c:v>
                </c:pt>
                <c:pt idx="1">
                  <c:v>157500</c:v>
                </c:pt>
                <c:pt idx="2">
                  <c:v>18000</c:v>
                </c:pt>
                <c:pt idx="3">
                  <c:v>16000</c:v>
                </c:pt>
                <c:pt idx="4">
                  <c:v>19000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4월 (원)</c:v>
                </c:pt>
              </c:strCache>
            </c:strRef>
          </c:tx>
          <c:spPr>
            <a:solidFill>
              <a:srgbClr val="E894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C230(살균제)</c:v>
                  </c:pt>
                  <c:pt idx="1">
                    <c:v>C1350(스케일방지제)</c:v>
                  </c:pt>
                  <c:pt idx="2">
                    <c:v>수질분석비</c:v>
                  </c:pt>
                  <c:pt idx="3">
                    <c:v>경비</c:v>
                  </c:pt>
                  <c:pt idx="4">
                    <c:v>기업이윤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565600</c:v>
                </c:pt>
                <c:pt idx="1">
                  <c:v>170300</c:v>
                </c:pt>
                <c:pt idx="2">
                  <c:v>22500</c:v>
                </c:pt>
                <c:pt idx="3">
                  <c:v>16000</c:v>
                </c:pt>
                <c:pt idx="4">
                  <c:v>19000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73152" cy="347472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수처리 용역 현황 보고서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B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냉각수 관리 비용 비교 및 수질분석 결과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474720" cy="475488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3월 → 4월 비교분석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7863840" cy="1463040"/>
          </a:xfrm>
          <a:prstGeom prst="rect">
            <a:avLst/>
          </a:prstGeom>
          <a:solidFill>
            <a:srgbClr val="1F3660"/>
          </a:solidFill>
          <a:ln w="12700">
            <a:solidFill>
              <a:srgbClr val="344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73552"/>
            <a:ext cx="7406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공급업체  </a:t>
            </a:r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(주)경인  |  </a:t>
            </a:r>
            <a:pPr indent="0" marL="0">
              <a:buNone/>
            </a:pPr>
            <a:r>
              <a:rPr lang="en-US" sz="13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  </a:t>
            </a:r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주식회사 대하  |  </a:t>
            </a:r>
            <a:pPr indent="0" marL="0">
              <a:buNone/>
            </a:pPr>
            <a:r>
              <a:rPr lang="en-US" sz="13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분석기관  </a:t>
            </a:r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경인 수질분석실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작성기준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4월  |  </a:t>
            </a:r>
            <a:pPr indent="0" marL="0">
              <a:buNone/>
            </a:pPr>
            <a:r>
              <a:rPr lang="en-US" sz="13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 </a:t>
            </a:r>
            <a:pPr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홍기훈 과장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주식회사 대하  |  생산팀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용역비 비교 현황 (3월 → 4월)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118872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청구금액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809,050원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공급가 735,500 + VAT 73,550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777240"/>
            <a:ext cx="2743200" cy="118872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 청구금액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54680" y="1078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872,740원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5468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공급가 793,400 + VAT 79,340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777240"/>
            <a:ext cx="274320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        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1078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+63,690원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전월 대비 +7.9% 증가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148840"/>
            <a:ext cx="141732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1488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  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91640" y="2148840"/>
            <a:ext cx="160020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21488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수량/단가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2148840"/>
            <a:ext cx="160020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1488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공급가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2040" y="2148840"/>
            <a:ext cx="160020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1488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 수량/단가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2148840"/>
            <a:ext cx="160020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1488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 공급가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2148840"/>
            <a:ext cx="132588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2148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  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496312"/>
            <a:ext cx="141732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496312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Nicole-C230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(살균제)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91640" y="2496312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249631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93.75kg / 5,600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2496312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49631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525,000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2496312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49631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101kg / 5,600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2496312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249631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565,600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92440" y="2496312"/>
            <a:ext cx="1325880" cy="402336"/>
          </a:xfrm>
          <a:prstGeom prst="rect">
            <a:avLst/>
          </a:prstGeom>
          <a:solidFill>
            <a:srgbClr val="FFF5E6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249631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+40,600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898648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28986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Nicole-C1350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(스케일방지제)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91640" y="2898648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289864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60.11kg / 2,620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91840" y="2898648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289864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157,500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92040" y="2898648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289864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65kg / 2,620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92240" y="2898648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289864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170,300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092440" y="2898648"/>
            <a:ext cx="1325880" cy="402336"/>
          </a:xfrm>
          <a:prstGeom prst="rect">
            <a:avLst/>
          </a:prstGeom>
          <a:solidFill>
            <a:srgbClr val="FFF5E6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92440" y="289864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+12,800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300984"/>
            <a:ext cx="141732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3300984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수질분석비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691640" y="3300984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91640" y="330098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/ 18,000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91840" y="3300984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0" y="330098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92040" y="3300984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330098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1회 / 22,500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92240" y="3300984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0" y="330098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22,500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092440" y="3300984"/>
            <a:ext cx="1325880" cy="402336"/>
          </a:xfrm>
          <a:prstGeom prst="rect">
            <a:avLst/>
          </a:prstGeom>
          <a:solidFill>
            <a:srgbClr val="FFF5E6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92440" y="330098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+4,500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703320"/>
            <a:ext cx="14173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7033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경비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691640" y="3703320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91640" y="37033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4회 / 4,000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91840" y="3703320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91840" y="37033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892040" y="3703320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92040" y="37033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4회 / 4,000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492240" y="3703320"/>
            <a:ext cx="1600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92240" y="37033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092440" y="3703320"/>
            <a:ext cx="1325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92440" y="370332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4105656"/>
            <a:ext cx="141732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41056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기업이윤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691640" y="4105656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691640" y="41056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1월 / 19,000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291840" y="4105656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91840" y="41056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19,000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892040" y="4105656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92040" y="41056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1월 / 19,000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492240" y="4105656"/>
            <a:ext cx="160020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92240" y="410565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19,000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8092440" y="4105656"/>
            <a:ext cx="1325880" cy="402336"/>
          </a:xfrm>
          <a:prstGeom prst="rect">
            <a:avLst/>
          </a:prstGeom>
          <a:solidFill>
            <a:srgbClr val="F7F9FC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92440" y="410565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74320" y="4507992"/>
            <a:ext cx="1417320" cy="402336"/>
          </a:xfrm>
          <a:prstGeom prst="rect">
            <a:avLst/>
          </a:prstGeom>
          <a:solidFill>
            <a:srgbClr val="EEF2F8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45079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  계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691640" y="4507992"/>
            <a:ext cx="1600200" cy="402336"/>
          </a:xfrm>
          <a:prstGeom prst="rect">
            <a:avLst/>
          </a:prstGeom>
          <a:solidFill>
            <a:srgbClr val="EEF2F8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691640" y="450799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291840" y="4507992"/>
            <a:ext cx="1600200" cy="402336"/>
          </a:xfrm>
          <a:prstGeom prst="rect">
            <a:avLst/>
          </a:prstGeom>
          <a:solidFill>
            <a:srgbClr val="EEF2F8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91840" y="450799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735,500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892040" y="4507992"/>
            <a:ext cx="1600200" cy="402336"/>
          </a:xfrm>
          <a:prstGeom prst="rect">
            <a:avLst/>
          </a:prstGeom>
          <a:solidFill>
            <a:srgbClr val="EEF2F8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892040" y="450799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492240" y="4507992"/>
            <a:ext cx="1600200" cy="402336"/>
          </a:xfrm>
          <a:prstGeom prst="rect">
            <a:avLst/>
          </a:prstGeom>
          <a:solidFill>
            <a:srgbClr val="EEF2F8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492240" y="450799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793,400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092440" y="4507992"/>
            <a:ext cx="1325880" cy="402336"/>
          </a:xfrm>
          <a:prstGeom prst="rect">
            <a:avLst/>
          </a:prstGeom>
          <a:solidFill>
            <a:srgbClr val="EEF2F8"/>
          </a:solidFill>
          <a:ln w="6350">
            <a:solidFill>
              <a:srgbClr val="D0D7E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092440" y="450799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+57,900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4월 수질분석비 단가 22,500원으로 인상 (3월 18,000원 대비 +4,500원, +25%)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증감 원인 분석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ANALYSIS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68580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749808"/>
            <a:ext cx="3154680" cy="9326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749808"/>
            <a:ext cx="91440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7863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C230 사용량 증가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02412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93.75kg → 101kg (+7.25kg, +7.7%)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5공장 추가 편입에 따른 투입량 증가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단가 동일(5,600원/kg)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60720" y="1773936"/>
            <a:ext cx="3154680" cy="932688"/>
          </a:xfrm>
          <a:prstGeom prst="rect">
            <a:avLst/>
          </a:prstGeom>
          <a:solidFill>
            <a:srgbClr val="FEF9E7"/>
          </a:solidFill>
          <a:ln w="12700">
            <a:solidFill>
              <a:srgbClr val="D489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1773936"/>
            <a:ext cx="91440" cy="932688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C1350 사용량 증가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20482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60.11kg → 65kg (+4.89kg, +8.1%)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 부하 증가 대응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단가 동일(2,620원/kg)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60720" y="2798064"/>
            <a:ext cx="3154680" cy="93268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2798064"/>
            <a:ext cx="91440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2834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수질분석비 단가 인상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97880" y="307238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18,000원 → 22,500원 (+25.0%)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항목 단가 조정 영향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+4,500원 추가 비용 발생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60720" y="3822192"/>
            <a:ext cx="3154680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3822192"/>
            <a:ext cx="91440" cy="9326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97880" y="3858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경비·기업이윤 동일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97880" y="409651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경비 16,000 / 기업이윤 19,000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전월 대비 변동 없음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단가 유지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수질분석 결과 비교 (냉각수)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채취: 3월03일 / 4월06일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621792"/>
            <a:ext cx="1417320" cy="402336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62179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  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18488" y="621792"/>
            <a:ext cx="777240" cy="402336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18488" y="62179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관리기준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621792"/>
            <a:ext cx="713232" cy="402336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62179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1공장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621792"/>
            <a:ext cx="713232" cy="402336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62179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1공장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22192" y="621792"/>
            <a:ext cx="713232" cy="402336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22192" y="62179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2공장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35424" y="621792"/>
            <a:ext cx="713232" cy="402336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62179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2공장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48656" y="621792"/>
            <a:ext cx="713232" cy="402336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8656" y="62179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3공장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61888" y="621792"/>
            <a:ext cx="713232" cy="402336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1888" y="62179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3공장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621792"/>
            <a:ext cx="859536" cy="402336"/>
          </a:xfrm>
          <a:prstGeom prst="rect">
            <a:avLst/>
          </a:prstGeom>
          <a:solidFill>
            <a:srgbClr val="1B3A6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621792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  고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" y="1024128"/>
            <a:ext cx="1417320" cy="438912"/>
          </a:xfrm>
          <a:prstGeom prst="rect">
            <a:avLst/>
          </a:prstGeom>
          <a:solidFill>
            <a:srgbClr val="EEF2F8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" y="1024128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(25℃)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18488" y="1024128"/>
            <a:ext cx="777240" cy="438912"/>
          </a:xfrm>
          <a:prstGeom prst="rect">
            <a:avLst/>
          </a:prstGeom>
          <a:solidFill>
            <a:srgbClr val="F0F4F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18488" y="102412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7.5~9.0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95728" y="1024128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95728" y="102412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08960" y="1024128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102412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22192" y="1024128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2192" y="102412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35424" y="1024128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35424" y="102412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48656" y="1024128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48656" y="102412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61888" y="1024128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61888" y="102412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75120" y="1024128"/>
            <a:ext cx="859536" cy="438912"/>
          </a:xfrm>
          <a:prstGeom prst="rect">
            <a:avLst/>
          </a:prstGeom>
          <a:solidFill>
            <a:srgbClr val="E8F5EE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1024128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" y="1463040"/>
            <a:ext cx="1417320" cy="438912"/>
          </a:xfrm>
          <a:prstGeom prst="rect">
            <a:avLst/>
          </a:prstGeom>
          <a:solidFill>
            <a:srgbClr val="EEF2F8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" y="14630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M-알칼리도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(mg/L CaCO₃)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618488" y="1463040"/>
            <a:ext cx="777240" cy="438912"/>
          </a:xfrm>
          <a:prstGeom prst="rect">
            <a:avLst/>
          </a:prstGeom>
          <a:solidFill>
            <a:srgbClr val="F0F4F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18488" y="146304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395728" y="1463040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95728" y="14630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108960" y="1463040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14630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22192" y="1463040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22192" y="14630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35424" y="1463040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35424" y="14630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48656" y="1463040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48656" y="14630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61888" y="1463040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61888" y="146304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675120" y="1463040"/>
            <a:ext cx="859536" cy="438912"/>
          </a:xfrm>
          <a:prstGeom prst="rect">
            <a:avLst/>
          </a:prstGeom>
          <a:solidFill>
            <a:srgbClr val="E8F5EE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75120" y="1463040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1168" y="1901952"/>
            <a:ext cx="1417320" cy="438912"/>
          </a:xfrm>
          <a:prstGeom prst="rect">
            <a:avLst/>
          </a:prstGeom>
          <a:solidFill>
            <a:srgbClr val="EEF2F8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1168" y="1901952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칼슘경도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(mg/L CaCO₃)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618488" y="1901952"/>
            <a:ext cx="777240" cy="438912"/>
          </a:xfrm>
          <a:prstGeom prst="rect">
            <a:avLst/>
          </a:prstGeom>
          <a:solidFill>
            <a:srgbClr val="F0F4F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18488" y="190195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395728" y="1901952"/>
            <a:ext cx="713232" cy="438912"/>
          </a:xfrm>
          <a:prstGeom prst="rect">
            <a:avLst/>
          </a:prstGeom>
          <a:solidFill>
            <a:srgbClr val="FDECE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95728" y="190195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108960" y="1901952"/>
            <a:ext cx="713232" cy="438912"/>
          </a:xfrm>
          <a:prstGeom prst="rect">
            <a:avLst/>
          </a:prstGeom>
          <a:solidFill>
            <a:srgbClr val="FDECE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0" y="190195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471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822192" y="1901952"/>
            <a:ext cx="713232" cy="438912"/>
          </a:xfrm>
          <a:prstGeom prst="rect">
            <a:avLst/>
          </a:prstGeom>
          <a:solidFill>
            <a:srgbClr val="FDECE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822192" y="190195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535424" y="1901952"/>
            <a:ext cx="713232" cy="438912"/>
          </a:xfrm>
          <a:prstGeom prst="rect">
            <a:avLst/>
          </a:prstGeom>
          <a:solidFill>
            <a:srgbClr val="FDECE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35424" y="190195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248656" y="1901952"/>
            <a:ext cx="713232" cy="438912"/>
          </a:xfrm>
          <a:prstGeom prst="rect">
            <a:avLst/>
          </a:prstGeom>
          <a:solidFill>
            <a:srgbClr val="FDECE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48656" y="190195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961888" y="1901952"/>
            <a:ext cx="713232" cy="438912"/>
          </a:xfrm>
          <a:prstGeom prst="rect">
            <a:avLst/>
          </a:prstGeom>
          <a:solidFill>
            <a:srgbClr val="FDECE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61888" y="190195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388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675120" y="1901952"/>
            <a:ext cx="859536" cy="438912"/>
          </a:xfrm>
          <a:prstGeom prst="rect">
            <a:avLst/>
          </a:prstGeom>
          <a:solidFill>
            <a:srgbClr val="FEF9E7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75120" y="1901952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01168" y="2340864"/>
            <a:ext cx="1417320" cy="438912"/>
          </a:xfrm>
          <a:prstGeom prst="rect">
            <a:avLst/>
          </a:prstGeom>
          <a:solidFill>
            <a:srgbClr val="EEF2F8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01168" y="2340864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전도도 (μs/cm)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618488" y="2340864"/>
            <a:ext cx="777240" cy="438912"/>
          </a:xfrm>
          <a:prstGeom prst="rect">
            <a:avLst/>
          </a:prstGeom>
          <a:solidFill>
            <a:srgbClr val="F0F4F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618488" y="234086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&lt;3,000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395728" y="2340864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95728" y="234086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1,078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108960" y="2340864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08960" y="234086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1,504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822192" y="2340864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22192" y="234086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976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535424" y="2340864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535424" y="234086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1,341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248656" y="2340864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48656" y="234086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1,316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5961888" y="2340864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61888" y="234086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1,779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675120" y="2340864"/>
            <a:ext cx="859536" cy="438912"/>
          </a:xfrm>
          <a:prstGeom prst="rect">
            <a:avLst/>
          </a:prstGeom>
          <a:solidFill>
            <a:srgbClr val="FEF9E7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675120" y="2340864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01168" y="2779776"/>
            <a:ext cx="1417320" cy="438912"/>
          </a:xfrm>
          <a:prstGeom prst="rect">
            <a:avLst/>
          </a:prstGeom>
          <a:solidFill>
            <a:srgbClr val="EEF2F8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01168" y="2779776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염소이온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(mg/L Cl⁻)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1618488" y="2779776"/>
            <a:ext cx="777240" cy="438912"/>
          </a:xfrm>
          <a:prstGeom prst="rect">
            <a:avLst/>
          </a:prstGeom>
          <a:solidFill>
            <a:srgbClr val="F0F4F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618488" y="277977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2395728" y="2779776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395728" y="277977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108960" y="2779776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108960" y="277977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822192" y="2779776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822192" y="277977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535424" y="2779776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535424" y="277977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5248656" y="2779776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248656" y="277977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5961888" y="2779776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961888" y="2779776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6675120" y="2779776"/>
            <a:ext cx="859536" cy="438912"/>
          </a:xfrm>
          <a:prstGeom prst="rect">
            <a:avLst/>
          </a:prstGeom>
          <a:solidFill>
            <a:srgbClr val="E8F5EE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675120" y="2779776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01168" y="3218688"/>
            <a:ext cx="1417320" cy="438912"/>
          </a:xfrm>
          <a:prstGeom prst="rect">
            <a:avLst/>
          </a:prstGeom>
          <a:solidFill>
            <a:srgbClr val="EEF2F8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01168" y="3218688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철분 (mg/L)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618488" y="3218688"/>
            <a:ext cx="777240" cy="438912"/>
          </a:xfrm>
          <a:prstGeom prst="rect">
            <a:avLst/>
          </a:prstGeom>
          <a:solidFill>
            <a:srgbClr val="F0F4F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618488" y="3218688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&lt;2.0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2395728" y="3218688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395728" y="321868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3108960" y="3218688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108960" y="321868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3822192" y="3218688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822192" y="321868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535424" y="3218688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535424" y="321868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5248656" y="3218688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248656" y="321868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5961888" y="3218688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961888" y="3218688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6675120" y="3218688"/>
            <a:ext cx="859536" cy="438912"/>
          </a:xfrm>
          <a:prstGeom prst="rect">
            <a:avLst/>
          </a:prstGeom>
          <a:solidFill>
            <a:srgbClr val="E8F5EE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675120" y="3218688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201168" y="3657600"/>
            <a:ext cx="1417320" cy="438912"/>
          </a:xfrm>
          <a:prstGeom prst="rect">
            <a:avLst/>
          </a:prstGeom>
          <a:solidFill>
            <a:srgbClr val="EEF2F8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01168" y="3657600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탁도 (NTU)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1618488" y="3657600"/>
            <a:ext cx="777240" cy="438912"/>
          </a:xfrm>
          <a:prstGeom prst="rect">
            <a:avLst/>
          </a:prstGeom>
          <a:solidFill>
            <a:srgbClr val="F0F4F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618488" y="3657600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2395728" y="3657600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395728" y="365760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3108960" y="3657600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108960" y="365760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3822192" y="3657600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822192" y="365760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4535424" y="3657600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535424" y="365760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5248656" y="3657600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248656" y="365760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5961888" y="3657600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961888" y="3657600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6675120" y="3657600"/>
            <a:ext cx="859536" cy="438912"/>
          </a:xfrm>
          <a:prstGeom prst="rect">
            <a:avLst/>
          </a:prstGeom>
          <a:solidFill>
            <a:srgbClr val="E8F5EE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675120" y="3657600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201168" y="4096512"/>
            <a:ext cx="1417320" cy="438912"/>
          </a:xfrm>
          <a:prstGeom prst="rect">
            <a:avLst/>
          </a:prstGeom>
          <a:solidFill>
            <a:srgbClr val="EEF2F8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01168" y="4096512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인산이온 (mg/L)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1618488" y="4096512"/>
            <a:ext cx="777240" cy="438912"/>
          </a:xfrm>
          <a:prstGeom prst="rect">
            <a:avLst/>
          </a:prstGeom>
          <a:solidFill>
            <a:srgbClr val="F0F4F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618488" y="4096512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6~12</a:t>
            </a:r>
            <a:endParaRPr lang="en-US" sz="900" dirty="0"/>
          </a:p>
        </p:txBody>
      </p:sp>
      <p:sp>
        <p:nvSpPr>
          <p:cNvPr id="153" name="Shape 151"/>
          <p:cNvSpPr/>
          <p:nvPr/>
        </p:nvSpPr>
        <p:spPr>
          <a:xfrm>
            <a:off x="2395728" y="4096512"/>
            <a:ext cx="713232" cy="438912"/>
          </a:xfrm>
          <a:prstGeom prst="rect">
            <a:avLst/>
          </a:prstGeom>
          <a:solidFill>
            <a:srgbClr val="FEF9E7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395728" y="409651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3108960" y="4096512"/>
            <a:ext cx="713232" cy="438912"/>
          </a:xfrm>
          <a:prstGeom prst="rect">
            <a:avLst/>
          </a:prstGeom>
          <a:solidFill>
            <a:srgbClr val="FEF9E7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108960" y="409651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3822192" y="4096512"/>
            <a:ext cx="713232" cy="438912"/>
          </a:xfrm>
          <a:prstGeom prst="rect">
            <a:avLst/>
          </a:prstGeom>
          <a:solidFill>
            <a:srgbClr val="FEF9E7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822192" y="409651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4535424" y="4096512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535424" y="409651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5248656" y="4096512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248656" y="409651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5961888" y="4096512"/>
            <a:ext cx="713232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961888" y="4096512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6675120" y="4096512"/>
            <a:ext cx="859536" cy="438912"/>
          </a:xfrm>
          <a:prstGeom prst="rect">
            <a:avLst/>
          </a:prstGeom>
          <a:solidFill>
            <a:srgbClr val="FEF9E7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675120" y="4096512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201168" y="4535424"/>
            <a:ext cx="1417320" cy="438912"/>
          </a:xfrm>
          <a:prstGeom prst="rect">
            <a:avLst/>
          </a:prstGeom>
          <a:solidFill>
            <a:srgbClr val="EEF2F8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01168" y="4535424"/>
            <a:ext cx="141732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농축배수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(전도도)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1618488" y="4535424"/>
            <a:ext cx="777240" cy="438912"/>
          </a:xfrm>
          <a:prstGeom prst="rect">
            <a:avLst/>
          </a:prstGeom>
          <a:solidFill>
            <a:srgbClr val="F0F4F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618488" y="4535424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2~4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2395728" y="4535424"/>
            <a:ext cx="713232" cy="438912"/>
          </a:xfrm>
          <a:prstGeom prst="rect">
            <a:avLst/>
          </a:prstGeom>
          <a:solidFill>
            <a:srgbClr val="FEF9E7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395728" y="453542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3108960" y="4535424"/>
            <a:ext cx="713232" cy="438912"/>
          </a:xfrm>
          <a:prstGeom prst="rect">
            <a:avLst/>
          </a:prstGeom>
          <a:solidFill>
            <a:srgbClr val="FEF9E7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108960" y="453542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3822192" y="4535424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822192" y="453542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4535424" y="4535424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4535424" y="453542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5248656" y="4535424"/>
            <a:ext cx="713232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5248656" y="453542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5961888" y="4535424"/>
            <a:ext cx="713232" cy="438912"/>
          </a:xfrm>
          <a:prstGeom prst="rect">
            <a:avLst/>
          </a:prstGeom>
          <a:solidFill>
            <a:srgbClr val="FDECEA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961888" y="4535424"/>
            <a:ext cx="713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900" dirty="0"/>
          </a:p>
        </p:txBody>
      </p:sp>
      <p:sp>
        <p:nvSpPr>
          <p:cNvPr id="183" name="Shape 181"/>
          <p:cNvSpPr/>
          <p:nvPr/>
        </p:nvSpPr>
        <p:spPr>
          <a:xfrm>
            <a:off x="6675120" y="4535424"/>
            <a:ext cx="859536" cy="438912"/>
          </a:xfrm>
          <a:prstGeom prst="rect">
            <a:avLst/>
          </a:prstGeom>
          <a:solidFill>
            <a:srgbClr val="FEF9E7"/>
          </a:solidFill>
          <a:ln w="5080">
            <a:solidFill>
              <a:srgbClr val="D0D7E3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675120" y="4535424"/>
            <a:ext cx="859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900" dirty="0"/>
          </a:p>
        </p:txBody>
      </p:sp>
      <p:sp>
        <p:nvSpPr>
          <p:cNvPr id="185" name="Shape 183"/>
          <p:cNvSpPr/>
          <p:nvPr/>
        </p:nvSpPr>
        <p:spPr>
          <a:xfrm>
            <a:off x="201168" y="4901184"/>
            <a:ext cx="146304" cy="146304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02336" y="48646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관리기준 초과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2011680" y="4901184"/>
            <a:ext cx="146304" cy="146304"/>
          </a:xfrm>
          <a:prstGeom prst="rect">
            <a:avLst/>
          </a:prstGeom>
          <a:solidFill>
            <a:srgbClr val="FEF9E7"/>
          </a:solidFill>
          <a:ln w="10160">
            <a:solidFill>
              <a:srgbClr val="D4890A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2212848" y="474573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관리기준 하한 미달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4023360" y="4901184"/>
            <a:ext cx="146304" cy="146304"/>
          </a:xfrm>
          <a:prstGeom prst="rect">
            <a:avLst/>
          </a:prstGeom>
          <a:solidFill>
            <a:srgbClr val="E8F5EE"/>
          </a:solidFill>
          <a:ln w="10160">
            <a:solidFill>
              <a:srgbClr val="1A7A4A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4224528" y="48646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 범위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공장별 냉각수 수질 상태 평가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STATUS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283464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D4890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13232"/>
            <a:ext cx="2834640" cy="475488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713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1공장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84832" y="71323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1243584"/>
            <a:ext cx="2761488" cy="256032"/>
          </a:xfrm>
          <a:prstGeom prst="rect">
            <a:avLst/>
          </a:prstGeom>
          <a:solidFill>
            <a:srgbClr val="E8EFF8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24358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현황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517904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8.00 → 정상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1764792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칼슘경도 431 → 기준 초과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011680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전도도 1,078 → 정상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258568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농축배수 1.7 → 하한 미달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2542032"/>
            <a:ext cx="2761488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54203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 현황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2816352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8.80 → 정상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3063240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칼슘경도 471 → 기준 초과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3310128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전도도 1,504 → 정상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3557016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농축배수 1.8 → 하한 미달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3858768"/>
            <a:ext cx="2761488" cy="841248"/>
          </a:xfrm>
          <a:prstGeom prst="rect">
            <a:avLst/>
          </a:prstGeom>
          <a:solidFill>
            <a:srgbClr val="FEF9E7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895344"/>
            <a:ext cx="2670048" cy="768096"/>
          </a:xfrm>
          <a:prstGeom prst="rect">
            <a:avLst/>
          </a:prstGeom>
          <a:noFill/>
          <a:ln/>
        </p:spPr>
        <p:txBody>
          <a:bodyPr wrap="square" lIns="50800" tIns="508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8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칼슘경도 지속 초과 → C1350 증량 협의 필요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713232"/>
            <a:ext cx="283464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713232"/>
            <a:ext cx="283464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713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2공장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0" y="71323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36976" y="1243584"/>
            <a:ext cx="2761488" cy="256032"/>
          </a:xfrm>
          <a:prstGeom prst="rect">
            <a:avLst/>
          </a:prstGeom>
          <a:solidFill>
            <a:srgbClr val="E8EFF8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36976" y="124358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현황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1517904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8.8 → 정상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91840" y="1764792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칼슘경도 310 → 기준 초과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91840" y="2011680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전도도 976 → 정상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2258568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농축배수 2.7 → 정상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36976" y="2542032"/>
            <a:ext cx="2761488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36976" y="254203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 현황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2816352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8.7 → 정상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91840" y="3063240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칼슘경도 351 → 기준 초과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91840" y="3310128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전도도 1,341 → 정상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91840" y="3557016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농축배수 3.8 → 정상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36976" y="3858768"/>
            <a:ext cx="2761488" cy="841248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895344"/>
            <a:ext cx="2670048" cy="768096"/>
          </a:xfrm>
          <a:prstGeom prst="rect">
            <a:avLst/>
          </a:prstGeom>
          <a:noFill/>
          <a:ln/>
        </p:spPr>
        <p:txBody>
          <a:bodyPr wrap="square" lIns="50800" tIns="508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칼슘경도 소폭 초과 외 전반 양호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44768" y="713232"/>
            <a:ext cx="2834640" cy="4206240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44768" y="713232"/>
            <a:ext cx="283464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713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3공장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973568" y="71323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81344" y="1243584"/>
            <a:ext cx="2761488" cy="256032"/>
          </a:xfrm>
          <a:prstGeom prst="rect">
            <a:avLst/>
          </a:prstGeom>
          <a:solidFill>
            <a:srgbClr val="E8EFF8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1344" y="124358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현황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36208" y="1517904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8.9 → 정상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36208" y="1764792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칼슘경도 366 → 기준 초과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36208" y="2011680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전도도 1,316 → 정상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36208" y="2258568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농축배수 3.6 → 정상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81344" y="2542032"/>
            <a:ext cx="2761488" cy="256032"/>
          </a:xfrm>
          <a:prstGeom prst="rect">
            <a:avLst/>
          </a:prstGeom>
          <a:solidFill>
            <a:srgbClr val="FFF3E0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81344" y="254203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 현황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36208" y="2816352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8.7 → 정상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36208" y="3063240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칼슘경도 388 → 기준 초과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36208" y="3310128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전도도 1,779 → 정상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36208" y="3557016"/>
            <a:ext cx="2697480" cy="24688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농축배수 5.1 → 기준 초과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81344" y="3858768"/>
            <a:ext cx="2761488" cy="841248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6208" y="3895344"/>
            <a:ext cx="2670048" cy="768096"/>
          </a:xfrm>
          <a:prstGeom prst="rect">
            <a:avLst/>
          </a:prstGeom>
          <a:noFill/>
          <a:ln/>
        </p:spPr>
        <p:txBody>
          <a:bodyPr wrap="square" lIns="50800" tIns="508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농축배수 5.1 초과 → 보충수 보강 긴급 필요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의견 및 향후 조치사항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B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13232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13232"/>
            <a:ext cx="4160520" cy="384048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7132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 합 의 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188720"/>
            <a:ext cx="54864" cy="25603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증가 (+7.9%)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3월 809,050원 → 4월 872,740원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증가액 63,690원. 약품 사용량 증가 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수질분석 단가 인상이 주요 원인임.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194560"/>
            <a:ext cx="3977640" cy="0"/>
          </a:xfrm>
          <a:prstGeom prst="line">
            <a:avLst/>
          </a:prstGeom>
          <a:noFill/>
          <a:ln w="6350">
            <a:solidFill>
              <a:srgbClr val="D0D7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359152"/>
            <a:ext cx="54864" cy="25603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5공장 신규 편입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6151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4월부터 5공장 냉각수 관리 추가 편입.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약품 사용량 자연 증가이며 정상적인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범위 내 증가로 판단됨.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364992"/>
            <a:ext cx="3977640" cy="0"/>
          </a:xfrm>
          <a:prstGeom prst="line">
            <a:avLst/>
          </a:prstGeom>
          <a:noFill/>
          <a:ln w="6350">
            <a:solidFill>
              <a:srgbClr val="D0D7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529584"/>
            <a:ext cx="54864" cy="25603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전반적 수질 양호 유지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78561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경인 수질분석실 코멘트: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'대체로 양호하게 관리되고 있음'.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대부분 항목 관리기준 범위 내 유지.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713232"/>
            <a:ext cx="42793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713232"/>
            <a:ext cx="4279392" cy="384048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713232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 후 조 치 사 항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36592" y="1188720"/>
            <a:ext cx="411480" cy="411480"/>
          </a:xfrm>
          <a:prstGeom prst="rect">
            <a:avLst/>
          </a:prstGeom>
          <a:solidFill>
            <a:srgbClr val="D4890A"/>
          </a:solidFill>
          <a:ln w="12700">
            <a:solidFill>
              <a:srgbClr val="D489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93792" y="1188720"/>
            <a:ext cx="3566160" cy="822960"/>
          </a:xfrm>
          <a:prstGeom prst="rect">
            <a:avLst/>
          </a:prstGeom>
          <a:noFill/>
          <a:ln/>
        </p:spPr>
        <p:txBody>
          <a:bodyPr wrap="square" lIns="25400" tIns="5080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1공장 칼슘경도 집중 모니터링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기준(300) 지속 초과 시 C1350 투입량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증량 및 업체 협의 진행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36592" y="2103120"/>
            <a:ext cx="4114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93792" y="2103120"/>
            <a:ext cx="3566160" cy="822960"/>
          </a:xfrm>
          <a:prstGeom prst="rect">
            <a:avLst/>
          </a:prstGeom>
          <a:noFill/>
          <a:ln/>
        </p:spPr>
        <p:txBody>
          <a:bodyPr wrap="square" lIns="25400" tIns="5080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3공장 농축배수 긴급 관리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→ 기준(2~4) 초과, 보충수 보강 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블로우다운 주기 단축 즉시 검토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6592" y="3017520"/>
            <a:ext cx="411480" cy="41148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93792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25400" tIns="5080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수질분석 단가 협의 요청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 → 22,500원(+25%), 다음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계약 갱신 시 단가 재협의 추진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3931920"/>
            <a:ext cx="41148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93792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25400" tIns="5080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5공장 인산이온/수질 안정화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편입 공장 초기 안정화 기간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추이 모니터링 및 약품 적정량 조정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2026-04-27T03:43:46Z</dcterms:created>
  <dcterms:modified xsi:type="dcterms:W3CDTF">2026-04-27T03:43:46Z</dcterms:modified>
</cp:coreProperties>
</file>