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5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CC"/>
    <a:srgbClr val="789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기안보고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관리비용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37333" y="2635895"/>
            <a:ext cx="6480720" cy="313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※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최근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5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개월 경유 월별 사용량 및 단가</a:t>
            </a:r>
            <a:r>
              <a:rPr lang="ko-KR" altLang="en-US" sz="1100" dirty="0" smtClean="0">
                <a:latin typeface="+mn-ea"/>
                <a:ea typeface="+mn-ea"/>
              </a:rPr>
              <a:t> 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90185" y="4879176"/>
            <a:ext cx="81862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+mn-ea"/>
                <a:ea typeface="+mn-ea"/>
              </a:rPr>
              <a:t>4</a:t>
            </a:r>
            <a:r>
              <a:rPr lang="ko-KR" altLang="en-US" sz="1100" dirty="0" smtClean="0">
                <a:latin typeface="+mn-ea"/>
                <a:ea typeface="+mn-ea"/>
              </a:rPr>
              <a:t>월 일일생산보고 기준 </a:t>
            </a:r>
            <a:r>
              <a:rPr lang="en-US" altLang="ko-KR" sz="1100" dirty="0" smtClean="0">
                <a:latin typeface="+mn-ea"/>
                <a:ea typeface="+mn-ea"/>
              </a:rPr>
              <a:t>7,312,576kg(</a:t>
            </a:r>
            <a:r>
              <a:rPr lang="ko-KR" altLang="en-US" sz="1100" dirty="0" smtClean="0">
                <a:latin typeface="+mn-ea"/>
                <a:ea typeface="+mn-ea"/>
              </a:rPr>
              <a:t>본사</a:t>
            </a:r>
            <a:r>
              <a:rPr lang="en-US" altLang="ko-KR" sz="1100" dirty="0" smtClean="0">
                <a:latin typeface="+mn-ea"/>
                <a:ea typeface="+mn-ea"/>
              </a:rPr>
              <a:t> 26.3</a:t>
            </a:r>
            <a:r>
              <a:rPr lang="ko-KR" altLang="en-US" sz="1100" dirty="0" smtClean="0">
                <a:latin typeface="+mn-ea"/>
                <a:ea typeface="+mn-ea"/>
              </a:rPr>
              <a:t>일 근무</a:t>
            </a:r>
            <a:r>
              <a:rPr lang="en-US" altLang="ko-KR" sz="1100" dirty="0" smtClean="0">
                <a:latin typeface="+mn-ea"/>
                <a:ea typeface="+mn-ea"/>
              </a:rPr>
              <a:t>)</a:t>
            </a:r>
            <a:r>
              <a:rPr lang="ko-KR" altLang="en-US" sz="1100" dirty="0" smtClean="0">
                <a:latin typeface="+mn-ea"/>
                <a:ea typeface="+mn-ea"/>
              </a:rPr>
              <a:t>으로 봤을 때</a:t>
            </a:r>
            <a:r>
              <a:rPr lang="en-US" altLang="ko-KR" sz="1100" dirty="0" smtClean="0">
                <a:latin typeface="+mn-ea"/>
                <a:ea typeface="+mn-ea"/>
              </a:rPr>
              <a:t>, </a:t>
            </a:r>
            <a:r>
              <a:rPr lang="ko-KR" altLang="en-US" sz="1100" dirty="0" smtClean="0">
                <a:latin typeface="+mn-ea"/>
                <a:ea typeface="+mn-ea"/>
              </a:rPr>
              <a:t>톤당 </a:t>
            </a:r>
            <a:r>
              <a:rPr lang="ko-KR" altLang="en-US" sz="1100" dirty="0" err="1" smtClean="0">
                <a:latin typeface="+mn-ea"/>
                <a:ea typeface="+mn-ea"/>
              </a:rPr>
              <a:t>유류비</a:t>
            </a:r>
            <a:r>
              <a:rPr lang="ko-KR" altLang="en-US" sz="1100" dirty="0" smtClean="0">
                <a:latin typeface="+mn-ea"/>
                <a:ea typeface="+mn-ea"/>
              </a:rPr>
              <a:t> 약 </a:t>
            </a:r>
            <a:r>
              <a:rPr lang="en-US" altLang="ko-KR" sz="1100" dirty="0" smtClean="0">
                <a:latin typeface="+mn-ea"/>
                <a:ea typeface="+mn-ea"/>
              </a:rPr>
              <a:t>76</a:t>
            </a:r>
            <a:r>
              <a:rPr lang="ko-KR" altLang="en-US" sz="1100" dirty="0" smtClean="0">
                <a:latin typeface="+mn-ea"/>
                <a:ea typeface="+mn-ea"/>
              </a:rPr>
              <a:t>만원으로 </a:t>
            </a:r>
            <a:r>
              <a:rPr lang="en-US" altLang="ko-KR" sz="1100" dirty="0" smtClean="0">
                <a:latin typeface="+mn-ea"/>
                <a:ea typeface="+mn-ea"/>
              </a:rPr>
              <a:t>3</a:t>
            </a:r>
            <a:r>
              <a:rPr lang="ko-KR" altLang="en-US" sz="1100" dirty="0" smtClean="0">
                <a:latin typeface="+mn-ea"/>
                <a:ea typeface="+mn-ea"/>
              </a:rPr>
              <a:t>월과 비교해서 일별 생산량 향상으로 </a:t>
            </a:r>
            <a:r>
              <a:rPr lang="ko-KR" altLang="en-US" sz="1100" dirty="0" err="1" smtClean="0">
                <a:latin typeface="+mn-ea"/>
                <a:ea typeface="+mn-ea"/>
              </a:rPr>
              <a:t>유류단가가</a:t>
            </a:r>
            <a:r>
              <a:rPr lang="ko-KR" altLang="en-US" sz="1100" dirty="0" smtClean="0">
                <a:latin typeface="+mn-ea"/>
                <a:ea typeface="+mn-ea"/>
              </a:rPr>
              <a:t> 상승했으나 전체 유류구매액은 거의 </a:t>
            </a:r>
            <a:r>
              <a:rPr lang="ko-KR" altLang="en-US" sz="1100" dirty="0" smtClean="0">
                <a:latin typeface="+mn-ea"/>
                <a:ea typeface="+mn-ea"/>
              </a:rPr>
              <a:t>비슷함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</a:rPr>
              <a:t>월 유류</a:t>
            </a:r>
            <a:r>
              <a:rPr lang="en-US" altLang="ko-KR" sz="1100" dirty="0" smtClean="0">
                <a:latin typeface="+mn-ea"/>
                <a:ea typeface="+mn-ea"/>
              </a:rPr>
              <a:t>(</a:t>
            </a:r>
            <a:r>
              <a:rPr lang="ko-KR" altLang="en-US" sz="1100" dirty="0" smtClean="0">
                <a:latin typeface="+mn-ea"/>
                <a:ea typeface="+mn-ea"/>
              </a:rPr>
              <a:t>경유</a:t>
            </a:r>
            <a:r>
              <a:rPr lang="en-US" altLang="ko-KR" sz="1100" dirty="0" smtClean="0">
                <a:latin typeface="+mn-ea"/>
                <a:ea typeface="+mn-ea"/>
              </a:rPr>
              <a:t>) </a:t>
            </a:r>
            <a:r>
              <a:rPr lang="ko-KR" altLang="en-US" sz="1100" dirty="0" smtClean="0">
                <a:latin typeface="+mn-ea"/>
                <a:ea typeface="+mn-ea"/>
              </a:rPr>
              <a:t>사용량 감소의 가장 큰 요인은 </a:t>
            </a:r>
            <a:r>
              <a:rPr lang="ko-KR" altLang="en-US" sz="11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① </a:t>
            </a:r>
            <a:r>
              <a:rPr lang="ko-KR" altLang="en-US" sz="1100" b="1" dirty="0" err="1" smtClean="0">
                <a:solidFill>
                  <a:srgbClr val="FF0000"/>
                </a:solidFill>
                <a:latin typeface="+mn-ea"/>
                <a:ea typeface="+mn-ea"/>
              </a:rPr>
              <a:t>출하팀</a:t>
            </a:r>
            <a:r>
              <a:rPr lang="ko-KR" altLang="en-US" sz="1100" b="1" dirty="0" smtClean="0">
                <a:solidFill>
                  <a:srgbClr val="FF0000"/>
                </a:solidFill>
                <a:latin typeface="+mn-ea"/>
                <a:ea typeface="+mn-ea"/>
              </a:rPr>
              <a:t> 인원 감소로 지게차 </a:t>
            </a:r>
            <a:r>
              <a:rPr lang="en-US" altLang="ko-KR" sz="1100" b="1" dirty="0" smtClean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ko-KR" altLang="en-US" sz="1100" b="1" dirty="0" smtClean="0">
                <a:solidFill>
                  <a:srgbClr val="FF0000"/>
                </a:solidFill>
                <a:latin typeface="+mn-ea"/>
                <a:ea typeface="+mn-ea"/>
              </a:rPr>
              <a:t>대 운행 감소 </a:t>
            </a:r>
            <a:r>
              <a:rPr lang="ko-KR" altLang="en-US" sz="11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② 생산 스페어 지게차 사용 감소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요인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출하팀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4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13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일 퇴사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 smtClean="0">
                <a:latin typeface="+mn-ea"/>
                <a:ea typeface="+mn-ea"/>
              </a:rPr>
              <a:t>유류비</a:t>
            </a:r>
            <a:r>
              <a:rPr lang="ko-KR" altLang="en-US" sz="1100" dirty="0" smtClean="0">
                <a:latin typeface="+mn-ea"/>
                <a:ea typeface="+mn-ea"/>
              </a:rPr>
              <a:t> </a:t>
            </a:r>
            <a:r>
              <a:rPr lang="ko-KR" altLang="en-US" sz="1100" dirty="0" smtClean="0">
                <a:latin typeface="+mn-ea"/>
                <a:ea typeface="+mn-ea"/>
              </a:rPr>
              <a:t>상승으로 인한 전사적 비용절감이 필요함</a:t>
            </a:r>
            <a:r>
              <a:rPr lang="en-US" altLang="ko-KR" sz="1100" dirty="0" smtClean="0">
                <a:latin typeface="+mn-ea"/>
                <a:ea typeface="+mn-ea"/>
              </a:rPr>
              <a:t>. </a:t>
            </a:r>
            <a:r>
              <a:rPr lang="ko-KR" altLang="en-US" sz="1100" dirty="0" smtClean="0">
                <a:latin typeface="+mn-ea"/>
                <a:ea typeface="+mn-ea"/>
              </a:rPr>
              <a:t>예</a:t>
            </a:r>
            <a:r>
              <a:rPr lang="en-US" altLang="ko-KR" sz="1100" dirty="0" smtClean="0">
                <a:latin typeface="+mn-ea"/>
                <a:ea typeface="+mn-ea"/>
              </a:rPr>
              <a:t>) </a:t>
            </a:r>
            <a:r>
              <a:rPr lang="ko-KR" altLang="en-US" sz="1100" dirty="0" err="1" smtClean="0">
                <a:latin typeface="+mn-ea"/>
                <a:ea typeface="+mn-ea"/>
              </a:rPr>
              <a:t>비가동</a:t>
            </a:r>
            <a:r>
              <a:rPr lang="ko-KR" altLang="en-US" sz="1100" dirty="0" smtClean="0">
                <a:latin typeface="+mn-ea"/>
                <a:ea typeface="+mn-ea"/>
              </a:rPr>
              <a:t> 시 지게차 </a:t>
            </a:r>
            <a:r>
              <a:rPr lang="ko-KR" altLang="en-US" sz="1100" dirty="0" err="1" smtClean="0">
                <a:latin typeface="+mn-ea"/>
                <a:ea typeface="+mn-ea"/>
              </a:rPr>
              <a:t>시동끄기</a:t>
            </a:r>
            <a:r>
              <a:rPr lang="ko-KR" altLang="en-US" sz="1100" dirty="0" smtClean="0">
                <a:latin typeface="+mn-ea"/>
                <a:ea typeface="+mn-ea"/>
              </a:rPr>
              <a:t> 등</a:t>
            </a:r>
            <a:endParaRPr lang="en-US" altLang="ko-KR" sz="1100" dirty="0" smtClean="0"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877141"/>
              </p:ext>
            </p:extLst>
          </p:nvPr>
        </p:nvGraphicFramePr>
        <p:xfrm>
          <a:off x="179512" y="836712"/>
          <a:ext cx="8784975" cy="171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60429657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658505302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41553893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32747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35142687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금  액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2189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유류구매비용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유류구매비용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: 18,292,598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월 대비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: -794,242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원 감소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</a:rPr>
                        <a:t>등유구매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+ 742,500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원 증가</a:t>
                      </a: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</a:rPr>
                        <a:t>감소사유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단가상승 </a:t>
                      </a:r>
                      <a:r>
                        <a:rPr lang="en-US" altLang="ko-KR" sz="1100" b="1" baseline="0" dirty="0" smtClean="0">
                          <a:solidFill>
                            <a:srgbClr val="0066FF"/>
                          </a:solidFill>
                        </a:rPr>
                        <a:t>+129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원하였으나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총 사용량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</a:rPr>
                        <a:t>-1,138L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감소함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l-GR" altLang="ko-KR" sz="1100" baseline="0" dirty="0" smtClean="0">
                          <a:solidFill>
                            <a:schemeClr val="tx1"/>
                          </a:solidFill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ea typeface="맑은 고딕" panose="020B0503020000020004" pitchFamily="34" charset="-127"/>
                        </a:rPr>
                        <a:t>일평균 사용량 감소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ea typeface="맑은 고딕" panose="020B0503020000020004" pitchFamily="34" charset="-127"/>
                        </a:rPr>
                        <a:t>-48L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ea typeface="맑은 고딕" panose="020B0503020000020004" pitchFamily="34" charset="-127"/>
                        </a:rPr>
                        <a:t>감소</a:t>
                      </a:r>
                      <a:endParaRPr lang="en-US" altLang="ko-KR" sz="1100" b="1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22,483,498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VAT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별도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62267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외국인 보험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외국인 보험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: 3,515,900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 대비 </a:t>
                      </a:r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</a:rPr>
                        <a:t>-317,400</a:t>
                      </a:r>
                      <a:r>
                        <a:rPr lang="ko-KR" altLang="en-US" sz="1100" b="1" dirty="0" smtClean="0">
                          <a:solidFill>
                            <a:srgbClr val="FF0000"/>
                          </a:solidFill>
                        </a:rPr>
                        <a:t>원</a:t>
                      </a:r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감소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감소사유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외국인 근무자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사나카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퇴사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기한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비자변경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(E9-&gt;E7)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VAT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포함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75688"/>
                  </a:ext>
                </a:extLst>
              </a:tr>
            </a:tbl>
          </a:graphicData>
        </a:graphic>
      </p:graphicFrame>
      <p:pic>
        <p:nvPicPr>
          <p:cNvPr id="19" name="그림 18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A$36:$AI$42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560" y="2949442"/>
            <a:ext cx="7254240" cy="171450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38848</TotalTime>
  <Words>195</Words>
  <Application>Microsoft Office PowerPoint</Application>
  <PresentationFormat>화면 슬라이드 쇼(4:3)</PresentationFormat>
  <Paragraphs>23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1675</cp:revision>
  <cp:lastPrinted>2026-03-03T23:42:12Z</cp:lastPrinted>
  <dcterms:created xsi:type="dcterms:W3CDTF">2006-12-21T02:27:07Z</dcterms:created>
  <dcterms:modified xsi:type="dcterms:W3CDTF">2026-05-07T08:31:49Z</dcterms:modified>
</cp:coreProperties>
</file>