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5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00CC"/>
    <a:srgbClr val="789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108" d="100"/>
          <a:sy n="108" d="100"/>
        </p:scale>
        <p:origin x="181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186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7332" y="225136"/>
            <a:ext cx="5458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기안보고</a:t>
            </a:r>
            <a:r>
              <a:rPr lang="en-US" altLang="ko-KR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생산</a:t>
            </a:r>
            <a:r>
              <a:rPr lang="en-US" altLang="ko-KR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_5</a:t>
            </a:r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관리비용 보고 </a:t>
            </a:r>
            <a:r>
              <a:rPr lang="en-US" altLang="ko-KR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6</a:t>
            </a:r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611560" y="2492896"/>
            <a:ext cx="6480720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 smtClean="0">
                <a:latin typeface="+mn-ea"/>
                <a:ea typeface="+mn-ea"/>
              </a:rPr>
              <a:t>■ </a:t>
            </a:r>
            <a:r>
              <a:rPr lang="ko-KR" altLang="en-US" sz="1100" b="1" dirty="0" smtClean="0">
                <a:latin typeface="+mn-ea"/>
                <a:ea typeface="+mn-ea"/>
              </a:rPr>
              <a:t>첨부 </a:t>
            </a:r>
            <a:r>
              <a:rPr lang="en-US" altLang="ko-KR" sz="1100" b="1" dirty="0" smtClean="0">
                <a:latin typeface="+mn-ea"/>
                <a:ea typeface="+mn-ea"/>
              </a:rPr>
              <a:t>: </a:t>
            </a:r>
            <a:r>
              <a:rPr lang="ko-KR" altLang="en-US" sz="1100" b="1" dirty="0" smtClean="0">
                <a:latin typeface="+mn-ea"/>
                <a:ea typeface="+mn-ea"/>
              </a:rPr>
              <a:t>최근 </a:t>
            </a:r>
            <a:r>
              <a:rPr lang="en-US" altLang="ko-KR" sz="1100" b="1" dirty="0" smtClean="0">
                <a:latin typeface="+mn-ea"/>
                <a:ea typeface="+mn-ea"/>
              </a:rPr>
              <a:t>5</a:t>
            </a:r>
            <a:r>
              <a:rPr lang="ko-KR" altLang="en-US" sz="1100" b="1" dirty="0" smtClean="0">
                <a:latin typeface="+mn-ea"/>
                <a:ea typeface="+mn-ea"/>
              </a:rPr>
              <a:t>개월 경유 월별 사용량 및 단가 </a:t>
            </a:r>
            <a:endParaRPr lang="ko-KR" altLang="en-US" sz="1100" b="1" dirty="0">
              <a:latin typeface="+mn-ea"/>
              <a:ea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90185" y="4914688"/>
            <a:ext cx="818627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+mn-ea"/>
                <a:ea typeface="+mn-ea"/>
              </a:rPr>
              <a:t>5</a:t>
            </a:r>
            <a:r>
              <a:rPr lang="ko-KR" altLang="en-US" sz="1100" dirty="0" smtClean="0">
                <a:latin typeface="+mn-ea"/>
                <a:ea typeface="+mn-ea"/>
              </a:rPr>
              <a:t>월 경유 사용 기준 </a:t>
            </a:r>
            <a:r>
              <a:rPr lang="en-US" altLang="ko-KR" sz="1100" dirty="0" smtClean="0">
                <a:latin typeface="+mn-ea"/>
                <a:ea typeface="+mn-ea"/>
              </a:rPr>
              <a:t>(총 사용량 8,869.9L, </a:t>
            </a:r>
            <a:r>
              <a:rPr lang="ko-KR" altLang="en-US" sz="1100" dirty="0" smtClean="0">
                <a:latin typeface="+mn-ea"/>
                <a:ea typeface="+mn-ea"/>
              </a:rPr>
              <a:t>본사</a:t>
            </a:r>
            <a:r>
              <a:rPr lang="en-US" altLang="ko-KR" sz="1100" dirty="0" smtClean="0">
                <a:latin typeface="+mn-ea"/>
                <a:ea typeface="+mn-ea"/>
              </a:rPr>
              <a:t> 24.0</a:t>
            </a:r>
            <a:r>
              <a:rPr lang="ko-KR" altLang="en-US" sz="1100" dirty="0" smtClean="0">
                <a:latin typeface="+mn-ea"/>
                <a:ea typeface="+mn-ea"/>
              </a:rPr>
              <a:t>일 근무</a:t>
            </a:r>
            <a:r>
              <a:rPr lang="en-US" altLang="ko-KR" sz="1100" dirty="0" smtClean="0">
                <a:latin typeface="+mn-ea"/>
                <a:ea typeface="+mn-ea"/>
              </a:rPr>
              <a:t>)</a:t>
            </a:r>
            <a:r>
              <a:rPr lang="ko-KR" altLang="en-US" sz="1100" dirty="0" smtClean="0">
                <a:latin typeface="+mn-ea"/>
                <a:ea typeface="+mn-ea"/>
              </a:rPr>
              <a:t>으로 봤을 때</a:t>
            </a:r>
            <a:r>
              <a:rPr lang="en-US" altLang="ko-KR" sz="1100" dirty="0" smtClean="0">
                <a:latin typeface="+mn-ea"/>
                <a:ea typeface="+mn-ea"/>
              </a:rPr>
              <a:t>, </a:t>
            </a:r>
            <a:r>
              <a:rPr lang="ko-KR" altLang="en-US" sz="1100" dirty="0" err="1" smtClean="0">
                <a:latin typeface="+mn-ea"/>
                <a:ea typeface="+mn-ea"/>
              </a:rPr>
              <a:t>경유 단가</a:t>
            </a:r>
            <a:r>
              <a:rPr lang="ko-KR" altLang="en-US" sz="1100" dirty="0" smtClean="0">
                <a:latin typeface="+mn-ea"/>
                <a:ea typeface="+mn-ea"/>
              </a:rPr>
              <a:t> 1,979</a:t>
            </a:r>
            <a:r>
              <a:rPr lang="en-US" altLang="ko-KR" sz="1100" dirty="0" smtClean="0">
                <a:latin typeface="+mn-ea"/>
                <a:ea typeface="+mn-ea"/>
              </a:rPr>
              <a:t>원/L으로 4월과 </a:t>
            </a:r>
            <a:r>
              <a:rPr lang="en-US" altLang="ko-KR" sz="1100" dirty="0" err="1" smtClean="0">
                <a:latin typeface="+mn-ea"/>
                <a:ea typeface="+mn-ea"/>
              </a:rPr>
              <a:t>동일하며</a:t>
            </a:r>
            <a:r>
              <a:rPr lang="en-US" altLang="ko-KR" sz="1100" dirty="0" smtClean="0">
                <a:latin typeface="+mn-ea"/>
                <a:ea typeface="+mn-ea"/>
              </a:rPr>
              <a:t> </a:t>
            </a:r>
            <a:r>
              <a:rPr lang="ko-KR" altLang="en-US" sz="1100" dirty="0" smtClean="0">
                <a:latin typeface="+mn-ea"/>
                <a:ea typeface="+mn-ea"/>
              </a:rPr>
              <a:t>4월(10,167.7L) 대비 1,297.8L 감소하였으며 총 유류비용 15,957,760원(4월 대비 -3,009,838원 절감)으로 크게 감소함</a:t>
            </a:r>
            <a:endParaRPr lang="en-US" altLang="ko-KR" sz="1100" dirty="0" smtClean="0">
              <a:latin typeface="+mn-ea"/>
              <a:ea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 smtClean="0">
                <a:latin typeface="+mn-ea"/>
                <a:ea typeface="+mn-ea"/>
              </a:rPr>
              <a:t>월 유류</a:t>
            </a:r>
            <a:r>
              <a:rPr lang="en-US" altLang="ko-KR" sz="1100" dirty="0" smtClean="0">
                <a:latin typeface="+mn-ea"/>
                <a:ea typeface="+mn-ea"/>
              </a:rPr>
              <a:t>(</a:t>
            </a:r>
            <a:r>
              <a:rPr lang="ko-KR" altLang="en-US" sz="1100" dirty="0" smtClean="0">
                <a:latin typeface="+mn-ea"/>
                <a:ea typeface="+mn-ea"/>
              </a:rPr>
              <a:t>경유</a:t>
            </a:r>
            <a:r>
              <a:rPr lang="en-US" altLang="ko-KR" sz="1100" dirty="0" smtClean="0">
                <a:latin typeface="+mn-ea"/>
                <a:ea typeface="+mn-ea"/>
              </a:rPr>
              <a:t>) </a:t>
            </a:r>
            <a:r>
              <a:rPr lang="ko-KR" altLang="en-US" sz="1100" dirty="0" smtClean="0">
                <a:latin typeface="+mn-ea"/>
                <a:ea typeface="+mn-ea"/>
              </a:rPr>
              <a:t>사용량 감소의 주요 요인은 </a:t>
            </a:r>
            <a:r>
              <a:rPr lang="ko-KR" altLang="en-US" sz="1100" b="1" dirty="0" smtClean="0">
                <a:latin typeface="+mn-ea"/>
                <a:ea typeface="+mn-ea"/>
              </a:rPr>
              <a:t>① </a:t>
            </a:r>
            <a:r>
              <a:rPr lang="ko-KR" altLang="en-US" sz="1100" b="1" dirty="0" err="1" smtClean="0">
                <a:latin typeface="+mn-ea"/>
                <a:ea typeface="+mn-ea"/>
              </a:rPr>
              <a:t>가동일수</a:t>
            </a:r>
            <a:r>
              <a:rPr lang="ko-KR" altLang="en-US" sz="1100" b="1" dirty="0" smtClean="0">
                <a:latin typeface="+mn-ea"/>
                <a:ea typeface="+mn-ea"/>
              </a:rPr>
              <a:t> 감소 ② 지게차 운행 감소로 인한 경유 일일 사용량 감소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 err="1" smtClean="0">
                <a:latin typeface="+mn-ea"/>
                <a:ea typeface="+mn-ea"/>
              </a:rPr>
              <a:t>유류비</a:t>
            </a:r>
            <a:r>
              <a:rPr lang="ko-KR" altLang="en-US" sz="1100" dirty="0" smtClean="0">
                <a:latin typeface="+mn-ea"/>
                <a:ea typeface="+mn-ea"/>
              </a:rPr>
              <a:t> 절감 지속을 위한 전사적 비용절감 활동 필요함</a:t>
            </a:r>
            <a:r>
              <a:rPr lang="en-US" altLang="ko-KR" sz="1100" dirty="0" smtClean="0">
                <a:latin typeface="+mn-ea"/>
                <a:ea typeface="+mn-ea"/>
              </a:rPr>
              <a:t>. </a:t>
            </a:r>
            <a:r>
              <a:rPr lang="ko-KR" altLang="en-US" sz="1100" dirty="0" smtClean="0">
                <a:latin typeface="+mn-ea"/>
                <a:ea typeface="+mn-ea"/>
              </a:rPr>
              <a:t>예</a:t>
            </a:r>
            <a:r>
              <a:rPr lang="en-US" altLang="ko-KR" sz="1100" dirty="0" smtClean="0">
                <a:latin typeface="+mn-ea"/>
                <a:ea typeface="+mn-ea"/>
              </a:rPr>
              <a:t>) </a:t>
            </a:r>
            <a:r>
              <a:rPr lang="ko-KR" altLang="en-US" sz="1100" dirty="0" err="1" smtClean="0">
                <a:latin typeface="+mn-ea"/>
                <a:ea typeface="+mn-ea"/>
              </a:rPr>
              <a:t>비가동</a:t>
            </a:r>
            <a:r>
              <a:rPr lang="ko-KR" altLang="en-US" sz="1100" dirty="0" smtClean="0">
                <a:latin typeface="+mn-ea"/>
                <a:ea typeface="+mn-ea"/>
              </a:rPr>
              <a:t> 시 지게차 </a:t>
            </a:r>
            <a:r>
              <a:rPr lang="ko-KR" altLang="en-US" sz="1100" dirty="0" err="1" smtClean="0">
                <a:latin typeface="+mn-ea"/>
                <a:ea typeface="+mn-ea"/>
              </a:rPr>
              <a:t>시동끄기</a:t>
            </a:r>
            <a:r>
              <a:rPr lang="ko-KR" altLang="en-US" sz="1100" dirty="0" smtClean="0">
                <a:latin typeface="+mn-ea"/>
                <a:ea typeface="+mn-ea"/>
              </a:rPr>
              <a:t> 등</a:t>
            </a:r>
            <a:endParaRPr lang="en-US" altLang="ko-KR" sz="1100" dirty="0" smtClean="0">
              <a:latin typeface="+mn-ea"/>
              <a:ea typeface="+mn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905599"/>
              </p:ext>
            </p:extLst>
          </p:nvPr>
        </p:nvGraphicFramePr>
        <p:xfrm>
          <a:off x="179512" y="836712"/>
          <a:ext cx="8784975" cy="154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60429657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1658505302"/>
                    </a:ext>
                  </a:extLst>
                </a:gridCol>
                <a:gridCol w="4536504">
                  <a:extLst>
                    <a:ext uri="{9D8B030D-6E8A-4147-A177-3AD203B41FA5}">
                      <a16:colId xmlns:a16="http://schemas.microsoft.com/office/drawing/2014/main" val="241553893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532747001"/>
                    </a:ext>
                  </a:extLst>
                </a:gridCol>
                <a:gridCol w="1224135">
                  <a:extLst>
                    <a:ext uri="{9D8B030D-6E8A-4147-A177-3AD203B41FA5}">
                      <a16:colId xmlns:a16="http://schemas.microsoft.com/office/drawing/2014/main" val="351426874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내  용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금  액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비   고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2189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유류구매비용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 유류구매비용 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: 15,957,760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원 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(4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월 대비 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▽ 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3,009,838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원 감소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aseline="0" dirty="0" err="1" smtClean="0">
                          <a:solidFill>
                            <a:schemeClr val="tx1"/>
                          </a:solidFill>
                        </a:rPr>
                        <a:t>감소사유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경유 단가 동일</a:t>
                      </a:r>
                      <a:r>
                        <a:rPr lang="en-US" altLang="ko-KR" sz="1100" b="1" baseline="0" dirty="0" smtClean="0">
                          <a:solidFill>
                            <a:srgbClr val="0066FF"/>
                          </a:solidFill>
                        </a:rPr>
                        <a:t>(1,979원/L)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, 총 사용량 </a:t>
                      </a:r>
                      <a:r>
                        <a:rPr lang="en-US" altLang="ko-KR" sz="1100" b="1" baseline="0" dirty="0" smtClean="0">
                          <a:solidFill>
                            <a:srgbClr val="FF0000"/>
                          </a:solidFill>
                        </a:rPr>
                        <a:t>-1,297.8L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 감소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l-GR" altLang="ko-KR" sz="1100" baseline="0" dirty="0" smtClean="0">
                          <a:solidFill>
                            <a:schemeClr val="tx1"/>
                          </a:solidFill>
                          <a:ea typeface="맑은 고딕" panose="020B0503020000020004" pitchFamily="34" charset="-127"/>
                        </a:rPr>
                        <a:t>Ι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100" b="1" baseline="0" dirty="0" smtClean="0">
                          <a:solidFill>
                            <a:srgbClr val="FF0000"/>
                          </a:solidFill>
                          <a:ea typeface="맑은 고딕" panose="020B0503020000020004" pitchFamily="34" charset="-127"/>
                        </a:rPr>
                        <a:t>일평균 사용량 감소</a:t>
                      </a:r>
                      <a:endParaRPr lang="en-US" altLang="ko-KR" sz="1100" b="1" baseline="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19,478,760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VAT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별도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62267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외국인 보험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외국인 보험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: 3,521,000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원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(4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월 대비 </a:t>
                      </a: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△</a:t>
                      </a: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</a:rPr>
                        <a:t>5,100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</a:rPr>
                        <a:t>원</a:t>
                      </a: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증가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</a:rPr>
                        <a:t>증가사유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삼성화재 보험료 기준 조정</a:t>
                      </a:r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</a:rPr>
                        <a:t> (가입인원 20명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, 기준일</a:t>
                      </a:r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</a:rPr>
                        <a:t> 2026-06-30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VAT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포함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075688"/>
                  </a:ext>
                </a:extLst>
              </a:tr>
            </a:tbl>
          </a:graphicData>
        </a:graphic>
      </p:graphicFrame>
      <p:pic>
        <p:nvPicPr>
          <p:cNvPr id="10" name="그림 9"/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1:$G$7"/>
              </a:ext>
            </a:extLst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7499" y="2790023"/>
            <a:ext cx="6902465" cy="2124665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008000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0096483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38953</TotalTime>
  <Words>202</Words>
  <Application>Microsoft Office PowerPoint</Application>
  <PresentationFormat>화면 슬라이드 쇼(4:3)</PresentationFormat>
  <Paragraphs>24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1679</cp:revision>
  <cp:lastPrinted>2026-03-03T23:42:12Z</cp:lastPrinted>
  <dcterms:created xsi:type="dcterms:W3CDTF">2006-12-21T02:27:07Z</dcterms:created>
  <dcterms:modified xsi:type="dcterms:W3CDTF">2026-06-03T05:34:07Z</dcterms:modified>
</cp:coreProperties>
</file>