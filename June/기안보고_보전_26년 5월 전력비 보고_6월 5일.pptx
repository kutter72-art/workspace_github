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5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88640"/>
            <a:ext cx="5688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b="1" dirty="0">
                <a:latin typeface="맑은 고딕"/>
                <a:ea typeface="맑은 고딕"/>
              </a:rPr>
              <a:t>[ </a:t>
            </a:r>
            <a:r>
              <a:rPr lang="ko-KR" altLang="en-US" sz="1400" b="1" dirty="0" err="1" smtClean="0">
                <a:latin typeface="맑은 고딕"/>
                <a:ea typeface="맑은 고딕"/>
              </a:rPr>
              <a:t>기안보고</a:t>
            </a:r>
            <a:r>
              <a:rPr lang="en-US" altLang="ko-KR" sz="1400" b="1" dirty="0" smtClean="0">
                <a:latin typeface="맑은 고딕"/>
                <a:ea typeface="맑은 고딕"/>
              </a:rPr>
              <a:t>_</a:t>
            </a:r>
            <a:r>
              <a:rPr lang="ko-KR" altLang="en-US" sz="1400" b="1" dirty="0" smtClean="0">
                <a:latin typeface="맑은 고딕"/>
                <a:ea typeface="맑은 고딕"/>
              </a:rPr>
              <a:t>보전</a:t>
            </a:r>
            <a:r>
              <a:rPr lang="en-US" altLang="ko-KR" sz="1400" b="1" dirty="0" smtClean="0">
                <a:latin typeface="맑은 고딕"/>
                <a:ea typeface="맑은 고딕"/>
              </a:rPr>
              <a:t>(</a:t>
            </a:r>
            <a:r>
              <a:rPr lang="ko-KR" altLang="en-US" sz="1400" b="1" dirty="0" smtClean="0">
                <a:latin typeface="맑은 고딕"/>
                <a:ea typeface="맑은 고딕"/>
              </a:rPr>
              <a:t>전기</a:t>
            </a:r>
            <a:r>
              <a:rPr lang="en-US" altLang="ko-KR" sz="1400" b="1" dirty="0" smtClean="0">
                <a:latin typeface="맑은 고딕"/>
                <a:ea typeface="맑은 고딕"/>
              </a:rPr>
              <a:t>)_</a:t>
            </a:r>
            <a:r>
              <a:rPr lang="ko-KR" altLang="en-US" sz="1400" b="1" dirty="0" smtClean="0">
                <a:latin typeface="맑은 고딕"/>
                <a:ea typeface="맑은 고딕"/>
              </a:rPr>
              <a:t>＇26</a:t>
            </a:r>
            <a:r>
              <a:rPr lang="ko-KR" altLang="en-US" sz="1400" b="1" dirty="0">
                <a:latin typeface="맑은 고딕"/>
                <a:ea typeface="맑은 고딕"/>
              </a:rPr>
              <a:t>년 5월 </a:t>
            </a:r>
            <a:r>
              <a:rPr lang="ko-KR" altLang="en-US" sz="1400" b="1" dirty="0" smtClean="0">
                <a:latin typeface="맑은 고딕"/>
                <a:ea typeface="맑은 고딕"/>
              </a:rPr>
              <a:t>전력비 </a:t>
            </a:r>
            <a:r>
              <a:rPr lang="ko-KR" altLang="en-US" sz="1400" b="1" dirty="0">
                <a:latin typeface="맑은 고딕"/>
                <a:ea typeface="맑은 고딕"/>
              </a:rPr>
              <a:t>보고 ] - 6월 4일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8" y="2613436"/>
            <a:ext cx="8595360" cy="3695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■ '26년 5월 전기요금 현황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총 전기사용량 : 2,318,496 kWh  (전월 2,364,672 kWh 대비 ▼46,176 kWh, -2.0%)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전기요금(세액별도) : 377,990천원  (전월 387,770천원 대비 ▼9,780천원, -2.5%)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단위 전기사용량 : 0.324 kWh/kg  (전월 0.323 kWh/kg 대비 ▲0.001, +0.3%)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총 생산량 : 7,147,453 kg  (전월 7,312,576 kg 대비 ▼165,123 kg, -2.3%)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근무일수 : 25.9일  (전월 26.3일 대비 ▼0.4일)</a:t>
            </a:r>
          </a:p>
          <a:p>
            <a:pPr algn="l">
              <a:lnSpc>
                <a:spcPts val="40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</a:t>
            </a:r>
          </a:p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■ 전월(4월) 대비 전기요금 감소 원인 분석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① 총생산량 감소에 따른 사용량 </a:t>
            </a:r>
            <a:r>
              <a:rPr lang="ko-KR" altLang="en-US" sz="1200" b="1" dirty="0" smtClean="0">
                <a:latin typeface="맑은 고딕"/>
                <a:ea typeface="맑은 고딕"/>
              </a:rPr>
              <a:t>감소(-</a:t>
            </a:r>
            <a:r>
              <a:rPr lang="ko-KR" altLang="en-US" sz="1200" b="1" dirty="0">
                <a:latin typeface="맑은 고딕"/>
                <a:ea typeface="맑은 고딕"/>
              </a:rPr>
              <a:t>2.3%)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생산량 감소 : 7,312,576 kg → 7,147,453 kg (▼165,123 kg, -2.3%)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설비 가동시간 감소 → 부하별 사용량 전반 감소 (총 ▼46,176 kWh, -2.0%)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② 시간대별 부하 구성 </a:t>
            </a:r>
            <a:r>
              <a:rPr lang="ko-KR" altLang="en-US" sz="1200" b="1" dirty="0" smtClean="0">
                <a:latin typeface="맑은 고딕"/>
                <a:ea typeface="맑은 고딕"/>
              </a:rPr>
              <a:t>현황 </a:t>
            </a:r>
            <a:r>
              <a:rPr lang="ko-KR" altLang="en-US" sz="1200" b="1" dirty="0">
                <a:latin typeface="맑은 고딕"/>
                <a:ea typeface="맑은 고딕"/>
              </a:rPr>
              <a:t>(최대·중부하 감소, 경부하 증가)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최대부하 : 847,584 kWh → 800,160 kWh  (▼47,424 kWh, -5.6%) </a:t>
            </a:r>
            <a:r>
              <a:rPr lang="el-GR" altLang="ko-KR" sz="1200" b="1" dirty="0" smtClean="0">
                <a:solidFill>
                  <a:srgbClr val="FF0000"/>
                </a:solidFill>
                <a:latin typeface="맑은 고딕"/>
                <a:ea typeface="맑은 고딕" panose="020B0503020000020004" pitchFamily="34" charset="-127"/>
              </a:rPr>
              <a:t>Ι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주요 감소 항목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 err="1">
                <a:solidFill>
                  <a:srgbClr val="FF0000"/>
                </a:solidFill>
                <a:latin typeface="맑은 고딕"/>
                <a:ea typeface="맑은 고딕"/>
              </a:rPr>
              <a:t>중부하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: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487,584 kWh → 414,672 kWh  (▼72,912 kWh, -14.9%)  ← 주요 감소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경부하   : 1,029,504 kWh → 1,103,664 kWh  (▲74,160 kWh, +7.2%)  ← 증가 (감소분 일부 상쇄)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 ※ 최대·중부하 감소가 경부하 증가를 상회하여 전체 사용량 순감소에 기여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③ 봄철(3~5월) 계절단가 적용으로 전체 </a:t>
            </a:r>
            <a:r>
              <a:rPr lang="ko-KR" altLang="en-US" sz="1200" b="1" dirty="0" err="1">
                <a:latin typeface="맑은 고딕"/>
                <a:ea typeface="맑은 고딕"/>
              </a:rPr>
              <a:t>평균단가</a:t>
            </a:r>
            <a:r>
              <a:rPr lang="ko-KR" altLang="en-US" sz="1200" b="1" dirty="0">
                <a:latin typeface="맑은 고딕"/>
                <a:ea typeface="맑은 고딕"/>
              </a:rPr>
              <a:t> </a:t>
            </a:r>
            <a:r>
              <a:rPr lang="ko-KR" altLang="en-US" sz="1200" b="1" dirty="0" smtClean="0">
                <a:latin typeface="맑은 고딕"/>
                <a:ea typeface="맑은 고딕"/>
              </a:rPr>
              <a:t>낮게 유지</a:t>
            </a:r>
            <a:endParaRPr lang="ko-KR" altLang="en-US" sz="1200" b="1" dirty="0">
              <a:latin typeface="맑은 고딕"/>
              <a:ea typeface="맑은 고딕"/>
            </a:endParaRP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경부하 단가 : 110.9원/kWh (여름철 116.0원/kWh 대비 낮은 단가 유지)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- 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 5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월 봄·가을철 요금체계 전체 적용 → 전체 평균단가 낮은 수준 유지 (6월부터 여름철 단가 적용 예정)</a:t>
            </a:r>
          </a:p>
          <a:p>
            <a:pPr algn="l">
              <a:lnSpc>
                <a:spcPts val="40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</a:t>
            </a:r>
          </a:p>
          <a:p>
            <a:pPr algn="l">
              <a:lnSpc>
                <a:spcPts val="500"/>
              </a:lnSpc>
              <a:spcBef>
                <a:spcPts val="0"/>
              </a:spcBef>
            </a:pPr>
            <a:r>
              <a:rPr lang="ko-KR" altLang="en-US" sz="1200" dirty="0" smtClean="0">
                <a:latin typeface="맑은 고딕"/>
                <a:ea typeface="맑은 고딕"/>
              </a:rPr>
              <a:t> </a:t>
            </a:r>
            <a:endParaRPr lang="ko-KR" altLang="en-US" sz="1200" dirty="0">
              <a:latin typeface="맑은 고딕"/>
              <a:ea typeface="맑은 고딕"/>
            </a:endParaRPr>
          </a:p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▶ 첨부1. 한국전력 전기공급 개정내용 (출처 : 한국전력공사)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316405"/>
              </p:ext>
            </p:extLst>
          </p:nvPr>
        </p:nvGraphicFramePr>
        <p:xfrm>
          <a:off x="0" y="933336"/>
          <a:ext cx="9144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2">
                  <a:extLst>
                    <a:ext uri="{9D8B030D-6E8A-4147-A177-3AD203B41FA5}">
                      <a16:colId xmlns:a16="http://schemas.microsoft.com/office/drawing/2014/main" val="270415898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2360460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35859851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3526934"/>
                    </a:ext>
                  </a:extLst>
                </a:gridCol>
                <a:gridCol w="971600">
                  <a:extLst>
                    <a:ext uri="{9D8B030D-6E8A-4147-A177-3AD203B41FA5}">
                      <a16:colId xmlns:a16="http://schemas.microsoft.com/office/drawing/2014/main" val="2220512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전력요금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0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’26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전력비 보고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전기요금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세액별도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 : 377,990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전월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387,770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 대비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9,780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, -2.5%)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전기요금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감소원인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①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생산량 감소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7,313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-&gt;7,147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-2.3%) </a:t>
                      </a:r>
                      <a:r>
                        <a:rPr lang="el-GR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전력사용량 감소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②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최대부하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감소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847,584kWh(▼47,424kWh -5.6%) </a:t>
                      </a:r>
                      <a:r>
                        <a:rPr lang="el-GR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주요감소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항목</a:t>
                      </a:r>
                      <a:endParaRPr lang="en-US" altLang="ko-KR" sz="120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③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단위 전기요금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52,885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전월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53,028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l-GR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▼143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-0.3%)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377,990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세액별도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3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4104456" cy="583553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68646" y="116632"/>
            <a:ext cx="3448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맑은 고딕"/>
                <a:ea typeface="맑은 고딕"/>
              </a:rPr>
              <a:t>[ </a:t>
            </a:r>
            <a:r>
              <a:rPr lang="ko-KR" altLang="en-US" b="1" dirty="0" smtClean="0">
                <a:latin typeface="맑은 고딕"/>
                <a:ea typeface="맑은 고딕"/>
              </a:rPr>
              <a:t>한국전력 </a:t>
            </a:r>
            <a:r>
              <a:rPr lang="ko-KR" altLang="en-US" b="1" dirty="0">
                <a:latin typeface="맑은 고딕"/>
                <a:ea typeface="맑은 고딕"/>
              </a:rPr>
              <a:t>전기공급 개정내용 </a:t>
            </a:r>
            <a:r>
              <a:rPr lang="en-US" altLang="ko-KR" b="1" dirty="0" smtClean="0">
                <a:latin typeface="맑은 고딕"/>
                <a:ea typeface="맑은 고딕"/>
              </a:rPr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998562"/>
      </p:ext>
    </p:extLst>
  </p:cSld>
  <p:clrMapOvr>
    <a:masterClrMapping/>
  </p:clrMapOvr>
  <p:transition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36723</TotalTime>
  <Words>434</Words>
  <Application>Microsoft Office PowerPoint</Application>
  <PresentationFormat>화면 슬라이드 쇼(4:3)</PresentationFormat>
  <Paragraphs>40</Paragraphs>
  <Slides>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1677</cp:revision>
  <cp:lastPrinted>2026-03-05T07:40:04Z</cp:lastPrinted>
  <dcterms:created xsi:type="dcterms:W3CDTF">2006-12-21T02:27:07Z</dcterms:created>
  <dcterms:modified xsi:type="dcterms:W3CDTF">2026-06-04T23:56:49Z</dcterms:modified>
</cp:coreProperties>
</file>